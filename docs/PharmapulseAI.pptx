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59" r:id="rId5"/>
    <p:sldId id="268" r:id="rId6"/>
    <p:sldId id="261" r:id="rId7"/>
    <p:sldId id="262" r:id="rId8"/>
    <p:sldId id="263" r:id="rId9"/>
    <p:sldId id="265" r:id="rId10"/>
  </p:sldIdLst>
  <p:sldSz cx="18288000" cy="10287000"/>
  <p:notesSz cx="6858000" cy="9144000"/>
  <p:embeddedFontLst>
    <p:embeddedFont>
      <p:font typeface="Agrandir Bold" panose="020B0604020202020204" charset="0"/>
      <p:regular r:id="rId11"/>
    </p:embeddedFont>
    <p:embeddedFont>
      <p:font typeface="Poppins" panose="00000500000000000000" pitchFamily="2" charset="0"/>
      <p:regular r:id="rId12"/>
      <p:bold r:id="rId13"/>
      <p:italic r:id="rId14"/>
      <p:boldItalic r:id="rId15"/>
    </p:embeddedFont>
    <p:embeddedFont>
      <p:font typeface="Poppins Bold" panose="00000800000000000000" charset="0"/>
      <p:regular r:id="rId16"/>
    </p:embeddedFont>
    <p:embeddedFont>
      <p:font typeface="Poppins Medium" panose="00000600000000000000" pitchFamily="2" charset="0"/>
      <p:regular r:id="rId17"/>
      <p:italic r:id="rId18"/>
    </p:embeddedFont>
    <p:embeddedFont>
      <p:font typeface="Poppins Semi-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pharmapulse-pwue.onrender.com/" TargetMode="Externa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5.sv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5.svg"/><Relationship Id="rId2" Type="http://schemas.openxmlformats.org/officeDocument/2006/relationships/image" Target="../media/image22.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6.svg"/><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5.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42386">
            <a:off x="-289015" y="2419493"/>
            <a:ext cx="10917604" cy="5545209"/>
          </a:xfrm>
          <a:custGeom>
            <a:avLst/>
            <a:gdLst/>
            <a:ahLst/>
            <a:cxnLst/>
            <a:rect l="l" t="t" r="r" b="b"/>
            <a:pathLst>
              <a:path w="10917604" h="5545209">
                <a:moveTo>
                  <a:pt x="0" y="0"/>
                </a:moveTo>
                <a:lnTo>
                  <a:pt x="10917604" y="0"/>
                </a:lnTo>
                <a:lnTo>
                  <a:pt x="10917604" y="5545209"/>
                </a:lnTo>
                <a:lnTo>
                  <a:pt x="0" y="5545209"/>
                </a:lnTo>
                <a:lnTo>
                  <a:pt x="0" y="0"/>
                </a:lnTo>
                <a:close/>
              </a:path>
            </a:pathLst>
          </a:custGeom>
          <a:blipFill>
            <a:blip r:embed="rId2">
              <a:alphaModFix amt="7999"/>
            </a:blip>
            <a:stretch>
              <a:fillRect t="-2912" b="-2912"/>
            </a:stretch>
          </a:blipFill>
        </p:spPr>
        <p:txBody>
          <a:bodyPr/>
          <a:lstStyle/>
          <a:p>
            <a:endParaRPr lang="en-IN" dirty="0"/>
          </a:p>
        </p:txBody>
      </p:sp>
      <p:sp>
        <p:nvSpPr>
          <p:cNvPr id="3" name="Freeform 3"/>
          <p:cNvSpPr/>
          <p:nvPr/>
        </p:nvSpPr>
        <p:spPr>
          <a:xfrm>
            <a:off x="8820366" y="1196975"/>
            <a:ext cx="3421312" cy="696703"/>
          </a:xfrm>
          <a:custGeom>
            <a:avLst/>
            <a:gdLst/>
            <a:ahLst/>
            <a:cxnLst/>
            <a:rect l="l" t="t" r="r" b="b"/>
            <a:pathLst>
              <a:path w="3421312" h="696703">
                <a:moveTo>
                  <a:pt x="0" y="0"/>
                </a:moveTo>
                <a:lnTo>
                  <a:pt x="3421312" y="0"/>
                </a:lnTo>
                <a:lnTo>
                  <a:pt x="3421312" y="696704"/>
                </a:lnTo>
                <a:lnTo>
                  <a:pt x="0" y="696704"/>
                </a:lnTo>
                <a:lnTo>
                  <a:pt x="0" y="0"/>
                </a:lnTo>
                <a:close/>
              </a:path>
            </a:pathLst>
          </a:custGeom>
          <a:blipFill>
            <a:blip>
              <a:alphaModFix amt="8999"/>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rot="525771">
            <a:off x="11237081" y="-329818"/>
            <a:ext cx="7098341" cy="12065287"/>
            <a:chOff x="0" y="0"/>
            <a:chExt cx="1869522" cy="3177689"/>
          </a:xfrm>
          <a:solidFill>
            <a:schemeClr val="tx2">
              <a:lumMod val="50000"/>
            </a:schemeClr>
          </a:solidFill>
        </p:grpSpPr>
        <p:sp>
          <p:nvSpPr>
            <p:cNvPr id="5" name="Freeform 5"/>
            <p:cNvSpPr/>
            <p:nvPr/>
          </p:nvSpPr>
          <p:spPr>
            <a:xfrm>
              <a:off x="0" y="0"/>
              <a:ext cx="1869522" cy="3177689"/>
            </a:xfrm>
            <a:custGeom>
              <a:avLst/>
              <a:gdLst/>
              <a:ahLst/>
              <a:cxnLst/>
              <a:rect l="l" t="t" r="r" b="b"/>
              <a:pathLst>
                <a:path w="1869522" h="3177689">
                  <a:moveTo>
                    <a:pt x="0" y="0"/>
                  </a:moveTo>
                  <a:lnTo>
                    <a:pt x="1869522" y="0"/>
                  </a:lnTo>
                  <a:lnTo>
                    <a:pt x="1869522" y="3177689"/>
                  </a:lnTo>
                  <a:lnTo>
                    <a:pt x="0" y="3177689"/>
                  </a:lnTo>
                  <a:close/>
                </a:path>
              </a:pathLst>
            </a:custGeom>
            <a:grpFill/>
          </p:spPr>
          <p:txBody>
            <a:bodyPr/>
            <a:lstStyle/>
            <a:p>
              <a:endParaRPr lang="en-IN" dirty="0"/>
            </a:p>
          </p:txBody>
        </p:sp>
        <p:sp>
          <p:nvSpPr>
            <p:cNvPr id="6" name="TextBox 6"/>
            <p:cNvSpPr txBox="1"/>
            <p:nvPr/>
          </p:nvSpPr>
          <p:spPr>
            <a:xfrm>
              <a:off x="0" y="-85725"/>
              <a:ext cx="1869522" cy="3263414"/>
            </a:xfrm>
            <a:prstGeom prst="rect">
              <a:avLst/>
            </a:prstGeom>
            <a:grpFill/>
          </p:spPr>
          <p:txBody>
            <a:bodyPr lIns="50800" tIns="50800" rIns="50800" bIns="50800" rtlCol="0" anchor="ctr"/>
            <a:lstStyle/>
            <a:p>
              <a:pPr algn="ctr">
                <a:lnSpc>
                  <a:spcPts val="2239"/>
                </a:lnSpc>
              </a:pPr>
              <a:endParaRPr dirty="0"/>
            </a:p>
          </p:txBody>
        </p:sp>
      </p:grpSp>
      <p:sp>
        <p:nvSpPr>
          <p:cNvPr id="14" name="Freeform 14"/>
          <p:cNvSpPr/>
          <p:nvPr/>
        </p:nvSpPr>
        <p:spPr>
          <a:xfrm>
            <a:off x="-1187898" y="9079230"/>
            <a:ext cx="3820012" cy="777893"/>
          </a:xfrm>
          <a:custGeom>
            <a:avLst/>
            <a:gdLst/>
            <a:ahLst/>
            <a:cxnLst/>
            <a:rect l="l" t="t" r="r" b="b"/>
            <a:pathLst>
              <a:path w="3820012" h="777893">
                <a:moveTo>
                  <a:pt x="0" y="0"/>
                </a:moveTo>
                <a:lnTo>
                  <a:pt x="3820012" y="0"/>
                </a:lnTo>
                <a:lnTo>
                  <a:pt x="3820012" y="777893"/>
                </a:lnTo>
                <a:lnTo>
                  <a:pt x="0" y="777893"/>
                </a:lnTo>
                <a:lnTo>
                  <a:pt x="0" y="0"/>
                </a:lnTo>
                <a:close/>
              </a:path>
            </a:pathLst>
          </a:custGeom>
          <a:blipFill>
            <a:blip>
              <a:alphaModFix amt="8999"/>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722108" y="8798866"/>
            <a:ext cx="560728" cy="560728"/>
          </a:xfrm>
          <a:custGeom>
            <a:avLst/>
            <a:gdLst/>
            <a:ahLst/>
            <a:cxnLst/>
            <a:rect l="l" t="t" r="r" b="b"/>
            <a:pathLst>
              <a:path w="560728" h="560728">
                <a:moveTo>
                  <a:pt x="0" y="0"/>
                </a:moveTo>
                <a:lnTo>
                  <a:pt x="560728" y="0"/>
                </a:lnTo>
                <a:lnTo>
                  <a:pt x="560728" y="560728"/>
                </a:lnTo>
                <a:lnTo>
                  <a:pt x="0" y="56072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9" name="TextBox 19"/>
          <p:cNvSpPr txBox="1"/>
          <p:nvPr/>
        </p:nvSpPr>
        <p:spPr>
          <a:xfrm>
            <a:off x="979863" y="3300661"/>
            <a:ext cx="9635459" cy="1908215"/>
          </a:xfrm>
          <a:prstGeom prst="rect">
            <a:avLst/>
          </a:prstGeom>
        </p:spPr>
        <p:txBody>
          <a:bodyPr wrap="square" lIns="0" tIns="0" rIns="0" bIns="0" rtlCol="0" anchor="t">
            <a:spAutoFit/>
          </a:bodyPr>
          <a:lstStyle/>
          <a:p>
            <a:r>
              <a:rPr lang="en-IN" sz="6800" b="1" dirty="0" err="1">
                <a:solidFill>
                  <a:srgbClr val="0B0A0A"/>
                </a:solidFill>
                <a:latin typeface="Agrandir Bold"/>
              </a:rPr>
              <a:t>PharmaPulse</a:t>
            </a:r>
            <a:r>
              <a:rPr lang="en-IN" sz="6800" b="1" dirty="0">
                <a:solidFill>
                  <a:srgbClr val="0B0A0A"/>
                </a:solidFill>
                <a:latin typeface="Agrandir Bold"/>
              </a:rPr>
              <a:t> AI </a:t>
            </a:r>
          </a:p>
          <a:p>
            <a:r>
              <a:rPr lang="en-IN" sz="2800" b="1" dirty="0">
                <a:solidFill>
                  <a:srgbClr val="0B0A0A"/>
                </a:solidFill>
                <a:latin typeface="Poppins Semi-Bold"/>
                <a:cs typeface="Poppins Semi-Bold"/>
              </a:rPr>
              <a:t>Intelligent Pharmacy Sales Forecasting &amp;</a:t>
            </a:r>
          </a:p>
          <a:p>
            <a:r>
              <a:rPr lang="en-IN" sz="2800" b="1" dirty="0">
                <a:solidFill>
                  <a:srgbClr val="0B0A0A"/>
                </a:solidFill>
                <a:latin typeface="Poppins Semi-Bold"/>
                <a:cs typeface="Poppins Semi-Bold"/>
              </a:rPr>
              <a:t> Inventory Decision Support System</a:t>
            </a:r>
            <a:endParaRPr lang="en-US" sz="2800" b="1" dirty="0">
              <a:solidFill>
                <a:srgbClr val="0B0A0A"/>
              </a:solidFill>
              <a:latin typeface="Poppins Semi-Bold"/>
              <a:cs typeface="Poppins Semi-Bold"/>
              <a:sym typeface="Agrandir Bold"/>
            </a:endParaRPr>
          </a:p>
        </p:txBody>
      </p:sp>
      <p:sp>
        <p:nvSpPr>
          <p:cNvPr id="21" name="TextBox 21"/>
          <p:cNvSpPr txBox="1"/>
          <p:nvPr/>
        </p:nvSpPr>
        <p:spPr>
          <a:xfrm>
            <a:off x="1989782" y="8035901"/>
            <a:ext cx="2639380" cy="424815"/>
          </a:xfrm>
          <a:prstGeom prst="rect">
            <a:avLst/>
          </a:prstGeom>
        </p:spPr>
        <p:txBody>
          <a:bodyPr lIns="0" tIns="0" rIns="0" bIns="0" rtlCol="0" anchor="t">
            <a:spAutoFit/>
          </a:bodyPr>
          <a:lstStyle/>
          <a:p>
            <a:pPr algn="l">
              <a:lnSpc>
                <a:spcPts val="3359"/>
              </a:lnSpc>
            </a:pPr>
            <a:r>
              <a:rPr lang="en-US" sz="2400" dirty="0">
                <a:solidFill>
                  <a:srgbClr val="000000"/>
                </a:solidFill>
                <a:latin typeface="Poppins"/>
                <a:ea typeface="Poppins"/>
                <a:cs typeface="Poppins"/>
                <a:sym typeface="Poppins"/>
              </a:rPr>
              <a:t>Presented By:</a:t>
            </a:r>
          </a:p>
        </p:txBody>
      </p:sp>
      <p:sp>
        <p:nvSpPr>
          <p:cNvPr id="22" name="TextBox 22"/>
          <p:cNvSpPr txBox="1"/>
          <p:nvPr/>
        </p:nvSpPr>
        <p:spPr>
          <a:xfrm>
            <a:off x="1989782" y="8443572"/>
            <a:ext cx="2639380" cy="413190"/>
          </a:xfrm>
          <a:prstGeom prst="rect">
            <a:avLst/>
          </a:prstGeom>
        </p:spPr>
        <p:txBody>
          <a:bodyPr lIns="0" tIns="0" rIns="0" bIns="0" rtlCol="0" anchor="t">
            <a:spAutoFit/>
          </a:bodyPr>
          <a:lstStyle/>
          <a:p>
            <a:pPr algn="l">
              <a:lnSpc>
                <a:spcPts val="3359"/>
              </a:lnSpc>
            </a:pPr>
            <a:r>
              <a:rPr lang="en-US" sz="2400" b="1" dirty="0">
                <a:solidFill>
                  <a:srgbClr val="000000"/>
                </a:solidFill>
                <a:latin typeface="Poppins Bold"/>
                <a:ea typeface="Poppins Bold"/>
                <a:cs typeface="Poppins Bold"/>
                <a:sym typeface="Poppins Bold"/>
              </a:rPr>
              <a:t>Bit by Bit </a:t>
            </a:r>
          </a:p>
        </p:txBody>
      </p:sp>
      <p:pic>
        <p:nvPicPr>
          <p:cNvPr id="28" name="Picture 27">
            <a:extLst>
              <a:ext uri="{FF2B5EF4-FFF2-40B4-BE49-F238E27FC236}">
                <a16:creationId xmlns:a16="http://schemas.microsoft.com/office/drawing/2014/main" id="{0AA9EACF-E925-A632-F74B-8E227E2EBDF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2183" y="3122650"/>
            <a:ext cx="6633442" cy="407363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Freeform 15"/>
          <p:cNvSpPr/>
          <p:nvPr/>
        </p:nvSpPr>
        <p:spPr>
          <a:xfrm>
            <a:off x="15932777" y="2810643"/>
            <a:ext cx="980036" cy="980036"/>
          </a:xfrm>
          <a:custGeom>
            <a:avLst/>
            <a:gdLst/>
            <a:ahLst/>
            <a:cxnLst/>
            <a:rect l="l" t="t" r="r" b="b"/>
            <a:pathLst>
              <a:path w="980036" h="980036">
                <a:moveTo>
                  <a:pt x="0" y="0"/>
                </a:moveTo>
                <a:lnTo>
                  <a:pt x="980037" y="0"/>
                </a:lnTo>
                <a:lnTo>
                  <a:pt x="980037" y="980036"/>
                </a:lnTo>
                <a:lnTo>
                  <a:pt x="0" y="98003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0" name="TextBox 29">
            <a:extLst>
              <a:ext uri="{FF2B5EF4-FFF2-40B4-BE49-F238E27FC236}">
                <a16:creationId xmlns:a16="http://schemas.microsoft.com/office/drawing/2014/main" id="{0030ED5E-A672-41ED-6E00-8D261474DDE4}"/>
              </a:ext>
            </a:extLst>
          </p:cNvPr>
          <p:cNvSpPr txBox="1"/>
          <p:nvPr/>
        </p:nvSpPr>
        <p:spPr>
          <a:xfrm>
            <a:off x="11144814" y="9428809"/>
            <a:ext cx="10225668" cy="523220"/>
          </a:xfrm>
          <a:prstGeom prst="rect">
            <a:avLst/>
          </a:prstGeom>
          <a:noFill/>
        </p:spPr>
        <p:txBody>
          <a:bodyPr wrap="square">
            <a:spAutoFit/>
          </a:bodyPr>
          <a:lstStyle/>
          <a:p>
            <a:r>
              <a:rPr lang="en-IN" sz="2800" dirty="0">
                <a:solidFill>
                  <a:schemeClr val="bg1"/>
                </a:solidFill>
                <a:hlinkClick r:id="rId6">
                  <a:extLst>
                    <a:ext uri="{A12FA001-AC4F-418D-AE19-62706E023703}">
                      <ahyp:hlinkClr xmlns:ahyp="http://schemas.microsoft.com/office/drawing/2018/hyperlinkcolor" val="tx"/>
                    </a:ext>
                  </a:extLst>
                </a:hlinkClick>
              </a:rPr>
              <a:t>https://pharmapulse-pwue.onrender.com/</a:t>
            </a:r>
            <a:endParaRPr lang="en-IN" sz="2800" dirty="0">
              <a:solidFill>
                <a:schemeClr val="bg1"/>
              </a:solidFill>
            </a:endParaRPr>
          </a:p>
        </p:txBody>
      </p:sp>
      <p:sp>
        <p:nvSpPr>
          <p:cNvPr id="31" name="TextBox 30">
            <a:extLst>
              <a:ext uri="{FF2B5EF4-FFF2-40B4-BE49-F238E27FC236}">
                <a16:creationId xmlns:a16="http://schemas.microsoft.com/office/drawing/2014/main" id="{6057F841-438C-A338-8BBB-90A25D860F89}"/>
              </a:ext>
            </a:extLst>
          </p:cNvPr>
          <p:cNvSpPr txBox="1"/>
          <p:nvPr/>
        </p:nvSpPr>
        <p:spPr>
          <a:xfrm>
            <a:off x="11144814" y="8896722"/>
            <a:ext cx="2498349" cy="584775"/>
          </a:xfrm>
          <a:prstGeom prst="rect">
            <a:avLst/>
          </a:prstGeom>
          <a:noFill/>
        </p:spPr>
        <p:txBody>
          <a:bodyPr wrap="square" rtlCol="0">
            <a:spAutoFit/>
          </a:bodyPr>
          <a:lstStyle/>
          <a:p>
            <a:r>
              <a:rPr lang="en-US" sz="3200" b="1" dirty="0">
                <a:solidFill>
                  <a:schemeClr val="bg1"/>
                </a:solidFill>
              </a:rPr>
              <a:t>Project Link:</a:t>
            </a:r>
            <a:endParaRPr lang="en-IN" sz="32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p:cNvSpPr/>
          <p:nvPr/>
        </p:nvSpPr>
        <p:spPr>
          <a:xfrm>
            <a:off x="15621000" y="9861628"/>
            <a:ext cx="3820012" cy="777893"/>
          </a:xfrm>
          <a:custGeom>
            <a:avLst/>
            <a:gdLst/>
            <a:ahLst/>
            <a:cxnLst/>
            <a:rect l="l" t="t" r="r" b="b"/>
            <a:pathLst>
              <a:path w="3820012" h="777893">
                <a:moveTo>
                  <a:pt x="0" y="0"/>
                </a:moveTo>
                <a:lnTo>
                  <a:pt x="3820011" y="0"/>
                </a:lnTo>
                <a:lnTo>
                  <a:pt x="3820011" y="777893"/>
                </a:lnTo>
                <a:lnTo>
                  <a:pt x="0" y="777893"/>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7" name="Group 7"/>
          <p:cNvGrpSpPr/>
          <p:nvPr/>
        </p:nvGrpSpPr>
        <p:grpSpPr>
          <a:xfrm rot="328555">
            <a:off x="128133" y="-1149161"/>
            <a:ext cx="8524848" cy="12544882"/>
            <a:chOff x="0" y="0"/>
            <a:chExt cx="2052613" cy="3304002"/>
          </a:xfrm>
          <a:solidFill>
            <a:schemeClr val="tx2">
              <a:lumMod val="50000"/>
            </a:schemeClr>
          </a:solidFill>
        </p:grpSpPr>
        <p:sp>
          <p:nvSpPr>
            <p:cNvPr id="8" name="Freeform 8"/>
            <p:cNvSpPr/>
            <p:nvPr/>
          </p:nvSpPr>
          <p:spPr>
            <a:xfrm>
              <a:off x="0" y="0"/>
              <a:ext cx="2052613" cy="3304002"/>
            </a:xfrm>
            <a:custGeom>
              <a:avLst/>
              <a:gdLst/>
              <a:ahLst/>
              <a:cxnLst/>
              <a:rect l="l" t="t" r="r" b="b"/>
              <a:pathLst>
                <a:path w="2052613" h="3304002">
                  <a:moveTo>
                    <a:pt x="0" y="0"/>
                  </a:moveTo>
                  <a:lnTo>
                    <a:pt x="2052613" y="0"/>
                  </a:lnTo>
                  <a:lnTo>
                    <a:pt x="2052613" y="3304002"/>
                  </a:lnTo>
                  <a:lnTo>
                    <a:pt x="0" y="3304002"/>
                  </a:lnTo>
                  <a:close/>
                </a:path>
              </a:pathLst>
            </a:custGeom>
            <a:grpFill/>
          </p:spPr>
          <p:txBody>
            <a:bodyPr/>
            <a:lstStyle/>
            <a:p>
              <a:endParaRPr lang="en-IN"/>
            </a:p>
          </p:txBody>
        </p:sp>
        <p:sp>
          <p:nvSpPr>
            <p:cNvPr id="9" name="TextBox 9"/>
            <p:cNvSpPr txBox="1"/>
            <p:nvPr/>
          </p:nvSpPr>
          <p:spPr>
            <a:xfrm>
              <a:off x="0" y="-85725"/>
              <a:ext cx="2052613" cy="3389727"/>
            </a:xfrm>
            <a:prstGeom prst="rect">
              <a:avLst/>
            </a:prstGeom>
            <a:grpFill/>
          </p:spPr>
          <p:txBody>
            <a:bodyPr lIns="50800" tIns="50800" rIns="50800" bIns="50800" rtlCol="0" anchor="ctr"/>
            <a:lstStyle/>
            <a:p>
              <a:pPr algn="ctr">
                <a:lnSpc>
                  <a:spcPts val="2239"/>
                </a:lnSpc>
              </a:pPr>
              <a:endParaRPr/>
            </a:p>
          </p:txBody>
        </p:sp>
      </p:grpSp>
      <p:sp>
        <p:nvSpPr>
          <p:cNvPr id="11" name="Freeform 11"/>
          <p:cNvSpPr/>
          <p:nvPr/>
        </p:nvSpPr>
        <p:spPr>
          <a:xfrm>
            <a:off x="228600" y="1796760"/>
            <a:ext cx="615971" cy="636792"/>
          </a:xfrm>
          <a:custGeom>
            <a:avLst/>
            <a:gdLst/>
            <a:ahLst/>
            <a:cxnLst/>
            <a:rect l="l" t="t" r="r" b="b"/>
            <a:pathLst>
              <a:path w="615971" h="636792">
                <a:moveTo>
                  <a:pt x="0" y="0"/>
                </a:moveTo>
                <a:lnTo>
                  <a:pt x="615971" y="0"/>
                </a:lnTo>
                <a:lnTo>
                  <a:pt x="615971" y="636792"/>
                </a:lnTo>
                <a:lnTo>
                  <a:pt x="0" y="6367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13" name="Freeform 13"/>
          <p:cNvSpPr/>
          <p:nvPr/>
        </p:nvSpPr>
        <p:spPr>
          <a:xfrm>
            <a:off x="7290076" y="453962"/>
            <a:ext cx="2914981" cy="552402"/>
          </a:xfrm>
          <a:custGeom>
            <a:avLst/>
            <a:gdLst/>
            <a:ahLst/>
            <a:cxnLst/>
            <a:rect l="l" t="t" r="r" b="b"/>
            <a:pathLst>
              <a:path w="2914981" h="552402">
                <a:moveTo>
                  <a:pt x="0" y="0"/>
                </a:moveTo>
                <a:lnTo>
                  <a:pt x="2914981" y="0"/>
                </a:lnTo>
                <a:lnTo>
                  <a:pt x="2914981" y="552402"/>
                </a:lnTo>
                <a:lnTo>
                  <a:pt x="0" y="55240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14" name="TextBox 14"/>
          <p:cNvSpPr txBox="1"/>
          <p:nvPr/>
        </p:nvSpPr>
        <p:spPr>
          <a:xfrm>
            <a:off x="679127" y="4218826"/>
            <a:ext cx="7855273" cy="3447098"/>
          </a:xfrm>
          <a:prstGeom prst="rect">
            <a:avLst/>
          </a:prstGeom>
        </p:spPr>
        <p:txBody>
          <a:bodyPr wrap="square" lIns="0" tIns="0" rIns="0" bIns="0" rtlCol="0" anchor="t">
            <a:spAutoFit/>
          </a:bodyPr>
          <a:lstStyle/>
          <a:p>
            <a:r>
              <a:rPr lang="en-IN" sz="3200" dirty="0">
                <a:solidFill>
                  <a:schemeClr val="bg1"/>
                </a:solidFill>
              </a:rPr>
              <a:t>Pharmacies struggle to maintain the right medicine inventory due to uncertain demand. Understocking causes stockouts and lost sales, while overstocking leads to higher costs and expiry risk. Existing forecasting methods often predict sales but do not provide actionable, cost-aware ordering decisions.</a:t>
            </a:r>
            <a:endParaRPr lang="en-US" sz="3200" dirty="0">
              <a:solidFill>
                <a:schemeClr val="bg1"/>
              </a:solidFill>
              <a:latin typeface="Poppins"/>
              <a:ea typeface="Poppins"/>
              <a:cs typeface="Poppins"/>
              <a:sym typeface="Poppins"/>
            </a:endParaRPr>
          </a:p>
        </p:txBody>
      </p:sp>
      <p:sp>
        <p:nvSpPr>
          <p:cNvPr id="15" name="TextBox 15"/>
          <p:cNvSpPr txBox="1"/>
          <p:nvPr/>
        </p:nvSpPr>
        <p:spPr>
          <a:xfrm>
            <a:off x="1150279" y="1757205"/>
            <a:ext cx="5014355" cy="1760354"/>
          </a:xfrm>
          <a:prstGeom prst="rect">
            <a:avLst/>
          </a:prstGeom>
        </p:spPr>
        <p:txBody>
          <a:bodyPr lIns="0" tIns="0" rIns="0" bIns="0" rtlCol="0" anchor="t">
            <a:spAutoFit/>
          </a:bodyPr>
          <a:lstStyle/>
          <a:p>
            <a:pPr algn="l">
              <a:lnSpc>
                <a:spcPts val="6800"/>
              </a:lnSpc>
            </a:pPr>
            <a:r>
              <a:rPr lang="en-US" sz="6800" b="1" dirty="0">
                <a:solidFill>
                  <a:srgbClr val="FFFFFF"/>
                </a:solidFill>
                <a:latin typeface="Agrandir Bold"/>
                <a:ea typeface="Agrandir Bold"/>
                <a:cs typeface="Agrandir Bold"/>
                <a:sym typeface="Agrandir Bold"/>
              </a:rPr>
              <a:t>Problem Statement</a:t>
            </a:r>
          </a:p>
        </p:txBody>
      </p:sp>
      <p:pic>
        <p:nvPicPr>
          <p:cNvPr id="17" name="Picture 16">
            <a:extLst>
              <a:ext uri="{FF2B5EF4-FFF2-40B4-BE49-F238E27FC236}">
                <a16:creationId xmlns:a16="http://schemas.microsoft.com/office/drawing/2014/main" id="{9E7451D3-0147-3EF6-31C3-4DB0D5C953D6}"/>
              </a:ext>
            </a:extLst>
          </p:cNvPr>
          <p:cNvPicPr>
            <a:picLocks noChangeAspect="1"/>
          </p:cNvPicPr>
          <p:nvPr/>
        </p:nvPicPr>
        <p:blipFill>
          <a:blip r:embed="rId5"/>
          <a:stretch>
            <a:fillRect/>
          </a:stretch>
        </p:blipFill>
        <p:spPr>
          <a:xfrm>
            <a:off x="8991600" y="4218826"/>
            <a:ext cx="8906948" cy="5286370"/>
          </a:xfrm>
          <a:prstGeom prst="rect">
            <a:avLst/>
          </a:prstGeom>
        </p:spPr>
      </p:pic>
      <p:pic>
        <p:nvPicPr>
          <p:cNvPr id="19" name="Picture 18">
            <a:extLst>
              <a:ext uri="{FF2B5EF4-FFF2-40B4-BE49-F238E27FC236}">
                <a16:creationId xmlns:a16="http://schemas.microsoft.com/office/drawing/2014/main" id="{F5601962-7776-9F81-ACA9-D07C4A8320D4}"/>
              </a:ext>
            </a:extLst>
          </p:cNvPr>
          <p:cNvPicPr>
            <a:picLocks noChangeAspect="1"/>
          </p:cNvPicPr>
          <p:nvPr/>
        </p:nvPicPr>
        <p:blipFill>
          <a:blip r:embed="rId6"/>
          <a:stretch>
            <a:fillRect/>
          </a:stretch>
        </p:blipFill>
        <p:spPr>
          <a:xfrm>
            <a:off x="10790424" y="345389"/>
            <a:ext cx="5309300" cy="35395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Freeform 12"/>
          <p:cNvSpPr/>
          <p:nvPr/>
        </p:nvSpPr>
        <p:spPr>
          <a:xfrm>
            <a:off x="15773660" y="302255"/>
            <a:ext cx="953399" cy="959097"/>
          </a:xfrm>
          <a:custGeom>
            <a:avLst/>
            <a:gdLst/>
            <a:ahLst/>
            <a:cxnLst/>
            <a:rect l="l" t="t" r="r" b="b"/>
            <a:pathLst>
              <a:path w="953399" h="959097">
                <a:moveTo>
                  <a:pt x="0" y="0"/>
                </a:moveTo>
                <a:lnTo>
                  <a:pt x="953399" y="0"/>
                </a:lnTo>
                <a:lnTo>
                  <a:pt x="953399" y="959096"/>
                </a:lnTo>
                <a:lnTo>
                  <a:pt x="0" y="959096"/>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FD8A8-9AFE-BA3D-78A3-7BF0C89A3DF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835B559-EFC4-ABDC-FE9B-2C58ED42C271}"/>
              </a:ext>
            </a:extLst>
          </p:cNvPr>
          <p:cNvGrpSpPr/>
          <p:nvPr/>
        </p:nvGrpSpPr>
        <p:grpSpPr>
          <a:xfrm rot="1831441">
            <a:off x="-581518" y="-2090783"/>
            <a:ext cx="2105414" cy="5934133"/>
            <a:chOff x="0" y="0"/>
            <a:chExt cx="554512" cy="1562899"/>
          </a:xfrm>
        </p:grpSpPr>
        <p:sp>
          <p:nvSpPr>
            <p:cNvPr id="3" name="Freeform 3">
              <a:extLst>
                <a:ext uri="{FF2B5EF4-FFF2-40B4-BE49-F238E27FC236}">
                  <a16:creationId xmlns:a16="http://schemas.microsoft.com/office/drawing/2014/main" id="{505E6D75-475B-B263-79EC-B999BE1DBA0D}"/>
                </a:ext>
              </a:extLst>
            </p:cNvPr>
            <p:cNvSpPr/>
            <p:nvPr/>
          </p:nvSpPr>
          <p:spPr>
            <a:xfrm>
              <a:off x="0" y="0"/>
              <a:ext cx="554512" cy="1562899"/>
            </a:xfrm>
            <a:custGeom>
              <a:avLst/>
              <a:gdLst/>
              <a:ahLst/>
              <a:cxnLst/>
              <a:rect l="l" t="t" r="r" b="b"/>
              <a:pathLst>
                <a:path w="554512" h="1562899">
                  <a:moveTo>
                    <a:pt x="0" y="0"/>
                  </a:moveTo>
                  <a:lnTo>
                    <a:pt x="554512" y="0"/>
                  </a:lnTo>
                  <a:lnTo>
                    <a:pt x="554512" y="1562899"/>
                  </a:lnTo>
                  <a:lnTo>
                    <a:pt x="0" y="1562899"/>
                  </a:lnTo>
                  <a:close/>
                </a:path>
              </a:pathLst>
            </a:custGeom>
            <a:solidFill>
              <a:srgbClr val="112041"/>
            </a:solidFill>
          </p:spPr>
          <p:txBody>
            <a:bodyPr/>
            <a:lstStyle/>
            <a:p>
              <a:endParaRPr lang="en-IN"/>
            </a:p>
          </p:txBody>
        </p:sp>
        <p:sp>
          <p:nvSpPr>
            <p:cNvPr id="4" name="TextBox 4">
              <a:extLst>
                <a:ext uri="{FF2B5EF4-FFF2-40B4-BE49-F238E27FC236}">
                  <a16:creationId xmlns:a16="http://schemas.microsoft.com/office/drawing/2014/main" id="{8989BDF0-0571-E86B-3C18-5506C23E2B62}"/>
                </a:ext>
              </a:extLst>
            </p:cNvPr>
            <p:cNvSpPr txBox="1"/>
            <p:nvPr/>
          </p:nvSpPr>
          <p:spPr>
            <a:xfrm>
              <a:off x="0" y="-85725"/>
              <a:ext cx="554512" cy="1648624"/>
            </a:xfrm>
            <a:prstGeom prst="rect">
              <a:avLst/>
            </a:prstGeom>
          </p:spPr>
          <p:txBody>
            <a:bodyPr lIns="50800" tIns="50800" rIns="50800" bIns="50800" rtlCol="0" anchor="ctr"/>
            <a:lstStyle/>
            <a:p>
              <a:pPr algn="ctr">
                <a:lnSpc>
                  <a:spcPts val="2239"/>
                </a:lnSpc>
              </a:pPr>
              <a:endParaRPr/>
            </a:p>
          </p:txBody>
        </p:sp>
      </p:grpSp>
      <p:grpSp>
        <p:nvGrpSpPr>
          <p:cNvPr id="7" name="Group 7">
            <a:extLst>
              <a:ext uri="{FF2B5EF4-FFF2-40B4-BE49-F238E27FC236}">
                <a16:creationId xmlns:a16="http://schemas.microsoft.com/office/drawing/2014/main" id="{2D13E5D8-AF49-3932-9B2F-96B2F28429B6}"/>
              </a:ext>
            </a:extLst>
          </p:cNvPr>
          <p:cNvGrpSpPr/>
          <p:nvPr/>
        </p:nvGrpSpPr>
        <p:grpSpPr>
          <a:xfrm>
            <a:off x="6676305" y="6709076"/>
            <a:ext cx="995232" cy="995232"/>
            <a:chOff x="0" y="0"/>
            <a:chExt cx="1326976" cy="1326976"/>
          </a:xfrm>
        </p:grpSpPr>
        <p:grpSp>
          <p:nvGrpSpPr>
            <p:cNvPr id="8" name="Group 8">
              <a:extLst>
                <a:ext uri="{FF2B5EF4-FFF2-40B4-BE49-F238E27FC236}">
                  <a16:creationId xmlns:a16="http://schemas.microsoft.com/office/drawing/2014/main" id="{B39A4E58-843E-3670-AF6F-981D3B48532F}"/>
                </a:ext>
              </a:extLst>
            </p:cNvPr>
            <p:cNvGrpSpPr/>
            <p:nvPr/>
          </p:nvGrpSpPr>
          <p:grpSpPr>
            <a:xfrm>
              <a:off x="0" y="0"/>
              <a:ext cx="1326976" cy="1326976"/>
              <a:chOff x="0" y="0"/>
              <a:chExt cx="812800" cy="812800"/>
            </a:xfrm>
          </p:grpSpPr>
          <p:sp>
            <p:nvSpPr>
              <p:cNvPr id="9" name="Freeform 9">
                <a:extLst>
                  <a:ext uri="{FF2B5EF4-FFF2-40B4-BE49-F238E27FC236}">
                    <a16:creationId xmlns:a16="http://schemas.microsoft.com/office/drawing/2014/main" id="{C4D221C1-587A-6CDB-A1BC-295A33E774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0" name="TextBox 10">
                <a:extLst>
                  <a:ext uri="{FF2B5EF4-FFF2-40B4-BE49-F238E27FC236}">
                    <a16:creationId xmlns:a16="http://schemas.microsoft.com/office/drawing/2014/main" id="{D3AACECD-50AB-32DC-052A-0F1DF3914B1D}"/>
                  </a:ext>
                </a:extLst>
              </p:cNvPr>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1" name="Freeform 11">
              <a:extLst>
                <a:ext uri="{FF2B5EF4-FFF2-40B4-BE49-F238E27FC236}">
                  <a16:creationId xmlns:a16="http://schemas.microsoft.com/office/drawing/2014/main" id="{1438A243-DB89-DB37-4AED-94E3FB1404CC}"/>
                </a:ext>
              </a:extLst>
            </p:cNvPr>
            <p:cNvSpPr/>
            <p:nvPr/>
          </p:nvSpPr>
          <p:spPr>
            <a:xfrm>
              <a:off x="344057" y="344057"/>
              <a:ext cx="638862" cy="638862"/>
            </a:xfrm>
            <a:custGeom>
              <a:avLst/>
              <a:gdLst/>
              <a:ahLst/>
              <a:cxnLst/>
              <a:rect l="l" t="t" r="r" b="b"/>
              <a:pathLst>
                <a:path w="638862" h="638862">
                  <a:moveTo>
                    <a:pt x="0" y="0"/>
                  </a:moveTo>
                  <a:lnTo>
                    <a:pt x="638862" y="0"/>
                  </a:lnTo>
                  <a:lnTo>
                    <a:pt x="638862" y="638862"/>
                  </a:lnTo>
                  <a:lnTo>
                    <a:pt x="0" y="6388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12" name="Group 12">
            <a:extLst>
              <a:ext uri="{FF2B5EF4-FFF2-40B4-BE49-F238E27FC236}">
                <a16:creationId xmlns:a16="http://schemas.microsoft.com/office/drawing/2014/main" id="{EAC1FCE5-CFF0-63F7-9373-357779293F43}"/>
              </a:ext>
            </a:extLst>
          </p:cNvPr>
          <p:cNvGrpSpPr/>
          <p:nvPr/>
        </p:nvGrpSpPr>
        <p:grpSpPr>
          <a:xfrm>
            <a:off x="14875493" y="6709076"/>
            <a:ext cx="995232" cy="995232"/>
            <a:chOff x="0" y="0"/>
            <a:chExt cx="1326976" cy="1326976"/>
          </a:xfrm>
        </p:grpSpPr>
        <p:grpSp>
          <p:nvGrpSpPr>
            <p:cNvPr id="13" name="Group 13">
              <a:extLst>
                <a:ext uri="{FF2B5EF4-FFF2-40B4-BE49-F238E27FC236}">
                  <a16:creationId xmlns:a16="http://schemas.microsoft.com/office/drawing/2014/main" id="{41087089-C460-93B8-7BE2-2DB8F1D972A4}"/>
                </a:ext>
              </a:extLst>
            </p:cNvPr>
            <p:cNvGrpSpPr/>
            <p:nvPr/>
          </p:nvGrpSpPr>
          <p:grpSpPr>
            <a:xfrm>
              <a:off x="0" y="0"/>
              <a:ext cx="1326976" cy="1326976"/>
              <a:chOff x="0" y="0"/>
              <a:chExt cx="812800" cy="812800"/>
            </a:xfrm>
          </p:grpSpPr>
          <p:sp>
            <p:nvSpPr>
              <p:cNvPr id="14" name="Freeform 14">
                <a:extLst>
                  <a:ext uri="{FF2B5EF4-FFF2-40B4-BE49-F238E27FC236}">
                    <a16:creationId xmlns:a16="http://schemas.microsoft.com/office/drawing/2014/main" id="{F0749C4E-98E2-DF9F-4878-C25B2611C71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5" name="TextBox 15">
                <a:extLst>
                  <a:ext uri="{FF2B5EF4-FFF2-40B4-BE49-F238E27FC236}">
                    <a16:creationId xmlns:a16="http://schemas.microsoft.com/office/drawing/2014/main" id="{55420C80-A78A-E07E-4604-BB95D4C496E7}"/>
                  </a:ext>
                </a:extLst>
              </p:cNvPr>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16" name="Freeform 16">
              <a:extLst>
                <a:ext uri="{FF2B5EF4-FFF2-40B4-BE49-F238E27FC236}">
                  <a16:creationId xmlns:a16="http://schemas.microsoft.com/office/drawing/2014/main" id="{7A4E66C7-62AF-2B89-FD5B-69933474E414}"/>
                </a:ext>
              </a:extLst>
            </p:cNvPr>
            <p:cNvSpPr/>
            <p:nvPr/>
          </p:nvSpPr>
          <p:spPr>
            <a:xfrm>
              <a:off x="344057" y="344057"/>
              <a:ext cx="638862" cy="638862"/>
            </a:xfrm>
            <a:custGeom>
              <a:avLst/>
              <a:gdLst/>
              <a:ahLst/>
              <a:cxnLst/>
              <a:rect l="l" t="t" r="r" b="b"/>
              <a:pathLst>
                <a:path w="638862" h="638862">
                  <a:moveTo>
                    <a:pt x="0" y="0"/>
                  </a:moveTo>
                  <a:lnTo>
                    <a:pt x="638862" y="0"/>
                  </a:lnTo>
                  <a:lnTo>
                    <a:pt x="638862" y="638862"/>
                  </a:lnTo>
                  <a:lnTo>
                    <a:pt x="0" y="6388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17" name="Group 17">
            <a:extLst>
              <a:ext uri="{FF2B5EF4-FFF2-40B4-BE49-F238E27FC236}">
                <a16:creationId xmlns:a16="http://schemas.microsoft.com/office/drawing/2014/main" id="{F9B31898-394D-AA7C-070A-88F7B53744EA}"/>
              </a:ext>
            </a:extLst>
          </p:cNvPr>
          <p:cNvGrpSpPr/>
          <p:nvPr/>
        </p:nvGrpSpPr>
        <p:grpSpPr>
          <a:xfrm>
            <a:off x="2713999" y="6644083"/>
            <a:ext cx="995232" cy="980723"/>
            <a:chOff x="0" y="0"/>
            <a:chExt cx="1326976" cy="1326976"/>
          </a:xfrm>
        </p:grpSpPr>
        <p:grpSp>
          <p:nvGrpSpPr>
            <p:cNvPr id="18" name="Group 18">
              <a:extLst>
                <a:ext uri="{FF2B5EF4-FFF2-40B4-BE49-F238E27FC236}">
                  <a16:creationId xmlns:a16="http://schemas.microsoft.com/office/drawing/2014/main" id="{0F2A6A2C-77CD-6F27-960C-CDAAC388C1FE}"/>
                </a:ext>
              </a:extLst>
            </p:cNvPr>
            <p:cNvGrpSpPr/>
            <p:nvPr/>
          </p:nvGrpSpPr>
          <p:grpSpPr>
            <a:xfrm>
              <a:off x="0" y="0"/>
              <a:ext cx="1326976" cy="1326976"/>
              <a:chOff x="0" y="0"/>
              <a:chExt cx="812800" cy="812800"/>
            </a:xfrm>
          </p:grpSpPr>
          <p:sp>
            <p:nvSpPr>
              <p:cNvPr id="19" name="Freeform 19">
                <a:extLst>
                  <a:ext uri="{FF2B5EF4-FFF2-40B4-BE49-F238E27FC236}">
                    <a16:creationId xmlns:a16="http://schemas.microsoft.com/office/drawing/2014/main" id="{30B65C17-19FB-2819-102E-5384F40FC12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20" name="TextBox 20">
                <a:extLst>
                  <a:ext uri="{FF2B5EF4-FFF2-40B4-BE49-F238E27FC236}">
                    <a16:creationId xmlns:a16="http://schemas.microsoft.com/office/drawing/2014/main" id="{BFD0DD70-D93B-F324-4BF9-7A084C27669C}"/>
                  </a:ext>
                </a:extLst>
              </p:cNvPr>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21" name="Freeform 21">
              <a:extLst>
                <a:ext uri="{FF2B5EF4-FFF2-40B4-BE49-F238E27FC236}">
                  <a16:creationId xmlns:a16="http://schemas.microsoft.com/office/drawing/2014/main" id="{4D3D1500-C464-300C-8B0D-7E5FA2F1F763}"/>
                </a:ext>
              </a:extLst>
            </p:cNvPr>
            <p:cNvSpPr/>
            <p:nvPr/>
          </p:nvSpPr>
          <p:spPr>
            <a:xfrm>
              <a:off x="344057" y="344057"/>
              <a:ext cx="638862" cy="638862"/>
            </a:xfrm>
            <a:custGeom>
              <a:avLst/>
              <a:gdLst/>
              <a:ahLst/>
              <a:cxnLst/>
              <a:rect l="l" t="t" r="r" b="b"/>
              <a:pathLst>
                <a:path w="638862" h="638862">
                  <a:moveTo>
                    <a:pt x="0" y="0"/>
                  </a:moveTo>
                  <a:lnTo>
                    <a:pt x="638862" y="0"/>
                  </a:lnTo>
                  <a:lnTo>
                    <a:pt x="638862" y="638862"/>
                  </a:lnTo>
                  <a:lnTo>
                    <a:pt x="0" y="6388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22" name="Group 22">
            <a:extLst>
              <a:ext uri="{FF2B5EF4-FFF2-40B4-BE49-F238E27FC236}">
                <a16:creationId xmlns:a16="http://schemas.microsoft.com/office/drawing/2014/main" id="{48B9D2CD-6B86-2C57-2642-D12B4A4885FF}"/>
              </a:ext>
            </a:extLst>
          </p:cNvPr>
          <p:cNvGrpSpPr/>
          <p:nvPr/>
        </p:nvGrpSpPr>
        <p:grpSpPr>
          <a:xfrm>
            <a:off x="10966475" y="6709076"/>
            <a:ext cx="995232" cy="995232"/>
            <a:chOff x="0" y="0"/>
            <a:chExt cx="1326976" cy="1326976"/>
          </a:xfrm>
        </p:grpSpPr>
        <p:grpSp>
          <p:nvGrpSpPr>
            <p:cNvPr id="23" name="Group 23">
              <a:extLst>
                <a:ext uri="{FF2B5EF4-FFF2-40B4-BE49-F238E27FC236}">
                  <a16:creationId xmlns:a16="http://schemas.microsoft.com/office/drawing/2014/main" id="{7AFA7B6E-41D7-5E3F-CB8E-CA0E08E8B80E}"/>
                </a:ext>
              </a:extLst>
            </p:cNvPr>
            <p:cNvGrpSpPr/>
            <p:nvPr/>
          </p:nvGrpSpPr>
          <p:grpSpPr>
            <a:xfrm>
              <a:off x="0" y="0"/>
              <a:ext cx="1326976" cy="1326976"/>
              <a:chOff x="0" y="0"/>
              <a:chExt cx="812800" cy="812800"/>
            </a:xfrm>
          </p:grpSpPr>
          <p:sp>
            <p:nvSpPr>
              <p:cNvPr id="24" name="Freeform 24">
                <a:extLst>
                  <a:ext uri="{FF2B5EF4-FFF2-40B4-BE49-F238E27FC236}">
                    <a16:creationId xmlns:a16="http://schemas.microsoft.com/office/drawing/2014/main" id="{E3A4353B-3D28-E207-ADE7-F1B62936F99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25" name="TextBox 25">
                <a:extLst>
                  <a:ext uri="{FF2B5EF4-FFF2-40B4-BE49-F238E27FC236}">
                    <a16:creationId xmlns:a16="http://schemas.microsoft.com/office/drawing/2014/main" id="{418AA7E4-CA2D-BC12-48F7-992482A0AC5B}"/>
                  </a:ext>
                </a:extLst>
              </p:cNvPr>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26" name="Freeform 26">
              <a:extLst>
                <a:ext uri="{FF2B5EF4-FFF2-40B4-BE49-F238E27FC236}">
                  <a16:creationId xmlns:a16="http://schemas.microsoft.com/office/drawing/2014/main" id="{0A5FA856-3E1B-9633-1229-3AA7496F956C}"/>
                </a:ext>
              </a:extLst>
            </p:cNvPr>
            <p:cNvSpPr/>
            <p:nvPr/>
          </p:nvSpPr>
          <p:spPr>
            <a:xfrm>
              <a:off x="344057" y="344057"/>
              <a:ext cx="638862" cy="638862"/>
            </a:xfrm>
            <a:custGeom>
              <a:avLst/>
              <a:gdLst/>
              <a:ahLst/>
              <a:cxnLst/>
              <a:rect l="l" t="t" r="r" b="b"/>
              <a:pathLst>
                <a:path w="638862" h="638862">
                  <a:moveTo>
                    <a:pt x="0" y="0"/>
                  </a:moveTo>
                  <a:lnTo>
                    <a:pt x="638862" y="0"/>
                  </a:lnTo>
                  <a:lnTo>
                    <a:pt x="638862" y="638862"/>
                  </a:lnTo>
                  <a:lnTo>
                    <a:pt x="0" y="63886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grpSp>
        <p:nvGrpSpPr>
          <p:cNvPr id="27" name="Group 27">
            <a:extLst>
              <a:ext uri="{FF2B5EF4-FFF2-40B4-BE49-F238E27FC236}">
                <a16:creationId xmlns:a16="http://schemas.microsoft.com/office/drawing/2014/main" id="{B949515C-DA9B-6F9E-FD87-F5BE23A26F40}"/>
              </a:ext>
            </a:extLst>
          </p:cNvPr>
          <p:cNvGrpSpPr/>
          <p:nvPr/>
        </p:nvGrpSpPr>
        <p:grpSpPr>
          <a:xfrm rot="6818877">
            <a:off x="17477047" y="9173354"/>
            <a:ext cx="2105414" cy="3191038"/>
            <a:chOff x="0" y="0"/>
            <a:chExt cx="554512" cy="840438"/>
          </a:xfrm>
        </p:grpSpPr>
        <p:sp>
          <p:nvSpPr>
            <p:cNvPr id="28" name="Freeform 28">
              <a:extLst>
                <a:ext uri="{FF2B5EF4-FFF2-40B4-BE49-F238E27FC236}">
                  <a16:creationId xmlns:a16="http://schemas.microsoft.com/office/drawing/2014/main" id="{A14BBBCA-97B5-636A-4684-32F91F451D1F}"/>
                </a:ext>
              </a:extLst>
            </p:cNvPr>
            <p:cNvSpPr/>
            <p:nvPr/>
          </p:nvSpPr>
          <p:spPr>
            <a:xfrm>
              <a:off x="0" y="0"/>
              <a:ext cx="554512" cy="840438"/>
            </a:xfrm>
            <a:custGeom>
              <a:avLst/>
              <a:gdLst/>
              <a:ahLst/>
              <a:cxnLst/>
              <a:rect l="l" t="t" r="r" b="b"/>
              <a:pathLst>
                <a:path w="554512" h="840438">
                  <a:moveTo>
                    <a:pt x="0" y="0"/>
                  </a:moveTo>
                  <a:lnTo>
                    <a:pt x="554512" y="0"/>
                  </a:lnTo>
                  <a:lnTo>
                    <a:pt x="554512" y="840438"/>
                  </a:lnTo>
                  <a:lnTo>
                    <a:pt x="0" y="840438"/>
                  </a:lnTo>
                  <a:close/>
                </a:path>
              </a:pathLst>
            </a:custGeom>
            <a:solidFill>
              <a:srgbClr val="112041"/>
            </a:solidFill>
          </p:spPr>
          <p:txBody>
            <a:bodyPr/>
            <a:lstStyle/>
            <a:p>
              <a:endParaRPr lang="en-IN"/>
            </a:p>
          </p:txBody>
        </p:sp>
        <p:sp>
          <p:nvSpPr>
            <p:cNvPr id="29" name="TextBox 29">
              <a:extLst>
                <a:ext uri="{FF2B5EF4-FFF2-40B4-BE49-F238E27FC236}">
                  <a16:creationId xmlns:a16="http://schemas.microsoft.com/office/drawing/2014/main" id="{EE0B7947-E62B-716F-AC65-2BD3FA098682}"/>
                </a:ext>
              </a:extLst>
            </p:cNvPr>
            <p:cNvSpPr txBox="1"/>
            <p:nvPr/>
          </p:nvSpPr>
          <p:spPr>
            <a:xfrm>
              <a:off x="0" y="-85725"/>
              <a:ext cx="554512" cy="926163"/>
            </a:xfrm>
            <a:prstGeom prst="rect">
              <a:avLst/>
            </a:prstGeom>
          </p:spPr>
          <p:txBody>
            <a:bodyPr lIns="50800" tIns="50800" rIns="50800" bIns="50800" rtlCol="0" anchor="ctr"/>
            <a:lstStyle/>
            <a:p>
              <a:pPr algn="ctr">
                <a:lnSpc>
                  <a:spcPts val="2239"/>
                </a:lnSpc>
              </a:pPr>
              <a:endParaRPr/>
            </a:p>
          </p:txBody>
        </p:sp>
      </p:grpSp>
      <p:sp>
        <p:nvSpPr>
          <p:cNvPr id="32" name="TextBox 32">
            <a:extLst>
              <a:ext uri="{FF2B5EF4-FFF2-40B4-BE49-F238E27FC236}">
                <a16:creationId xmlns:a16="http://schemas.microsoft.com/office/drawing/2014/main" id="{50A84DB6-4A07-8559-38BF-46307FCE7961}"/>
              </a:ext>
            </a:extLst>
          </p:cNvPr>
          <p:cNvSpPr txBox="1"/>
          <p:nvPr/>
        </p:nvSpPr>
        <p:spPr>
          <a:xfrm>
            <a:off x="1719952" y="7903425"/>
            <a:ext cx="3162014" cy="1231106"/>
          </a:xfrm>
          <a:prstGeom prst="rect">
            <a:avLst/>
          </a:prstGeom>
        </p:spPr>
        <p:txBody>
          <a:bodyPr lIns="0" tIns="0" rIns="0" bIns="0" rtlCol="0" anchor="t">
            <a:spAutoFit/>
          </a:bodyPr>
          <a:lstStyle/>
          <a:p>
            <a:pPr algn="ctr">
              <a:lnSpc>
                <a:spcPct val="100000"/>
              </a:lnSpc>
            </a:pPr>
            <a:r>
              <a:rPr lang="en-IN" sz="2000" b="1" dirty="0">
                <a:solidFill>
                  <a:srgbClr val="0B0A0A"/>
                </a:solidFill>
                <a:latin typeface="Poppins Semi-Bold"/>
                <a:cs typeface="Poppins Semi-Bold"/>
              </a:rPr>
              <a:t>Demand forecasting Predicts future medicine sales with uncertainty ranges.</a:t>
            </a:r>
            <a:endParaRPr lang="en-US" sz="2000" b="1" dirty="0">
              <a:solidFill>
                <a:srgbClr val="0B0A0A"/>
              </a:solidFill>
              <a:latin typeface="Poppins Semi-Bold"/>
              <a:cs typeface="Poppins Semi-Bold"/>
              <a:sym typeface="Poppins Semi-Bold"/>
            </a:endParaRPr>
          </a:p>
        </p:txBody>
      </p:sp>
      <p:sp>
        <p:nvSpPr>
          <p:cNvPr id="33" name="Freeform 33">
            <a:extLst>
              <a:ext uri="{FF2B5EF4-FFF2-40B4-BE49-F238E27FC236}">
                <a16:creationId xmlns:a16="http://schemas.microsoft.com/office/drawing/2014/main" id="{45F5D9AF-6D12-C4D3-6451-5CC00D31F018}"/>
              </a:ext>
            </a:extLst>
          </p:cNvPr>
          <p:cNvSpPr/>
          <p:nvPr/>
        </p:nvSpPr>
        <p:spPr>
          <a:xfrm>
            <a:off x="-751924" y="8330904"/>
            <a:ext cx="2749693" cy="1854793"/>
          </a:xfrm>
          <a:custGeom>
            <a:avLst/>
            <a:gdLst/>
            <a:ahLst/>
            <a:cxnLst/>
            <a:rect l="l" t="t" r="r" b="b"/>
            <a:pathLst>
              <a:path w="2749693" h="1854793">
                <a:moveTo>
                  <a:pt x="0" y="0"/>
                </a:moveTo>
                <a:lnTo>
                  <a:pt x="2749693" y="0"/>
                </a:lnTo>
                <a:lnTo>
                  <a:pt x="2749693" y="1854792"/>
                </a:lnTo>
                <a:lnTo>
                  <a:pt x="0" y="18547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4" name="Freeform 34">
            <a:extLst>
              <a:ext uri="{FF2B5EF4-FFF2-40B4-BE49-F238E27FC236}">
                <a16:creationId xmlns:a16="http://schemas.microsoft.com/office/drawing/2014/main" id="{60F3F5CF-109A-CC5A-1618-C1447E906265}"/>
              </a:ext>
            </a:extLst>
          </p:cNvPr>
          <p:cNvSpPr/>
          <p:nvPr/>
        </p:nvSpPr>
        <p:spPr>
          <a:xfrm rot="-5400000">
            <a:off x="1773956" y="213943"/>
            <a:ext cx="447626" cy="1181889"/>
          </a:xfrm>
          <a:custGeom>
            <a:avLst/>
            <a:gdLst/>
            <a:ahLst/>
            <a:cxnLst/>
            <a:rect l="l" t="t" r="r" b="b"/>
            <a:pathLst>
              <a:path w="447626" h="1181889">
                <a:moveTo>
                  <a:pt x="0" y="0"/>
                </a:moveTo>
                <a:lnTo>
                  <a:pt x="447626" y="0"/>
                </a:lnTo>
                <a:lnTo>
                  <a:pt x="447626" y="1181889"/>
                </a:lnTo>
                <a:lnTo>
                  <a:pt x="0" y="11818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5" name="TextBox 35">
            <a:extLst>
              <a:ext uri="{FF2B5EF4-FFF2-40B4-BE49-F238E27FC236}">
                <a16:creationId xmlns:a16="http://schemas.microsoft.com/office/drawing/2014/main" id="{81A34385-A885-3551-EFA0-C5A0E6D01847}"/>
              </a:ext>
            </a:extLst>
          </p:cNvPr>
          <p:cNvSpPr txBox="1"/>
          <p:nvPr/>
        </p:nvSpPr>
        <p:spPr>
          <a:xfrm>
            <a:off x="1198014" y="2656172"/>
            <a:ext cx="4631000" cy="1923604"/>
          </a:xfrm>
          <a:prstGeom prst="rect">
            <a:avLst/>
          </a:prstGeom>
        </p:spPr>
        <p:txBody>
          <a:bodyPr lIns="0" tIns="0" rIns="0" bIns="0" rtlCol="0" anchor="t">
            <a:spAutoFit/>
          </a:bodyPr>
          <a:lstStyle/>
          <a:p>
            <a:pPr marL="0" lvl="0" indent="0" algn="l">
              <a:lnSpc>
                <a:spcPts val="7480"/>
              </a:lnSpc>
              <a:spcBef>
                <a:spcPct val="0"/>
              </a:spcBef>
            </a:pPr>
            <a:r>
              <a:rPr lang="en-US" sz="6800" b="1" dirty="0">
                <a:solidFill>
                  <a:srgbClr val="0B0A0A"/>
                </a:solidFill>
                <a:latin typeface="Agrandir Bold"/>
                <a:ea typeface="Agrandir Bold"/>
                <a:cs typeface="Agrandir Bold"/>
                <a:sym typeface="Agrandir Bold"/>
              </a:rPr>
              <a:t>Our Solution</a:t>
            </a:r>
            <a:endParaRPr lang="en-US" sz="6800" b="1" u="none" strike="noStrike" dirty="0">
              <a:solidFill>
                <a:srgbClr val="0B0A0A"/>
              </a:solidFill>
              <a:latin typeface="Agrandir Bold"/>
              <a:ea typeface="Agrandir Bold"/>
              <a:cs typeface="Agrandir Bold"/>
              <a:sym typeface="Agrandir Bold"/>
            </a:endParaRPr>
          </a:p>
        </p:txBody>
      </p:sp>
      <p:sp>
        <p:nvSpPr>
          <p:cNvPr id="37" name="TextBox 37">
            <a:extLst>
              <a:ext uri="{FF2B5EF4-FFF2-40B4-BE49-F238E27FC236}">
                <a16:creationId xmlns:a16="http://schemas.microsoft.com/office/drawing/2014/main" id="{6C6E92D8-8156-5C26-8A48-573152AC682A}"/>
              </a:ext>
            </a:extLst>
          </p:cNvPr>
          <p:cNvSpPr txBox="1"/>
          <p:nvPr/>
        </p:nvSpPr>
        <p:spPr>
          <a:xfrm>
            <a:off x="5655731" y="7859267"/>
            <a:ext cx="3396221" cy="1846659"/>
          </a:xfrm>
          <a:prstGeom prst="rect">
            <a:avLst/>
          </a:prstGeom>
        </p:spPr>
        <p:txBody>
          <a:bodyPr lIns="0" tIns="0" rIns="0" bIns="0" rtlCol="0" anchor="t">
            <a:spAutoFit/>
          </a:bodyPr>
          <a:lstStyle/>
          <a:p>
            <a:pPr algn="ctr">
              <a:lnSpc>
                <a:spcPct val="100000"/>
              </a:lnSpc>
            </a:pPr>
            <a:r>
              <a:rPr lang="en-IN" sz="2000" b="1" dirty="0">
                <a:solidFill>
                  <a:srgbClr val="0B0A0A"/>
                </a:solidFill>
                <a:latin typeface="Poppins Semi-Bold"/>
                <a:cs typeface="Poppins Semi-Bold"/>
              </a:rPr>
              <a:t>Cost-aware inventory decisions Recommends the right quantity to order based on shortage and overstock costs. </a:t>
            </a:r>
            <a:br>
              <a:rPr lang="en-IN" sz="2000" b="1" dirty="0">
                <a:solidFill>
                  <a:srgbClr val="0B0A0A"/>
                </a:solidFill>
                <a:latin typeface="Poppins Semi-Bold"/>
                <a:cs typeface="Poppins Semi-Bold"/>
              </a:rPr>
            </a:br>
            <a:endParaRPr lang="en-US" sz="2000" b="1" dirty="0">
              <a:solidFill>
                <a:srgbClr val="0B0A0A"/>
              </a:solidFill>
              <a:latin typeface="Poppins Semi-Bold"/>
              <a:cs typeface="Poppins Semi-Bold"/>
              <a:sym typeface="Poppins Semi-Bold"/>
            </a:endParaRPr>
          </a:p>
        </p:txBody>
      </p:sp>
      <p:sp>
        <p:nvSpPr>
          <p:cNvPr id="38" name="TextBox 38">
            <a:extLst>
              <a:ext uri="{FF2B5EF4-FFF2-40B4-BE49-F238E27FC236}">
                <a16:creationId xmlns:a16="http://schemas.microsoft.com/office/drawing/2014/main" id="{B89A6464-72F8-F250-3D58-CFAE4AC0FD76}"/>
              </a:ext>
            </a:extLst>
          </p:cNvPr>
          <p:cNvSpPr txBox="1"/>
          <p:nvPr/>
        </p:nvSpPr>
        <p:spPr>
          <a:xfrm>
            <a:off x="9825717" y="7859267"/>
            <a:ext cx="3396221" cy="1538883"/>
          </a:xfrm>
          <a:prstGeom prst="rect">
            <a:avLst/>
          </a:prstGeom>
        </p:spPr>
        <p:txBody>
          <a:bodyPr lIns="0" tIns="0" rIns="0" bIns="0" rtlCol="0" anchor="t">
            <a:spAutoFit/>
          </a:bodyPr>
          <a:lstStyle/>
          <a:p>
            <a:pPr algn="ctr">
              <a:lnSpc>
                <a:spcPct val="100000"/>
              </a:lnSpc>
            </a:pPr>
            <a:r>
              <a:rPr lang="en-IN" sz="2000" b="1" dirty="0">
                <a:solidFill>
                  <a:srgbClr val="0B0A0A"/>
                </a:solidFill>
                <a:latin typeface="Poppins Semi-Bold"/>
                <a:cs typeface="Poppins Semi-Bold"/>
              </a:rPr>
              <a:t>Explainable &amp; risk-based insights Shows why a forecast is made and highlights critical inventory risks.</a:t>
            </a:r>
            <a:endParaRPr lang="en-US" sz="2000" b="1" dirty="0">
              <a:solidFill>
                <a:srgbClr val="0B0A0A"/>
              </a:solidFill>
              <a:latin typeface="Poppins Semi-Bold"/>
              <a:cs typeface="Poppins Semi-Bold"/>
              <a:sym typeface="Poppins Semi-Bold"/>
            </a:endParaRPr>
          </a:p>
        </p:txBody>
      </p:sp>
      <p:sp>
        <p:nvSpPr>
          <p:cNvPr id="39" name="TextBox 39">
            <a:extLst>
              <a:ext uri="{FF2B5EF4-FFF2-40B4-BE49-F238E27FC236}">
                <a16:creationId xmlns:a16="http://schemas.microsoft.com/office/drawing/2014/main" id="{8A64D554-4AD3-CA95-A7A3-814D7F47C093}"/>
              </a:ext>
            </a:extLst>
          </p:cNvPr>
          <p:cNvSpPr txBox="1"/>
          <p:nvPr/>
        </p:nvSpPr>
        <p:spPr>
          <a:xfrm>
            <a:off x="13674999" y="7818042"/>
            <a:ext cx="3396221" cy="1846659"/>
          </a:xfrm>
          <a:prstGeom prst="rect">
            <a:avLst/>
          </a:prstGeom>
        </p:spPr>
        <p:txBody>
          <a:bodyPr lIns="0" tIns="0" rIns="0" bIns="0" rtlCol="0" anchor="t">
            <a:spAutoFit/>
          </a:bodyPr>
          <a:lstStyle/>
          <a:p>
            <a:pPr algn="ctr">
              <a:lnSpc>
                <a:spcPct val="100000"/>
              </a:lnSpc>
            </a:pPr>
            <a:r>
              <a:rPr lang="en-IN" sz="2000" b="1" dirty="0">
                <a:solidFill>
                  <a:srgbClr val="0B0A0A"/>
                </a:solidFill>
                <a:latin typeface="Poppins Semi-Bold"/>
                <a:cs typeface="Poppins Semi-Bold"/>
              </a:rPr>
              <a:t>Smart &amp; actionable pharmacy management Helps pharmacists decide what to order, how much to order, and when to order.</a:t>
            </a:r>
            <a:endParaRPr lang="en-US" sz="2000" b="1" dirty="0">
              <a:solidFill>
                <a:srgbClr val="0B0A0A"/>
              </a:solidFill>
              <a:latin typeface="Poppins Semi-Bold"/>
              <a:cs typeface="Poppins Semi-Bold"/>
              <a:sym typeface="Poppins Semi-Bold"/>
            </a:endParaRPr>
          </a:p>
        </p:txBody>
      </p:sp>
      <p:sp>
        <p:nvSpPr>
          <p:cNvPr id="40" name="Freeform 40">
            <a:extLst>
              <a:ext uri="{FF2B5EF4-FFF2-40B4-BE49-F238E27FC236}">
                <a16:creationId xmlns:a16="http://schemas.microsoft.com/office/drawing/2014/main" id="{05FBBADE-3A1E-257F-495B-A60D26226AED}"/>
              </a:ext>
            </a:extLst>
          </p:cNvPr>
          <p:cNvSpPr/>
          <p:nvPr/>
        </p:nvSpPr>
        <p:spPr>
          <a:xfrm rot="-5400000">
            <a:off x="16711371" y="9324236"/>
            <a:ext cx="447626" cy="1181889"/>
          </a:xfrm>
          <a:custGeom>
            <a:avLst/>
            <a:gdLst/>
            <a:ahLst/>
            <a:cxnLst/>
            <a:rect l="l" t="t" r="r" b="b"/>
            <a:pathLst>
              <a:path w="447626" h="1181889">
                <a:moveTo>
                  <a:pt x="0" y="0"/>
                </a:moveTo>
                <a:lnTo>
                  <a:pt x="447626" y="0"/>
                </a:lnTo>
                <a:lnTo>
                  <a:pt x="447626" y="1181889"/>
                </a:lnTo>
                <a:lnTo>
                  <a:pt x="0" y="118188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6" name="TextBox 35">
            <a:extLst>
              <a:ext uri="{FF2B5EF4-FFF2-40B4-BE49-F238E27FC236}">
                <a16:creationId xmlns:a16="http://schemas.microsoft.com/office/drawing/2014/main" id="{9BCB8399-87EA-4555-6F8D-0A89BB3668BF}"/>
              </a:ext>
            </a:extLst>
          </p:cNvPr>
          <p:cNvSpPr txBox="1"/>
          <p:nvPr/>
        </p:nvSpPr>
        <p:spPr>
          <a:xfrm>
            <a:off x="1006631" y="4994717"/>
            <a:ext cx="9298199" cy="1154162"/>
          </a:xfrm>
          <a:prstGeom prst="rect">
            <a:avLst/>
          </a:prstGeom>
          <a:noFill/>
        </p:spPr>
        <p:txBody>
          <a:bodyPr wrap="square" rtlCol="0">
            <a:spAutoFit/>
          </a:bodyPr>
          <a:lstStyle/>
          <a:p>
            <a:r>
              <a:rPr lang="en-IN" sz="2300" b="1" dirty="0">
                <a:solidFill>
                  <a:srgbClr val="0B0A0A"/>
                </a:solidFill>
                <a:latin typeface="Poppins Semi-Bold"/>
                <a:cs typeface="Poppins Semi-Bold"/>
              </a:rPr>
              <a:t>Every pharmacy guesses how much to order. We calculate it  with the odds, the cost of being wrong, and the reason behind the number.</a:t>
            </a:r>
          </a:p>
        </p:txBody>
      </p:sp>
      <p:pic>
        <p:nvPicPr>
          <p:cNvPr id="42" name="Picture 41">
            <a:extLst>
              <a:ext uri="{FF2B5EF4-FFF2-40B4-BE49-F238E27FC236}">
                <a16:creationId xmlns:a16="http://schemas.microsoft.com/office/drawing/2014/main" id="{240643AF-745B-E7AE-521F-75E37754CDC7}"/>
              </a:ext>
            </a:extLst>
          </p:cNvPr>
          <p:cNvPicPr>
            <a:picLocks noChangeAspect="1"/>
          </p:cNvPicPr>
          <p:nvPr/>
        </p:nvPicPr>
        <p:blipFill>
          <a:blip r:embed="rId5"/>
          <a:stretch>
            <a:fillRect/>
          </a:stretch>
        </p:blipFill>
        <p:spPr>
          <a:xfrm>
            <a:off x="10195405" y="1155526"/>
            <a:ext cx="6577863" cy="3650714"/>
          </a:xfrm>
          <a:prstGeom prst="rect">
            <a:avLst/>
          </a:prstGeom>
          <a:ln>
            <a:noFill/>
          </a:ln>
          <a:effectLst>
            <a:outerShdw blurRad="292100" dist="139700" dir="2700000" algn="tl" rotWithShape="0">
              <a:srgbClr val="333333">
                <a:alpha val="65000"/>
              </a:srgbClr>
            </a:outerShdw>
          </a:effectLst>
        </p:spPr>
      </p:pic>
      <p:sp>
        <p:nvSpPr>
          <p:cNvPr id="31" name="Freeform 31">
            <a:extLst>
              <a:ext uri="{FF2B5EF4-FFF2-40B4-BE49-F238E27FC236}">
                <a16:creationId xmlns:a16="http://schemas.microsoft.com/office/drawing/2014/main" id="{DFD61AB9-DA21-30EA-E4C4-D6C2EEC27DEE}"/>
              </a:ext>
            </a:extLst>
          </p:cNvPr>
          <p:cNvSpPr/>
          <p:nvPr/>
        </p:nvSpPr>
        <p:spPr>
          <a:xfrm>
            <a:off x="14387785" y="0"/>
            <a:ext cx="4516343" cy="3046479"/>
          </a:xfrm>
          <a:custGeom>
            <a:avLst/>
            <a:gdLst/>
            <a:ahLst/>
            <a:cxnLst/>
            <a:rect l="l" t="t" r="r" b="b"/>
            <a:pathLst>
              <a:path w="4516343" h="3046479">
                <a:moveTo>
                  <a:pt x="0" y="0"/>
                </a:moveTo>
                <a:lnTo>
                  <a:pt x="4516343" y="0"/>
                </a:lnTo>
                <a:lnTo>
                  <a:pt x="4516343" y="3046479"/>
                </a:lnTo>
                <a:lnTo>
                  <a:pt x="0" y="30464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0" name="Freeform 30">
            <a:extLst>
              <a:ext uri="{FF2B5EF4-FFF2-40B4-BE49-F238E27FC236}">
                <a16:creationId xmlns:a16="http://schemas.microsoft.com/office/drawing/2014/main" id="{7C0D2B0B-DBE1-B8ED-2EE6-D01E684D1E0E}"/>
              </a:ext>
            </a:extLst>
          </p:cNvPr>
          <p:cNvSpPr/>
          <p:nvPr/>
        </p:nvSpPr>
        <p:spPr>
          <a:xfrm>
            <a:off x="9825717" y="859897"/>
            <a:ext cx="593703" cy="880732"/>
          </a:xfrm>
          <a:custGeom>
            <a:avLst/>
            <a:gdLst/>
            <a:ahLst/>
            <a:cxnLst/>
            <a:rect l="l" t="t" r="r" b="b"/>
            <a:pathLst>
              <a:path w="593703" h="880732">
                <a:moveTo>
                  <a:pt x="0" y="0"/>
                </a:moveTo>
                <a:lnTo>
                  <a:pt x="593704" y="0"/>
                </a:lnTo>
                <a:lnTo>
                  <a:pt x="593704" y="880732"/>
                </a:lnTo>
                <a:lnTo>
                  <a:pt x="0" y="88073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Tree>
    <p:extLst>
      <p:ext uri="{BB962C8B-B14F-4D97-AF65-F5344CB8AC3E}">
        <p14:creationId xmlns:p14="http://schemas.microsoft.com/office/powerpoint/2010/main" val="2507899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8"/>
          <p:cNvGrpSpPr/>
          <p:nvPr/>
        </p:nvGrpSpPr>
        <p:grpSpPr>
          <a:xfrm>
            <a:off x="2456014" y="3152361"/>
            <a:ext cx="821282" cy="8212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0" name="TextBox 10"/>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2456014" y="4679714"/>
            <a:ext cx="821282" cy="82128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3" name="TextBox 13"/>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2456014" y="6207067"/>
            <a:ext cx="821282" cy="82128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6" name="TextBox 16"/>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grpSp>
        <p:nvGrpSpPr>
          <p:cNvPr id="17" name="Group 17"/>
          <p:cNvGrpSpPr/>
          <p:nvPr/>
        </p:nvGrpSpPr>
        <p:grpSpPr>
          <a:xfrm>
            <a:off x="2456014" y="7930490"/>
            <a:ext cx="821282" cy="82128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B0A0A"/>
            </a:solidFill>
          </p:spPr>
          <p:txBody>
            <a:bodyPr/>
            <a:lstStyle/>
            <a:p>
              <a:endParaRPr lang="en-IN"/>
            </a:p>
          </p:txBody>
        </p:sp>
        <p:sp>
          <p:nvSpPr>
            <p:cNvPr id="19" name="TextBox 19"/>
            <p:cNvSpPr txBox="1"/>
            <p:nvPr/>
          </p:nvSpPr>
          <p:spPr>
            <a:xfrm>
              <a:off x="76200" y="-9525"/>
              <a:ext cx="660400" cy="746125"/>
            </a:xfrm>
            <a:prstGeom prst="rect">
              <a:avLst/>
            </a:prstGeom>
          </p:spPr>
          <p:txBody>
            <a:bodyPr lIns="50800" tIns="50800" rIns="50800" bIns="50800" rtlCol="0" anchor="ctr"/>
            <a:lstStyle/>
            <a:p>
              <a:pPr algn="ctr">
                <a:lnSpc>
                  <a:spcPts val="2239"/>
                </a:lnSpc>
              </a:pPr>
              <a:endParaRPr/>
            </a:p>
          </p:txBody>
        </p:sp>
      </p:grpSp>
      <p:sp>
        <p:nvSpPr>
          <p:cNvPr id="20" name="AutoShape 20"/>
          <p:cNvSpPr/>
          <p:nvPr/>
        </p:nvSpPr>
        <p:spPr>
          <a:xfrm flipV="1">
            <a:off x="2017117" y="3199962"/>
            <a:ext cx="0" cy="1946610"/>
          </a:xfrm>
          <a:prstGeom prst="line">
            <a:avLst/>
          </a:prstGeom>
          <a:ln w="19050" cap="rnd">
            <a:solidFill>
              <a:srgbClr val="CDD4D8"/>
            </a:solidFill>
            <a:prstDash val="solid"/>
            <a:headEnd type="oval" w="lg" len="lg"/>
            <a:tailEnd type="oval" w="lg" len="lg"/>
          </a:ln>
        </p:spPr>
        <p:txBody>
          <a:bodyPr/>
          <a:lstStyle/>
          <a:p>
            <a:endParaRPr lang="en-IN"/>
          </a:p>
        </p:txBody>
      </p:sp>
      <p:sp>
        <p:nvSpPr>
          <p:cNvPr id="21" name="AutoShape 21"/>
          <p:cNvSpPr/>
          <p:nvPr/>
        </p:nvSpPr>
        <p:spPr>
          <a:xfrm flipV="1">
            <a:off x="2017117" y="4400291"/>
            <a:ext cx="0" cy="2217417"/>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22" name="AutoShape 22"/>
          <p:cNvSpPr/>
          <p:nvPr/>
        </p:nvSpPr>
        <p:spPr>
          <a:xfrm flipH="1" flipV="1">
            <a:off x="2017117" y="6553810"/>
            <a:ext cx="0" cy="1927894"/>
          </a:xfrm>
          <a:prstGeom prst="line">
            <a:avLst/>
          </a:prstGeom>
          <a:ln w="19050" cap="rnd">
            <a:solidFill>
              <a:srgbClr val="CDD4D8"/>
            </a:solidFill>
            <a:prstDash val="solid"/>
            <a:headEnd type="oval" w="lg" len="lg"/>
            <a:tailEnd type="none" w="sm" len="sm"/>
          </a:ln>
        </p:spPr>
        <p:txBody>
          <a:bodyPr/>
          <a:lstStyle/>
          <a:p>
            <a:endParaRPr lang="en-IN"/>
          </a:p>
        </p:txBody>
      </p:sp>
      <p:sp>
        <p:nvSpPr>
          <p:cNvPr id="23" name="Freeform 23"/>
          <p:cNvSpPr/>
          <p:nvPr/>
        </p:nvSpPr>
        <p:spPr>
          <a:xfrm>
            <a:off x="-520501" y="8819984"/>
            <a:ext cx="2537618" cy="876632"/>
          </a:xfrm>
          <a:custGeom>
            <a:avLst/>
            <a:gdLst/>
            <a:ahLst/>
            <a:cxnLst/>
            <a:rect l="l" t="t" r="r" b="b"/>
            <a:pathLst>
              <a:path w="2537618" h="876632">
                <a:moveTo>
                  <a:pt x="0" y="0"/>
                </a:moveTo>
                <a:lnTo>
                  <a:pt x="2537618" y="0"/>
                </a:lnTo>
                <a:lnTo>
                  <a:pt x="2537618" y="876632"/>
                </a:lnTo>
                <a:lnTo>
                  <a:pt x="0" y="876632"/>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24" name="Group 24"/>
          <p:cNvGrpSpPr/>
          <p:nvPr/>
        </p:nvGrpSpPr>
        <p:grpSpPr>
          <a:xfrm rot="549406">
            <a:off x="-1058493" y="-1776726"/>
            <a:ext cx="2590371" cy="13348015"/>
            <a:chOff x="0" y="0"/>
            <a:chExt cx="682238" cy="3515526"/>
          </a:xfrm>
        </p:grpSpPr>
        <p:sp>
          <p:nvSpPr>
            <p:cNvPr id="25" name="Freeform 25"/>
            <p:cNvSpPr/>
            <p:nvPr/>
          </p:nvSpPr>
          <p:spPr>
            <a:xfrm>
              <a:off x="0" y="0"/>
              <a:ext cx="682238" cy="3515527"/>
            </a:xfrm>
            <a:custGeom>
              <a:avLst/>
              <a:gdLst/>
              <a:ahLst/>
              <a:cxnLst/>
              <a:rect l="l" t="t" r="r" b="b"/>
              <a:pathLst>
                <a:path w="682238" h="3515527">
                  <a:moveTo>
                    <a:pt x="0" y="0"/>
                  </a:moveTo>
                  <a:lnTo>
                    <a:pt x="682238" y="0"/>
                  </a:lnTo>
                  <a:lnTo>
                    <a:pt x="682238" y="3515527"/>
                  </a:lnTo>
                  <a:lnTo>
                    <a:pt x="0" y="3515527"/>
                  </a:lnTo>
                  <a:close/>
                </a:path>
              </a:pathLst>
            </a:custGeom>
            <a:solidFill>
              <a:srgbClr val="112041">
                <a:alpha val="76863"/>
              </a:srgbClr>
            </a:solidFill>
          </p:spPr>
          <p:txBody>
            <a:bodyPr/>
            <a:lstStyle/>
            <a:p>
              <a:endParaRPr lang="en-IN"/>
            </a:p>
          </p:txBody>
        </p:sp>
        <p:sp>
          <p:nvSpPr>
            <p:cNvPr id="26" name="TextBox 26"/>
            <p:cNvSpPr txBox="1"/>
            <p:nvPr/>
          </p:nvSpPr>
          <p:spPr>
            <a:xfrm>
              <a:off x="0" y="-85725"/>
              <a:ext cx="682238" cy="3601251"/>
            </a:xfrm>
            <a:prstGeom prst="rect">
              <a:avLst/>
            </a:prstGeom>
          </p:spPr>
          <p:txBody>
            <a:bodyPr lIns="50800" tIns="50800" rIns="50800" bIns="50800" rtlCol="0" anchor="ctr"/>
            <a:lstStyle/>
            <a:p>
              <a:pPr algn="ctr">
                <a:lnSpc>
                  <a:spcPts val="2239"/>
                </a:lnSpc>
              </a:pPr>
              <a:endParaRPr/>
            </a:p>
          </p:txBody>
        </p:sp>
      </p:grpSp>
      <p:grpSp>
        <p:nvGrpSpPr>
          <p:cNvPr id="27" name="Group 27"/>
          <p:cNvGrpSpPr/>
          <p:nvPr/>
        </p:nvGrpSpPr>
        <p:grpSpPr>
          <a:xfrm rot="549406">
            <a:off x="18061573" y="3669830"/>
            <a:ext cx="1789592" cy="7003752"/>
            <a:chOff x="0" y="0"/>
            <a:chExt cx="471333" cy="1844610"/>
          </a:xfrm>
        </p:grpSpPr>
        <p:sp>
          <p:nvSpPr>
            <p:cNvPr id="28" name="Freeform 28"/>
            <p:cNvSpPr/>
            <p:nvPr/>
          </p:nvSpPr>
          <p:spPr>
            <a:xfrm>
              <a:off x="0" y="0"/>
              <a:ext cx="471333" cy="1844610"/>
            </a:xfrm>
            <a:custGeom>
              <a:avLst/>
              <a:gdLst/>
              <a:ahLst/>
              <a:cxnLst/>
              <a:rect l="l" t="t" r="r" b="b"/>
              <a:pathLst>
                <a:path w="471333" h="1844610">
                  <a:moveTo>
                    <a:pt x="0" y="0"/>
                  </a:moveTo>
                  <a:lnTo>
                    <a:pt x="471333" y="0"/>
                  </a:lnTo>
                  <a:lnTo>
                    <a:pt x="471333" y="1844610"/>
                  </a:lnTo>
                  <a:lnTo>
                    <a:pt x="0" y="1844610"/>
                  </a:lnTo>
                  <a:close/>
                </a:path>
              </a:pathLst>
            </a:custGeom>
            <a:solidFill>
              <a:srgbClr val="112041">
                <a:alpha val="76863"/>
              </a:srgbClr>
            </a:solidFill>
          </p:spPr>
          <p:txBody>
            <a:bodyPr/>
            <a:lstStyle/>
            <a:p>
              <a:endParaRPr lang="en-IN"/>
            </a:p>
          </p:txBody>
        </p:sp>
        <p:sp>
          <p:nvSpPr>
            <p:cNvPr id="29" name="TextBox 29"/>
            <p:cNvSpPr txBox="1"/>
            <p:nvPr/>
          </p:nvSpPr>
          <p:spPr>
            <a:xfrm>
              <a:off x="0" y="-85725"/>
              <a:ext cx="471333" cy="1930335"/>
            </a:xfrm>
            <a:prstGeom prst="rect">
              <a:avLst/>
            </a:prstGeom>
          </p:spPr>
          <p:txBody>
            <a:bodyPr lIns="50800" tIns="50800" rIns="50800" bIns="50800" rtlCol="0" anchor="ctr"/>
            <a:lstStyle/>
            <a:p>
              <a:pPr algn="ctr">
                <a:lnSpc>
                  <a:spcPts val="2239"/>
                </a:lnSpc>
              </a:pPr>
              <a:endParaRPr/>
            </a:p>
          </p:txBody>
        </p:sp>
      </p:grpSp>
      <p:sp>
        <p:nvSpPr>
          <p:cNvPr id="30" name="Freeform 30"/>
          <p:cNvSpPr/>
          <p:nvPr/>
        </p:nvSpPr>
        <p:spPr>
          <a:xfrm>
            <a:off x="2625716" y="3369929"/>
            <a:ext cx="481879" cy="386145"/>
          </a:xfrm>
          <a:custGeom>
            <a:avLst/>
            <a:gdLst/>
            <a:ahLst/>
            <a:cxnLst/>
            <a:rect l="l" t="t" r="r" b="b"/>
            <a:pathLst>
              <a:path w="481879" h="386145">
                <a:moveTo>
                  <a:pt x="0" y="0"/>
                </a:moveTo>
                <a:lnTo>
                  <a:pt x="481878" y="0"/>
                </a:lnTo>
                <a:lnTo>
                  <a:pt x="481878" y="386146"/>
                </a:lnTo>
                <a:lnTo>
                  <a:pt x="0" y="3861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1" name="Freeform 31"/>
          <p:cNvSpPr/>
          <p:nvPr/>
        </p:nvSpPr>
        <p:spPr>
          <a:xfrm>
            <a:off x="2629541" y="4897282"/>
            <a:ext cx="481879" cy="386145"/>
          </a:xfrm>
          <a:custGeom>
            <a:avLst/>
            <a:gdLst/>
            <a:ahLst/>
            <a:cxnLst/>
            <a:rect l="l" t="t" r="r" b="b"/>
            <a:pathLst>
              <a:path w="481879" h="386145">
                <a:moveTo>
                  <a:pt x="0" y="0"/>
                </a:moveTo>
                <a:lnTo>
                  <a:pt x="481879" y="0"/>
                </a:lnTo>
                <a:lnTo>
                  <a:pt x="481879" y="386146"/>
                </a:lnTo>
                <a:lnTo>
                  <a:pt x="0" y="3861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2" name="Freeform 32"/>
          <p:cNvSpPr/>
          <p:nvPr/>
        </p:nvSpPr>
        <p:spPr>
          <a:xfrm>
            <a:off x="2629541" y="6424921"/>
            <a:ext cx="481879" cy="386145"/>
          </a:xfrm>
          <a:custGeom>
            <a:avLst/>
            <a:gdLst/>
            <a:ahLst/>
            <a:cxnLst/>
            <a:rect l="l" t="t" r="r" b="b"/>
            <a:pathLst>
              <a:path w="481879" h="386145">
                <a:moveTo>
                  <a:pt x="0" y="0"/>
                </a:moveTo>
                <a:lnTo>
                  <a:pt x="481879" y="0"/>
                </a:lnTo>
                <a:lnTo>
                  <a:pt x="481879" y="386146"/>
                </a:lnTo>
                <a:lnTo>
                  <a:pt x="0" y="3861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3" name="Freeform 33"/>
          <p:cNvSpPr/>
          <p:nvPr/>
        </p:nvSpPr>
        <p:spPr>
          <a:xfrm>
            <a:off x="2606602" y="8088283"/>
            <a:ext cx="481879" cy="386145"/>
          </a:xfrm>
          <a:custGeom>
            <a:avLst/>
            <a:gdLst/>
            <a:ahLst/>
            <a:cxnLst/>
            <a:rect l="l" t="t" r="r" b="b"/>
            <a:pathLst>
              <a:path w="481879" h="386145">
                <a:moveTo>
                  <a:pt x="0" y="0"/>
                </a:moveTo>
                <a:lnTo>
                  <a:pt x="481878" y="0"/>
                </a:lnTo>
                <a:lnTo>
                  <a:pt x="481878" y="386145"/>
                </a:lnTo>
                <a:lnTo>
                  <a:pt x="0" y="38614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4" name="Freeform 34"/>
          <p:cNvSpPr/>
          <p:nvPr/>
        </p:nvSpPr>
        <p:spPr>
          <a:xfrm>
            <a:off x="16595791" y="492019"/>
            <a:ext cx="2174549" cy="751208"/>
          </a:xfrm>
          <a:custGeom>
            <a:avLst/>
            <a:gdLst/>
            <a:ahLst/>
            <a:cxnLst/>
            <a:rect l="l" t="t" r="r" b="b"/>
            <a:pathLst>
              <a:path w="2174549" h="751208">
                <a:moveTo>
                  <a:pt x="0" y="0"/>
                </a:moveTo>
                <a:lnTo>
                  <a:pt x="2174549" y="0"/>
                </a:lnTo>
                <a:lnTo>
                  <a:pt x="2174549" y="751208"/>
                </a:lnTo>
                <a:lnTo>
                  <a:pt x="0" y="751208"/>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5" name="Freeform 35"/>
          <p:cNvSpPr/>
          <p:nvPr/>
        </p:nvSpPr>
        <p:spPr>
          <a:xfrm>
            <a:off x="17113404" y="1417317"/>
            <a:ext cx="804589" cy="804589"/>
          </a:xfrm>
          <a:custGeom>
            <a:avLst/>
            <a:gdLst/>
            <a:ahLst/>
            <a:cxnLst/>
            <a:rect l="l" t="t" r="r" b="b"/>
            <a:pathLst>
              <a:path w="804589" h="804589">
                <a:moveTo>
                  <a:pt x="0" y="0"/>
                </a:moveTo>
                <a:lnTo>
                  <a:pt x="804589" y="0"/>
                </a:lnTo>
                <a:lnTo>
                  <a:pt x="804589" y="804588"/>
                </a:lnTo>
                <a:lnTo>
                  <a:pt x="0" y="8045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8" name="TextBox 38"/>
          <p:cNvSpPr txBox="1"/>
          <p:nvPr/>
        </p:nvSpPr>
        <p:spPr>
          <a:xfrm>
            <a:off x="3474721" y="4670090"/>
            <a:ext cx="6565517" cy="1292662"/>
          </a:xfrm>
          <a:prstGeom prst="rect">
            <a:avLst/>
          </a:prstGeom>
        </p:spPr>
        <p:txBody>
          <a:bodyPr wrap="square" lIns="0" tIns="0" rIns="0" bIns="0" rtlCol="0" anchor="t">
            <a:spAutoFit/>
          </a:bodyPr>
          <a:lstStyle/>
          <a:p>
            <a:r>
              <a:rPr lang="en-IN" sz="2800" b="1" dirty="0"/>
              <a:t>No manual configuration</a:t>
            </a:r>
          </a:p>
          <a:p>
            <a:r>
              <a:rPr lang="en-IN" sz="2800" dirty="0"/>
              <a:t>Models are automatically selected per medicine.</a:t>
            </a:r>
            <a:endParaRPr lang="en-US" sz="2800" dirty="0">
              <a:sym typeface="Poppins Semi-Bold"/>
            </a:endParaRPr>
          </a:p>
        </p:txBody>
      </p:sp>
      <p:sp>
        <p:nvSpPr>
          <p:cNvPr id="39" name="TextBox 39"/>
          <p:cNvSpPr txBox="1"/>
          <p:nvPr/>
        </p:nvSpPr>
        <p:spPr>
          <a:xfrm>
            <a:off x="3497211" y="6063710"/>
            <a:ext cx="5012518" cy="1292662"/>
          </a:xfrm>
          <a:prstGeom prst="rect">
            <a:avLst/>
          </a:prstGeom>
        </p:spPr>
        <p:txBody>
          <a:bodyPr wrap="square" lIns="0" tIns="0" rIns="0" bIns="0" rtlCol="0" anchor="t">
            <a:spAutoFit/>
          </a:bodyPr>
          <a:lstStyle/>
          <a:p>
            <a:r>
              <a:rPr lang="en-IN" sz="2800" b="1" dirty="0"/>
              <a:t>Explainable Decisions</a:t>
            </a:r>
          </a:p>
          <a:p>
            <a:r>
              <a:rPr lang="en-IN" sz="2800" dirty="0"/>
              <a:t>Every recommendation comes with a clear reason.</a:t>
            </a:r>
            <a:endParaRPr lang="en-US" sz="2800" dirty="0">
              <a:sym typeface="Poppins Semi-Bold"/>
            </a:endParaRPr>
          </a:p>
        </p:txBody>
      </p:sp>
      <p:sp>
        <p:nvSpPr>
          <p:cNvPr id="40" name="TextBox 40"/>
          <p:cNvSpPr txBox="1"/>
          <p:nvPr/>
        </p:nvSpPr>
        <p:spPr>
          <a:xfrm>
            <a:off x="3547387" y="7767419"/>
            <a:ext cx="5895010" cy="1292662"/>
          </a:xfrm>
          <a:prstGeom prst="rect">
            <a:avLst/>
          </a:prstGeom>
        </p:spPr>
        <p:txBody>
          <a:bodyPr wrap="square" lIns="0" tIns="0" rIns="0" bIns="0" rtlCol="0" anchor="t">
            <a:spAutoFit/>
          </a:bodyPr>
          <a:lstStyle/>
          <a:p>
            <a:r>
              <a:rPr lang="en-IN" sz="2800" b="1" dirty="0"/>
              <a:t>Risk-Based Prioritization</a:t>
            </a:r>
          </a:p>
          <a:p>
            <a:r>
              <a:rPr lang="en-IN" sz="2800" dirty="0"/>
              <a:t>Focuses attention on the decisions with the highest monetary impact.</a:t>
            </a:r>
            <a:endParaRPr lang="en-US" sz="2800" dirty="0">
              <a:sym typeface="Poppins Semi-Bold"/>
            </a:endParaRPr>
          </a:p>
        </p:txBody>
      </p:sp>
      <p:sp>
        <p:nvSpPr>
          <p:cNvPr id="41" name="TextBox 41"/>
          <p:cNvSpPr txBox="1"/>
          <p:nvPr/>
        </p:nvSpPr>
        <p:spPr>
          <a:xfrm>
            <a:off x="4057722" y="947720"/>
            <a:ext cx="6658648" cy="961802"/>
          </a:xfrm>
          <a:prstGeom prst="rect">
            <a:avLst/>
          </a:prstGeom>
        </p:spPr>
        <p:txBody>
          <a:bodyPr lIns="0" tIns="0" rIns="0" bIns="0" rtlCol="0" anchor="t">
            <a:spAutoFit/>
          </a:bodyPr>
          <a:lstStyle/>
          <a:p>
            <a:pPr algn="l">
              <a:lnSpc>
                <a:spcPts val="7480"/>
              </a:lnSpc>
            </a:pPr>
            <a:r>
              <a:rPr lang="en-US" sz="6800" b="1" dirty="0">
                <a:solidFill>
                  <a:srgbClr val="0B0A0A"/>
                </a:solidFill>
                <a:latin typeface="Agrandir Bold"/>
                <a:ea typeface="Agrandir Bold"/>
                <a:cs typeface="Agrandir Bold"/>
                <a:sym typeface="Agrandir Bold"/>
              </a:rPr>
              <a:t>USP</a:t>
            </a:r>
          </a:p>
        </p:txBody>
      </p:sp>
      <p:sp>
        <p:nvSpPr>
          <p:cNvPr id="46" name="Freeform 46"/>
          <p:cNvSpPr/>
          <p:nvPr/>
        </p:nvSpPr>
        <p:spPr>
          <a:xfrm rot="-5400000">
            <a:off x="6659356" y="-254044"/>
            <a:ext cx="447626" cy="765214"/>
          </a:xfrm>
          <a:custGeom>
            <a:avLst/>
            <a:gdLst/>
            <a:ahLst/>
            <a:cxnLst/>
            <a:rect l="l" t="t" r="r" b="b"/>
            <a:pathLst>
              <a:path w="447626" h="765214">
                <a:moveTo>
                  <a:pt x="0" y="0"/>
                </a:moveTo>
                <a:lnTo>
                  <a:pt x="447626" y="0"/>
                </a:lnTo>
                <a:lnTo>
                  <a:pt x="447626" y="765214"/>
                </a:lnTo>
                <a:lnTo>
                  <a:pt x="0" y="765214"/>
                </a:lnTo>
                <a:lnTo>
                  <a:pt x="0" y="0"/>
                </a:lnTo>
                <a:close/>
              </a:path>
            </a:pathLst>
          </a:custGeom>
          <a:blipFill>
            <a:blip>
              <a:extLst>
                <a:ext uri="{96DAC541-7B7A-43D3-8B79-37D633B846F1}">
                  <asvg:svgBlip xmlns:asvg="http://schemas.microsoft.com/office/drawing/2016/SVG/main" r:embed="rId5"/>
                </a:ext>
              </a:extLst>
            </a:blip>
            <a:stretch>
              <a:fillRect t="-54452"/>
            </a:stretch>
          </a:blipFill>
        </p:spPr>
        <p:txBody>
          <a:bodyPr/>
          <a:lstStyle/>
          <a:p>
            <a:endParaRPr lang="en-IN"/>
          </a:p>
        </p:txBody>
      </p:sp>
      <p:sp>
        <p:nvSpPr>
          <p:cNvPr id="47" name="Freeform 47"/>
          <p:cNvSpPr/>
          <p:nvPr/>
        </p:nvSpPr>
        <p:spPr>
          <a:xfrm rot="-5400000">
            <a:off x="9155950" y="9837718"/>
            <a:ext cx="447626" cy="765214"/>
          </a:xfrm>
          <a:custGeom>
            <a:avLst/>
            <a:gdLst/>
            <a:ahLst/>
            <a:cxnLst/>
            <a:rect l="l" t="t" r="r" b="b"/>
            <a:pathLst>
              <a:path w="447626" h="765214">
                <a:moveTo>
                  <a:pt x="0" y="0"/>
                </a:moveTo>
                <a:lnTo>
                  <a:pt x="447625" y="0"/>
                </a:lnTo>
                <a:lnTo>
                  <a:pt x="447625" y="765214"/>
                </a:lnTo>
                <a:lnTo>
                  <a:pt x="0" y="765214"/>
                </a:lnTo>
                <a:lnTo>
                  <a:pt x="0" y="0"/>
                </a:lnTo>
                <a:close/>
              </a:path>
            </a:pathLst>
          </a:custGeom>
          <a:blipFill>
            <a:blip>
              <a:extLst>
                <a:ext uri="{96DAC541-7B7A-43D3-8B79-37D633B846F1}">
                  <asvg:svgBlip xmlns:asvg="http://schemas.microsoft.com/office/drawing/2016/SVG/main" r:embed="rId5"/>
                </a:ext>
              </a:extLst>
            </a:blip>
            <a:stretch>
              <a:fillRect t="-54452"/>
            </a:stretch>
          </a:blipFill>
        </p:spPr>
        <p:txBody>
          <a:bodyPr/>
          <a:lstStyle/>
          <a:p>
            <a:endParaRPr lang="en-IN"/>
          </a:p>
        </p:txBody>
      </p:sp>
      <p:sp>
        <p:nvSpPr>
          <p:cNvPr id="50" name="TextBox 49">
            <a:extLst>
              <a:ext uri="{FF2B5EF4-FFF2-40B4-BE49-F238E27FC236}">
                <a16:creationId xmlns:a16="http://schemas.microsoft.com/office/drawing/2014/main" id="{BC0178A5-0B86-1CBB-9E70-072C8108EDA1}"/>
              </a:ext>
            </a:extLst>
          </p:cNvPr>
          <p:cNvSpPr txBox="1"/>
          <p:nvPr/>
        </p:nvSpPr>
        <p:spPr>
          <a:xfrm>
            <a:off x="3500269" y="2906540"/>
            <a:ext cx="5916929" cy="1384995"/>
          </a:xfrm>
          <a:prstGeom prst="rect">
            <a:avLst/>
          </a:prstGeom>
          <a:noFill/>
        </p:spPr>
        <p:txBody>
          <a:bodyPr wrap="square" rtlCol="0">
            <a:spAutoFit/>
          </a:bodyPr>
          <a:lstStyle/>
          <a:p>
            <a:r>
              <a:rPr lang="en-IN" sz="2800" b="1" dirty="0"/>
              <a:t>Uncertainty-Aware Forecasting </a:t>
            </a:r>
          </a:p>
          <a:p>
            <a:r>
              <a:rPr lang="en-IN" sz="2800" dirty="0"/>
              <a:t>Demand is represented as a range, not a single value.</a:t>
            </a:r>
            <a:endParaRPr lang="en-IN" sz="2800" dirty="0">
              <a:solidFill>
                <a:srgbClr val="0B0A0A"/>
              </a:solidFill>
              <a:latin typeface="Poppins Semi-Bold"/>
              <a:cs typeface="Poppins Semi-Bold"/>
            </a:endParaRPr>
          </a:p>
        </p:txBody>
      </p:sp>
      <p:sp>
        <p:nvSpPr>
          <p:cNvPr id="52" name="TextBox 41">
            <a:extLst>
              <a:ext uri="{FF2B5EF4-FFF2-40B4-BE49-F238E27FC236}">
                <a16:creationId xmlns:a16="http://schemas.microsoft.com/office/drawing/2014/main" id="{E2233BC6-C83A-7FE0-6DF1-EBE52B58937B}"/>
              </a:ext>
            </a:extLst>
          </p:cNvPr>
          <p:cNvSpPr txBox="1"/>
          <p:nvPr/>
        </p:nvSpPr>
        <p:spPr>
          <a:xfrm>
            <a:off x="10716370" y="907178"/>
            <a:ext cx="6658648" cy="961802"/>
          </a:xfrm>
          <a:prstGeom prst="rect">
            <a:avLst/>
          </a:prstGeom>
        </p:spPr>
        <p:txBody>
          <a:bodyPr lIns="0" tIns="0" rIns="0" bIns="0" rtlCol="0" anchor="t">
            <a:spAutoFit/>
          </a:bodyPr>
          <a:lstStyle/>
          <a:p>
            <a:pPr algn="l">
              <a:lnSpc>
                <a:spcPts val="7480"/>
              </a:lnSpc>
            </a:pPr>
            <a:r>
              <a:rPr lang="en-US" sz="6800" b="1" dirty="0">
                <a:solidFill>
                  <a:srgbClr val="0B0A0A"/>
                </a:solidFill>
                <a:latin typeface="Agrandir Bold"/>
                <a:ea typeface="Agrandir Bold"/>
                <a:cs typeface="Agrandir Bold"/>
                <a:sym typeface="Agrandir Bold"/>
              </a:rPr>
              <a:t>Features</a:t>
            </a:r>
          </a:p>
        </p:txBody>
      </p:sp>
      <p:sp>
        <p:nvSpPr>
          <p:cNvPr id="53" name="TextBox 52">
            <a:extLst>
              <a:ext uri="{FF2B5EF4-FFF2-40B4-BE49-F238E27FC236}">
                <a16:creationId xmlns:a16="http://schemas.microsoft.com/office/drawing/2014/main" id="{06F4EE95-DA09-F62F-4879-4FE58A13834C}"/>
              </a:ext>
            </a:extLst>
          </p:cNvPr>
          <p:cNvSpPr txBox="1"/>
          <p:nvPr/>
        </p:nvSpPr>
        <p:spPr>
          <a:xfrm>
            <a:off x="10044378" y="2221906"/>
            <a:ext cx="8001000" cy="7909858"/>
          </a:xfrm>
          <a:prstGeom prst="rect">
            <a:avLst/>
          </a:prstGeom>
          <a:noFill/>
        </p:spPr>
        <p:txBody>
          <a:bodyPr wrap="square" rtlCol="0">
            <a:spAutoFit/>
          </a:bodyPr>
          <a:lstStyle/>
          <a:p>
            <a:pPr marL="514350" indent="-514350">
              <a:buFont typeface="+mj-lt"/>
              <a:buAutoNum type="arabicPeriod"/>
            </a:pPr>
            <a:r>
              <a:rPr lang="en-IN" sz="3200" b="1" dirty="0"/>
              <a:t>AI Demand Forecasting :</a:t>
            </a:r>
          </a:p>
          <a:p>
            <a:pPr lvl="1"/>
            <a:r>
              <a:rPr lang="en-IN" sz="3200" dirty="0"/>
              <a:t>Forecasts medicine sales across daily, weekly and monthly periods. </a:t>
            </a:r>
          </a:p>
          <a:p>
            <a:pPr marL="514350" indent="-514350">
              <a:buFont typeface="+mj-lt"/>
              <a:buAutoNum type="arabicPeriod"/>
            </a:pPr>
            <a:endParaRPr lang="en-IN" sz="3200" dirty="0"/>
          </a:p>
          <a:p>
            <a:pPr marL="514350" indent="-514350">
              <a:buFont typeface="+mj-lt"/>
              <a:buAutoNum type="arabicPeriod"/>
            </a:pPr>
            <a:r>
              <a:rPr lang="en-IN" sz="3200" b="1" dirty="0"/>
              <a:t>Smart Order Recommendation :</a:t>
            </a:r>
          </a:p>
          <a:p>
            <a:pPr lvl="1"/>
            <a:r>
              <a:rPr lang="en-IN" sz="3200" dirty="0"/>
              <a:t>Calculates how much to order based on demand, stock and costs. </a:t>
            </a:r>
          </a:p>
          <a:p>
            <a:pPr marL="514350" indent="-514350">
              <a:buFont typeface="+mj-lt"/>
              <a:buAutoNum type="arabicPeriod"/>
            </a:pPr>
            <a:endParaRPr lang="en-IN" sz="3200" dirty="0"/>
          </a:p>
          <a:p>
            <a:r>
              <a:rPr lang="en-IN" sz="3200" b="1" dirty="0"/>
              <a:t>3.  Inventory Risk Detection:</a:t>
            </a:r>
          </a:p>
          <a:p>
            <a:pPr lvl="1"/>
            <a:r>
              <a:rPr lang="en-IN" sz="3200" dirty="0"/>
              <a:t>Identifies stockout, overstock and demand anomaly risks.</a:t>
            </a:r>
          </a:p>
          <a:p>
            <a:endParaRPr lang="en-IN" sz="3200" dirty="0"/>
          </a:p>
          <a:p>
            <a:r>
              <a:rPr lang="en-IN" sz="3200" b="1" dirty="0"/>
              <a:t>4.  Forecast Explainability :</a:t>
            </a:r>
          </a:p>
          <a:p>
            <a:pPr lvl="1"/>
            <a:r>
              <a:rPr lang="en-IN" sz="3200" dirty="0"/>
              <a:t>Displays the factors influencing predictions and their reliability. </a:t>
            </a:r>
          </a:p>
          <a:p>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3DFB7-790F-3999-6F9B-251F6691D95E}"/>
            </a:ext>
          </a:extLst>
        </p:cNvPr>
        <p:cNvGrpSpPr/>
        <p:nvPr/>
      </p:nvGrpSpPr>
      <p:grpSpPr>
        <a:xfrm>
          <a:off x="0" y="0"/>
          <a:ext cx="0" cy="0"/>
          <a:chOff x="0" y="0"/>
          <a:chExt cx="0" cy="0"/>
        </a:xfrm>
      </p:grpSpPr>
      <p:sp>
        <p:nvSpPr>
          <p:cNvPr id="14" name="Freeform 14">
            <a:extLst>
              <a:ext uri="{FF2B5EF4-FFF2-40B4-BE49-F238E27FC236}">
                <a16:creationId xmlns:a16="http://schemas.microsoft.com/office/drawing/2014/main" id="{08DE11EA-028A-0975-599F-706E425E07A1}"/>
              </a:ext>
            </a:extLst>
          </p:cNvPr>
          <p:cNvSpPr/>
          <p:nvPr/>
        </p:nvSpPr>
        <p:spPr>
          <a:xfrm>
            <a:off x="-1259882" y="530188"/>
            <a:ext cx="2001325" cy="498512"/>
          </a:xfrm>
          <a:custGeom>
            <a:avLst/>
            <a:gdLst/>
            <a:ahLst/>
            <a:cxnLst/>
            <a:rect l="l" t="t" r="r" b="b"/>
            <a:pathLst>
              <a:path w="2001325" h="498512">
                <a:moveTo>
                  <a:pt x="0" y="0"/>
                </a:moveTo>
                <a:lnTo>
                  <a:pt x="2001325" y="0"/>
                </a:lnTo>
                <a:lnTo>
                  <a:pt x="2001325" y="498512"/>
                </a:lnTo>
                <a:lnTo>
                  <a:pt x="0" y="49851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5" name="Freeform 15">
            <a:extLst>
              <a:ext uri="{FF2B5EF4-FFF2-40B4-BE49-F238E27FC236}">
                <a16:creationId xmlns:a16="http://schemas.microsoft.com/office/drawing/2014/main" id="{66BEB812-8687-0E23-D163-06165A7209AB}"/>
              </a:ext>
            </a:extLst>
          </p:cNvPr>
          <p:cNvSpPr/>
          <p:nvPr/>
        </p:nvSpPr>
        <p:spPr>
          <a:xfrm>
            <a:off x="16952993" y="722393"/>
            <a:ext cx="612614" cy="612614"/>
          </a:xfrm>
          <a:custGeom>
            <a:avLst/>
            <a:gdLst/>
            <a:ahLst/>
            <a:cxnLst/>
            <a:rect l="l" t="t" r="r" b="b"/>
            <a:pathLst>
              <a:path w="612614" h="612614">
                <a:moveTo>
                  <a:pt x="0" y="0"/>
                </a:moveTo>
                <a:lnTo>
                  <a:pt x="612614" y="0"/>
                </a:lnTo>
                <a:lnTo>
                  <a:pt x="612614" y="612614"/>
                </a:lnTo>
                <a:lnTo>
                  <a:pt x="0" y="61261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6" name="Freeform 26">
            <a:extLst>
              <a:ext uri="{FF2B5EF4-FFF2-40B4-BE49-F238E27FC236}">
                <a16:creationId xmlns:a16="http://schemas.microsoft.com/office/drawing/2014/main" id="{1275EEE3-9DC6-B1D3-2CD5-2BDAF0F0EE21}"/>
              </a:ext>
            </a:extLst>
          </p:cNvPr>
          <p:cNvSpPr/>
          <p:nvPr/>
        </p:nvSpPr>
        <p:spPr>
          <a:xfrm>
            <a:off x="-148356" y="9341735"/>
            <a:ext cx="437580" cy="437580"/>
          </a:xfrm>
          <a:custGeom>
            <a:avLst/>
            <a:gdLst/>
            <a:ahLst/>
            <a:cxnLst/>
            <a:rect l="l" t="t" r="r" b="b"/>
            <a:pathLst>
              <a:path w="437580" h="437580">
                <a:moveTo>
                  <a:pt x="0" y="0"/>
                </a:moveTo>
                <a:lnTo>
                  <a:pt x="437580" y="0"/>
                </a:lnTo>
                <a:lnTo>
                  <a:pt x="437580" y="437580"/>
                </a:lnTo>
                <a:lnTo>
                  <a:pt x="0" y="43758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pic>
        <p:nvPicPr>
          <p:cNvPr id="30" name="Picture 29">
            <a:extLst>
              <a:ext uri="{FF2B5EF4-FFF2-40B4-BE49-F238E27FC236}">
                <a16:creationId xmlns:a16="http://schemas.microsoft.com/office/drawing/2014/main" id="{6595E89F-D7AC-8B51-7DCB-02637B5D4D8D}"/>
              </a:ext>
            </a:extLst>
          </p:cNvPr>
          <p:cNvPicPr>
            <a:picLocks noChangeAspect="1"/>
          </p:cNvPicPr>
          <p:nvPr/>
        </p:nvPicPr>
        <p:blipFill>
          <a:blip r:embed="rId5"/>
          <a:srcRect t="10848"/>
          <a:stretch>
            <a:fillRect/>
          </a:stretch>
        </p:blipFill>
        <p:spPr>
          <a:xfrm>
            <a:off x="1475475" y="1335007"/>
            <a:ext cx="14777093" cy="8083138"/>
          </a:xfrm>
          <a:prstGeom prst="rect">
            <a:avLst/>
          </a:prstGeom>
        </p:spPr>
      </p:pic>
      <p:grpSp>
        <p:nvGrpSpPr>
          <p:cNvPr id="31" name="Group 3">
            <a:extLst>
              <a:ext uri="{FF2B5EF4-FFF2-40B4-BE49-F238E27FC236}">
                <a16:creationId xmlns:a16="http://schemas.microsoft.com/office/drawing/2014/main" id="{E1F2E4A3-9FE9-1E4B-17D6-EDE268797C70}"/>
              </a:ext>
            </a:extLst>
          </p:cNvPr>
          <p:cNvGrpSpPr/>
          <p:nvPr/>
        </p:nvGrpSpPr>
        <p:grpSpPr>
          <a:xfrm rot="-4945303">
            <a:off x="4746032" y="1453115"/>
            <a:ext cx="3313659" cy="18781158"/>
            <a:chOff x="0" y="0"/>
            <a:chExt cx="872733" cy="4946478"/>
          </a:xfrm>
        </p:grpSpPr>
        <p:sp>
          <p:nvSpPr>
            <p:cNvPr id="32" name="Freeform 4">
              <a:extLst>
                <a:ext uri="{FF2B5EF4-FFF2-40B4-BE49-F238E27FC236}">
                  <a16:creationId xmlns:a16="http://schemas.microsoft.com/office/drawing/2014/main" id="{22DAABB8-6793-DE84-6ED1-9329DF60776C}"/>
                </a:ext>
              </a:extLst>
            </p:cNvPr>
            <p:cNvSpPr/>
            <p:nvPr/>
          </p:nvSpPr>
          <p:spPr>
            <a:xfrm>
              <a:off x="0" y="0"/>
              <a:ext cx="872733" cy="4946478"/>
            </a:xfrm>
            <a:custGeom>
              <a:avLst/>
              <a:gdLst/>
              <a:ahLst/>
              <a:cxnLst/>
              <a:rect l="l" t="t" r="r" b="b"/>
              <a:pathLst>
                <a:path w="872733" h="4946478">
                  <a:moveTo>
                    <a:pt x="0" y="0"/>
                  </a:moveTo>
                  <a:lnTo>
                    <a:pt x="872733" y="0"/>
                  </a:lnTo>
                  <a:lnTo>
                    <a:pt x="872733" y="4946478"/>
                  </a:lnTo>
                  <a:lnTo>
                    <a:pt x="0" y="4946478"/>
                  </a:lnTo>
                  <a:close/>
                </a:path>
              </a:pathLst>
            </a:custGeom>
            <a:solidFill>
              <a:srgbClr val="112041">
                <a:alpha val="91765"/>
              </a:srgbClr>
            </a:solidFill>
          </p:spPr>
          <p:txBody>
            <a:bodyPr/>
            <a:lstStyle/>
            <a:p>
              <a:endParaRPr lang="en-IN"/>
            </a:p>
          </p:txBody>
        </p:sp>
        <p:sp>
          <p:nvSpPr>
            <p:cNvPr id="33" name="TextBox 5">
              <a:extLst>
                <a:ext uri="{FF2B5EF4-FFF2-40B4-BE49-F238E27FC236}">
                  <a16:creationId xmlns:a16="http://schemas.microsoft.com/office/drawing/2014/main" id="{16834A7E-7561-A3B1-31AC-80EA71394995}"/>
                </a:ext>
              </a:extLst>
            </p:cNvPr>
            <p:cNvSpPr txBox="1"/>
            <p:nvPr/>
          </p:nvSpPr>
          <p:spPr>
            <a:xfrm>
              <a:off x="0" y="-85725"/>
              <a:ext cx="872733" cy="5032203"/>
            </a:xfrm>
            <a:prstGeom prst="rect">
              <a:avLst/>
            </a:prstGeom>
          </p:spPr>
          <p:txBody>
            <a:bodyPr lIns="50800" tIns="50800" rIns="50800" bIns="50800" rtlCol="0" anchor="ctr"/>
            <a:lstStyle/>
            <a:p>
              <a:pPr algn="ctr">
                <a:lnSpc>
                  <a:spcPts val="2239"/>
                </a:lnSpc>
              </a:pPr>
              <a:endParaRPr/>
            </a:p>
          </p:txBody>
        </p:sp>
      </p:grpSp>
      <p:sp>
        <p:nvSpPr>
          <p:cNvPr id="38" name="TextBox 37">
            <a:extLst>
              <a:ext uri="{FF2B5EF4-FFF2-40B4-BE49-F238E27FC236}">
                <a16:creationId xmlns:a16="http://schemas.microsoft.com/office/drawing/2014/main" id="{DB5EC53F-58CB-7FE8-F06F-EA584AF0600A}"/>
              </a:ext>
            </a:extLst>
          </p:cNvPr>
          <p:cNvSpPr txBox="1"/>
          <p:nvPr/>
        </p:nvSpPr>
        <p:spPr>
          <a:xfrm>
            <a:off x="1143000" y="153006"/>
            <a:ext cx="10210800" cy="1015663"/>
          </a:xfrm>
          <a:prstGeom prst="rect">
            <a:avLst/>
          </a:prstGeom>
          <a:noFill/>
        </p:spPr>
        <p:txBody>
          <a:bodyPr wrap="square">
            <a:spAutoFit/>
          </a:bodyPr>
          <a:lstStyle/>
          <a:p>
            <a:r>
              <a:rPr lang="en-US" sz="6000" b="1" dirty="0">
                <a:solidFill>
                  <a:srgbClr val="0B0A0A"/>
                </a:solidFill>
                <a:latin typeface="Agrandir Bold"/>
                <a:ea typeface="Agrandir Bold"/>
                <a:cs typeface="Agrandir Bold"/>
                <a:sym typeface="Agrandir Bold"/>
              </a:rPr>
              <a:t>System Architecture</a:t>
            </a:r>
            <a:endParaRPr lang="en-IN" sz="6000" dirty="0"/>
          </a:p>
        </p:txBody>
      </p:sp>
    </p:spTree>
    <p:extLst>
      <p:ext uri="{BB962C8B-B14F-4D97-AF65-F5344CB8AC3E}">
        <p14:creationId xmlns:p14="http://schemas.microsoft.com/office/powerpoint/2010/main" val="2046155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53654" y="6545354"/>
            <a:ext cx="4080429" cy="1409603"/>
          </a:xfrm>
          <a:custGeom>
            <a:avLst/>
            <a:gdLst/>
            <a:ahLst/>
            <a:cxnLst/>
            <a:rect l="l" t="t" r="r" b="b"/>
            <a:pathLst>
              <a:path w="4080429" h="1409603">
                <a:moveTo>
                  <a:pt x="0" y="0"/>
                </a:moveTo>
                <a:lnTo>
                  <a:pt x="4080428" y="0"/>
                </a:lnTo>
                <a:lnTo>
                  <a:pt x="4080428" y="1409602"/>
                </a:lnTo>
                <a:lnTo>
                  <a:pt x="0" y="1409602"/>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 name="Group 3"/>
          <p:cNvGrpSpPr/>
          <p:nvPr/>
        </p:nvGrpSpPr>
        <p:grpSpPr>
          <a:xfrm rot="-4945303">
            <a:off x="6422433" y="942425"/>
            <a:ext cx="3313659" cy="18781158"/>
            <a:chOff x="0" y="0"/>
            <a:chExt cx="872733" cy="4946478"/>
          </a:xfrm>
        </p:grpSpPr>
        <p:sp>
          <p:nvSpPr>
            <p:cNvPr id="4" name="Freeform 4"/>
            <p:cNvSpPr/>
            <p:nvPr/>
          </p:nvSpPr>
          <p:spPr>
            <a:xfrm>
              <a:off x="0" y="0"/>
              <a:ext cx="872733" cy="4946478"/>
            </a:xfrm>
            <a:custGeom>
              <a:avLst/>
              <a:gdLst/>
              <a:ahLst/>
              <a:cxnLst/>
              <a:rect l="l" t="t" r="r" b="b"/>
              <a:pathLst>
                <a:path w="872733" h="4946478">
                  <a:moveTo>
                    <a:pt x="0" y="0"/>
                  </a:moveTo>
                  <a:lnTo>
                    <a:pt x="872733" y="0"/>
                  </a:lnTo>
                  <a:lnTo>
                    <a:pt x="872733" y="4946478"/>
                  </a:lnTo>
                  <a:lnTo>
                    <a:pt x="0" y="4946478"/>
                  </a:lnTo>
                  <a:close/>
                </a:path>
              </a:pathLst>
            </a:custGeom>
            <a:solidFill>
              <a:srgbClr val="112041">
                <a:alpha val="91765"/>
              </a:srgbClr>
            </a:solidFill>
          </p:spPr>
          <p:txBody>
            <a:bodyPr/>
            <a:lstStyle/>
            <a:p>
              <a:endParaRPr lang="en-IN"/>
            </a:p>
          </p:txBody>
        </p:sp>
        <p:sp>
          <p:nvSpPr>
            <p:cNvPr id="5" name="TextBox 5"/>
            <p:cNvSpPr txBox="1"/>
            <p:nvPr/>
          </p:nvSpPr>
          <p:spPr>
            <a:xfrm>
              <a:off x="0" y="-85725"/>
              <a:ext cx="872733" cy="5032203"/>
            </a:xfrm>
            <a:prstGeom prst="rect">
              <a:avLst/>
            </a:prstGeom>
          </p:spPr>
          <p:txBody>
            <a:bodyPr lIns="50800" tIns="50800" rIns="50800" bIns="50800" rtlCol="0" anchor="ctr"/>
            <a:lstStyle/>
            <a:p>
              <a:pPr algn="ctr">
                <a:lnSpc>
                  <a:spcPts val="2239"/>
                </a:lnSpc>
              </a:pPr>
              <a:endParaRPr/>
            </a:p>
          </p:txBody>
        </p:sp>
      </p:grpSp>
      <p:sp>
        <p:nvSpPr>
          <p:cNvPr id="8" name="Freeform 8"/>
          <p:cNvSpPr/>
          <p:nvPr/>
        </p:nvSpPr>
        <p:spPr>
          <a:xfrm>
            <a:off x="-2028420" y="248116"/>
            <a:ext cx="2914981" cy="552402"/>
          </a:xfrm>
          <a:custGeom>
            <a:avLst/>
            <a:gdLst/>
            <a:ahLst/>
            <a:cxnLst/>
            <a:rect l="l" t="t" r="r" b="b"/>
            <a:pathLst>
              <a:path w="2914981" h="552402">
                <a:moveTo>
                  <a:pt x="0" y="0"/>
                </a:moveTo>
                <a:lnTo>
                  <a:pt x="2914980" y="0"/>
                </a:lnTo>
                <a:lnTo>
                  <a:pt x="2914980" y="552402"/>
                </a:lnTo>
                <a:lnTo>
                  <a:pt x="0" y="5524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rot="-239829">
            <a:off x="15278842" y="8974297"/>
            <a:ext cx="3673269" cy="696101"/>
          </a:xfrm>
          <a:custGeom>
            <a:avLst/>
            <a:gdLst/>
            <a:ahLst/>
            <a:cxnLst/>
            <a:rect l="l" t="t" r="r" b="b"/>
            <a:pathLst>
              <a:path w="3673269" h="696101">
                <a:moveTo>
                  <a:pt x="0" y="0"/>
                </a:moveTo>
                <a:lnTo>
                  <a:pt x="3673270" y="0"/>
                </a:lnTo>
                <a:lnTo>
                  <a:pt x="3673270" y="696100"/>
                </a:lnTo>
                <a:lnTo>
                  <a:pt x="0" y="6961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TextBox 11"/>
          <p:cNvSpPr txBox="1"/>
          <p:nvPr/>
        </p:nvSpPr>
        <p:spPr>
          <a:xfrm>
            <a:off x="1758788" y="1439882"/>
            <a:ext cx="15674936" cy="369332"/>
          </a:xfrm>
          <a:prstGeom prst="rect">
            <a:avLst/>
          </a:prstGeom>
        </p:spPr>
        <p:txBody>
          <a:bodyPr wrap="square" lIns="0" tIns="0" rIns="0" bIns="0" rtlCol="0" anchor="t">
            <a:spAutoFit/>
          </a:bodyPr>
          <a:lstStyle/>
          <a:p>
            <a:r>
              <a:rPr lang="en-IN" sz="2400" dirty="0"/>
              <a:t>The data decides how each medicine is forecast. Different demand patterns → different models → reliable demand ranges</a:t>
            </a:r>
            <a:r>
              <a:rPr lang="en-IN" sz="2000" dirty="0"/>
              <a:t>.</a:t>
            </a:r>
            <a:endParaRPr lang="en-US" sz="2000" dirty="0">
              <a:solidFill>
                <a:srgbClr val="000000"/>
              </a:solidFill>
              <a:latin typeface="Poppins"/>
              <a:ea typeface="Poppins"/>
              <a:cs typeface="Poppins"/>
              <a:sym typeface="Poppins"/>
            </a:endParaRPr>
          </a:p>
        </p:txBody>
      </p:sp>
      <p:sp>
        <p:nvSpPr>
          <p:cNvPr id="12" name="TextBox 12"/>
          <p:cNvSpPr txBox="1"/>
          <p:nvPr/>
        </p:nvSpPr>
        <p:spPr>
          <a:xfrm>
            <a:off x="1758788" y="375221"/>
            <a:ext cx="5694572" cy="888320"/>
          </a:xfrm>
          <a:prstGeom prst="rect">
            <a:avLst/>
          </a:prstGeom>
        </p:spPr>
        <p:txBody>
          <a:bodyPr wrap="square" lIns="0" tIns="0" rIns="0" bIns="0" rtlCol="0" anchor="t">
            <a:spAutoFit/>
          </a:bodyPr>
          <a:lstStyle/>
          <a:p>
            <a:pPr algn="l">
              <a:lnSpc>
                <a:spcPts val="6800"/>
              </a:lnSpc>
            </a:pPr>
            <a:r>
              <a:rPr lang="en-US" sz="6800" b="1" dirty="0">
                <a:solidFill>
                  <a:srgbClr val="000000"/>
                </a:solidFill>
                <a:latin typeface="Agrandir Bold"/>
                <a:ea typeface="Agrandir Bold"/>
                <a:cs typeface="Agrandir Bold"/>
                <a:sym typeface="Agrandir Bold"/>
              </a:rPr>
              <a:t>Forecast</a:t>
            </a:r>
          </a:p>
        </p:txBody>
      </p:sp>
      <p:sp>
        <p:nvSpPr>
          <p:cNvPr id="13" name="Freeform 13"/>
          <p:cNvSpPr/>
          <p:nvPr/>
        </p:nvSpPr>
        <p:spPr>
          <a:xfrm>
            <a:off x="14402766" y="-609085"/>
            <a:ext cx="4080429" cy="1409603"/>
          </a:xfrm>
          <a:custGeom>
            <a:avLst/>
            <a:gdLst/>
            <a:ahLst/>
            <a:cxnLst/>
            <a:rect l="l" t="t" r="r" b="b"/>
            <a:pathLst>
              <a:path w="4080429" h="1409603">
                <a:moveTo>
                  <a:pt x="0" y="0"/>
                </a:moveTo>
                <a:lnTo>
                  <a:pt x="4080429" y="0"/>
                </a:lnTo>
                <a:lnTo>
                  <a:pt x="4080429" y="1409603"/>
                </a:lnTo>
                <a:lnTo>
                  <a:pt x="0" y="1409603"/>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4" name="Freeform 14"/>
          <p:cNvSpPr/>
          <p:nvPr/>
        </p:nvSpPr>
        <p:spPr>
          <a:xfrm rot="-5400000">
            <a:off x="17316924" y="802263"/>
            <a:ext cx="447626" cy="765214"/>
          </a:xfrm>
          <a:custGeom>
            <a:avLst/>
            <a:gdLst/>
            <a:ahLst/>
            <a:cxnLst/>
            <a:rect l="l" t="t" r="r" b="b"/>
            <a:pathLst>
              <a:path w="447626" h="765214">
                <a:moveTo>
                  <a:pt x="0" y="0"/>
                </a:moveTo>
                <a:lnTo>
                  <a:pt x="447626" y="0"/>
                </a:lnTo>
                <a:lnTo>
                  <a:pt x="447626" y="765214"/>
                </a:lnTo>
                <a:lnTo>
                  <a:pt x="0" y="765214"/>
                </a:lnTo>
                <a:lnTo>
                  <a:pt x="0" y="0"/>
                </a:lnTo>
                <a:close/>
              </a:path>
            </a:pathLst>
          </a:custGeom>
          <a:blipFill>
            <a:blip>
              <a:extLst>
                <a:ext uri="{96DAC541-7B7A-43D3-8B79-37D633B846F1}">
                  <asvg:svgBlip xmlns:asvg="http://schemas.microsoft.com/office/drawing/2016/SVG/main" r:embed="rId4"/>
                </a:ext>
              </a:extLst>
            </a:blip>
            <a:stretch>
              <a:fillRect t="-54452"/>
            </a:stretch>
          </a:blipFill>
        </p:spPr>
        <p:txBody>
          <a:bodyPr/>
          <a:lstStyle/>
          <a:p>
            <a:endParaRPr lang="en-IN"/>
          </a:p>
        </p:txBody>
      </p:sp>
      <p:sp>
        <p:nvSpPr>
          <p:cNvPr id="15" name="Freeform 15"/>
          <p:cNvSpPr/>
          <p:nvPr/>
        </p:nvSpPr>
        <p:spPr>
          <a:xfrm rot="-5400000">
            <a:off x="662748" y="185015"/>
            <a:ext cx="447626" cy="765214"/>
          </a:xfrm>
          <a:custGeom>
            <a:avLst/>
            <a:gdLst/>
            <a:ahLst/>
            <a:cxnLst/>
            <a:rect l="l" t="t" r="r" b="b"/>
            <a:pathLst>
              <a:path w="447626" h="765214">
                <a:moveTo>
                  <a:pt x="0" y="0"/>
                </a:moveTo>
                <a:lnTo>
                  <a:pt x="447626" y="0"/>
                </a:lnTo>
                <a:lnTo>
                  <a:pt x="447626" y="765213"/>
                </a:lnTo>
                <a:lnTo>
                  <a:pt x="0" y="765213"/>
                </a:lnTo>
                <a:lnTo>
                  <a:pt x="0" y="0"/>
                </a:lnTo>
                <a:close/>
              </a:path>
            </a:pathLst>
          </a:custGeom>
          <a:blipFill>
            <a:blip>
              <a:extLst>
                <a:ext uri="{96DAC541-7B7A-43D3-8B79-37D633B846F1}">
                  <asvg:svgBlip xmlns:asvg="http://schemas.microsoft.com/office/drawing/2016/SVG/main" r:embed="rId4"/>
                </a:ext>
              </a:extLst>
            </a:blip>
            <a:stretch>
              <a:fillRect t="-54452"/>
            </a:stretch>
          </a:blipFill>
        </p:spPr>
        <p:txBody>
          <a:bodyPr/>
          <a:lstStyle/>
          <a:p>
            <a:endParaRPr lang="en-IN"/>
          </a:p>
        </p:txBody>
      </p:sp>
      <p:sp>
        <p:nvSpPr>
          <p:cNvPr id="17" name="Rectangle 16">
            <a:extLst>
              <a:ext uri="{FF2B5EF4-FFF2-40B4-BE49-F238E27FC236}">
                <a16:creationId xmlns:a16="http://schemas.microsoft.com/office/drawing/2014/main" id="{4D66BBCA-F27C-9A8F-7F46-275AF3D8CE24}"/>
              </a:ext>
            </a:extLst>
          </p:cNvPr>
          <p:cNvSpPr/>
          <p:nvPr/>
        </p:nvSpPr>
        <p:spPr>
          <a:xfrm>
            <a:off x="1433156" y="2332693"/>
            <a:ext cx="3803812" cy="2367766"/>
          </a:xfrm>
          <a:prstGeom prst="rect">
            <a:avLst/>
          </a:prstGeom>
          <a:solidFill>
            <a:schemeClr val="bg1">
              <a:lumMod val="85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rPr>
              <a:t>ERRATIC </a:t>
            </a:r>
          </a:p>
          <a:p>
            <a:endParaRPr lang="en-IN" sz="2400" b="1" dirty="0">
              <a:solidFill>
                <a:schemeClr val="tx1"/>
              </a:solidFill>
            </a:endParaRPr>
          </a:p>
          <a:p>
            <a:endParaRPr lang="en-IN" b="1" dirty="0">
              <a:solidFill>
                <a:schemeClr val="tx1"/>
              </a:solidFill>
            </a:endParaRPr>
          </a:p>
          <a:p>
            <a:pPr algn="ctr"/>
            <a:r>
              <a:rPr lang="en-IN" b="1" dirty="0">
                <a:solidFill>
                  <a:schemeClr val="tx1"/>
                </a:solidFill>
              </a:rPr>
              <a:t>Steady timing, varying sales sizes Models: </a:t>
            </a:r>
            <a:r>
              <a:rPr lang="en-IN" b="1" dirty="0" err="1">
                <a:solidFill>
                  <a:schemeClr val="tx1"/>
                </a:solidFill>
              </a:rPr>
              <a:t>LightGBM</a:t>
            </a:r>
            <a:r>
              <a:rPr lang="en-IN" b="1" dirty="0">
                <a:solidFill>
                  <a:schemeClr val="tx1"/>
                </a:solidFill>
              </a:rPr>
              <a:t> · MSTL · </a:t>
            </a:r>
            <a:r>
              <a:rPr lang="en-IN" b="1" dirty="0" err="1">
                <a:solidFill>
                  <a:schemeClr val="tx1"/>
                </a:solidFill>
              </a:rPr>
              <a:t>SeasonalNaive</a:t>
            </a:r>
            <a:r>
              <a:rPr lang="en-IN" b="1" dirty="0">
                <a:solidFill>
                  <a:schemeClr val="tx1"/>
                </a:solidFill>
              </a:rPr>
              <a:t> · </a:t>
            </a:r>
            <a:r>
              <a:rPr lang="en-IN" b="1" dirty="0" err="1">
                <a:solidFill>
                  <a:schemeClr val="tx1"/>
                </a:solidFill>
              </a:rPr>
              <a:t>AutoARIMA</a:t>
            </a:r>
            <a:endParaRPr lang="en-IN" b="1" dirty="0">
              <a:solidFill>
                <a:schemeClr val="tx1"/>
              </a:solidFill>
            </a:endParaRPr>
          </a:p>
        </p:txBody>
      </p:sp>
      <p:sp>
        <p:nvSpPr>
          <p:cNvPr id="18" name="Rectangle 17">
            <a:extLst>
              <a:ext uri="{FF2B5EF4-FFF2-40B4-BE49-F238E27FC236}">
                <a16:creationId xmlns:a16="http://schemas.microsoft.com/office/drawing/2014/main" id="{9D0FC203-7B9D-43A5-A58F-12667AF7CE64}"/>
              </a:ext>
            </a:extLst>
          </p:cNvPr>
          <p:cNvSpPr/>
          <p:nvPr/>
        </p:nvSpPr>
        <p:spPr>
          <a:xfrm>
            <a:off x="5571394" y="2332693"/>
            <a:ext cx="4024862" cy="2367766"/>
          </a:xfrm>
          <a:prstGeom prst="rect">
            <a:avLst/>
          </a:prstGeom>
          <a:solidFill>
            <a:schemeClr val="bg1">
              <a:lumMod val="85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rPr>
              <a:t>LUMPY</a:t>
            </a:r>
          </a:p>
          <a:p>
            <a:r>
              <a:rPr lang="en-IN" sz="2400" b="1" dirty="0">
                <a:solidFill>
                  <a:schemeClr val="tx1"/>
                </a:solidFill>
              </a:rPr>
              <a:t> </a:t>
            </a:r>
          </a:p>
          <a:p>
            <a:pPr algn="ctr"/>
            <a:r>
              <a:rPr lang="en-IN" b="1" dirty="0">
                <a:solidFill>
                  <a:schemeClr val="tx1"/>
                </a:solidFill>
              </a:rPr>
              <a:t>Irregular timing &amp; varying sales sizes Models: </a:t>
            </a:r>
            <a:r>
              <a:rPr lang="en-IN" b="1" dirty="0" err="1">
                <a:solidFill>
                  <a:schemeClr val="tx1"/>
                </a:solidFill>
              </a:rPr>
              <a:t>LightGBM</a:t>
            </a:r>
            <a:r>
              <a:rPr lang="en-IN" b="1" dirty="0">
                <a:solidFill>
                  <a:schemeClr val="tx1"/>
                </a:solidFill>
              </a:rPr>
              <a:t> · </a:t>
            </a:r>
            <a:r>
              <a:rPr lang="en-IN" b="1" dirty="0" err="1">
                <a:solidFill>
                  <a:schemeClr val="tx1"/>
                </a:solidFill>
              </a:rPr>
              <a:t>SeasonalNaive</a:t>
            </a:r>
            <a:r>
              <a:rPr lang="en-IN" b="1" dirty="0">
                <a:solidFill>
                  <a:schemeClr val="tx1"/>
                </a:solidFill>
              </a:rPr>
              <a:t> No major lumpy series observed in the dataset.</a:t>
            </a:r>
          </a:p>
        </p:txBody>
      </p:sp>
      <p:sp>
        <p:nvSpPr>
          <p:cNvPr id="19" name="Rectangle 18">
            <a:extLst>
              <a:ext uri="{FF2B5EF4-FFF2-40B4-BE49-F238E27FC236}">
                <a16:creationId xmlns:a16="http://schemas.microsoft.com/office/drawing/2014/main" id="{47855948-0E03-AF16-F8D4-144FB6644ECE}"/>
              </a:ext>
            </a:extLst>
          </p:cNvPr>
          <p:cNvSpPr/>
          <p:nvPr/>
        </p:nvSpPr>
        <p:spPr>
          <a:xfrm>
            <a:off x="1416429" y="5039450"/>
            <a:ext cx="3803812" cy="2514600"/>
          </a:xfrm>
          <a:prstGeom prst="rect">
            <a:avLst/>
          </a:prstGeom>
          <a:solidFill>
            <a:schemeClr val="bg1">
              <a:lumMod val="8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rPr>
              <a:t>SMOOTH </a:t>
            </a:r>
          </a:p>
          <a:p>
            <a:endParaRPr lang="en-IN" sz="2400" b="1" dirty="0">
              <a:solidFill>
                <a:schemeClr val="tx1"/>
              </a:solidFill>
            </a:endParaRPr>
          </a:p>
          <a:p>
            <a:pPr algn="ctr"/>
            <a:r>
              <a:rPr lang="en-IN" b="1" dirty="0">
                <a:solidFill>
                  <a:schemeClr val="tx1"/>
                </a:solidFill>
              </a:rPr>
              <a:t>Regular sales, stable quantities Models: Prophet · </a:t>
            </a:r>
            <a:r>
              <a:rPr lang="en-IN" b="1" dirty="0" err="1">
                <a:solidFill>
                  <a:schemeClr val="tx1"/>
                </a:solidFill>
              </a:rPr>
              <a:t>AutoARIMA</a:t>
            </a:r>
            <a:r>
              <a:rPr lang="en-IN" b="1" dirty="0">
                <a:solidFill>
                  <a:schemeClr val="tx1"/>
                </a:solidFill>
              </a:rPr>
              <a:t> · MSTL </a:t>
            </a:r>
            <a:r>
              <a:rPr lang="en-IN" b="1" dirty="0" err="1">
                <a:solidFill>
                  <a:schemeClr val="tx1"/>
                </a:solidFill>
              </a:rPr>
              <a:t>SeasonalNaive</a:t>
            </a:r>
            <a:r>
              <a:rPr lang="en-IN" b="1" dirty="0">
                <a:solidFill>
                  <a:schemeClr val="tx1"/>
                </a:solidFill>
              </a:rPr>
              <a:t> · </a:t>
            </a:r>
            <a:r>
              <a:rPr lang="en-IN" b="1" dirty="0" err="1">
                <a:solidFill>
                  <a:schemeClr val="tx1"/>
                </a:solidFill>
              </a:rPr>
              <a:t>LightGBM</a:t>
            </a:r>
            <a:endParaRPr lang="en-IN" b="1" dirty="0">
              <a:solidFill>
                <a:schemeClr val="tx1"/>
              </a:solidFill>
            </a:endParaRPr>
          </a:p>
        </p:txBody>
      </p:sp>
      <p:sp>
        <p:nvSpPr>
          <p:cNvPr id="21" name="Rectangle 20">
            <a:extLst>
              <a:ext uri="{FF2B5EF4-FFF2-40B4-BE49-F238E27FC236}">
                <a16:creationId xmlns:a16="http://schemas.microsoft.com/office/drawing/2014/main" id="{0561D058-CB94-F187-6E0A-141DB7DF3AA6}"/>
              </a:ext>
            </a:extLst>
          </p:cNvPr>
          <p:cNvSpPr/>
          <p:nvPr/>
        </p:nvSpPr>
        <p:spPr>
          <a:xfrm>
            <a:off x="5571394" y="5039450"/>
            <a:ext cx="4024862" cy="2514600"/>
          </a:xfrm>
          <a:prstGeom prst="rect">
            <a:avLst/>
          </a:prstGeom>
          <a:solidFill>
            <a:schemeClr val="bg1">
              <a:lumMod val="85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rPr>
              <a:t>INTERMITTENT</a:t>
            </a:r>
          </a:p>
          <a:p>
            <a:endParaRPr lang="en-IN" sz="2400" b="1" dirty="0">
              <a:solidFill>
                <a:schemeClr val="tx1"/>
              </a:solidFill>
            </a:endParaRPr>
          </a:p>
          <a:p>
            <a:pPr algn="ctr"/>
            <a:r>
              <a:rPr lang="en-IN" b="1" dirty="0">
                <a:solidFill>
                  <a:schemeClr val="tx1"/>
                </a:solidFill>
              </a:rPr>
              <a:t> Long gaps between sales Models: </a:t>
            </a:r>
            <a:r>
              <a:rPr lang="en-IN" b="1" dirty="0" err="1">
                <a:solidFill>
                  <a:schemeClr val="tx1"/>
                </a:solidFill>
              </a:rPr>
              <a:t>LightGBM</a:t>
            </a:r>
            <a:r>
              <a:rPr lang="en-IN" b="1" dirty="0">
                <a:solidFill>
                  <a:schemeClr val="tx1"/>
                </a:solidFill>
              </a:rPr>
              <a:t> · </a:t>
            </a:r>
            <a:r>
              <a:rPr lang="en-IN" b="1" dirty="0" err="1">
                <a:solidFill>
                  <a:schemeClr val="tx1"/>
                </a:solidFill>
              </a:rPr>
              <a:t>SeasonalNaive</a:t>
            </a:r>
            <a:endParaRPr lang="en-IN" b="1" dirty="0">
              <a:solidFill>
                <a:schemeClr val="tx1"/>
              </a:solidFill>
            </a:endParaRPr>
          </a:p>
        </p:txBody>
      </p:sp>
      <p:sp>
        <p:nvSpPr>
          <p:cNvPr id="22" name="Rectangle 21">
            <a:extLst>
              <a:ext uri="{FF2B5EF4-FFF2-40B4-BE49-F238E27FC236}">
                <a16:creationId xmlns:a16="http://schemas.microsoft.com/office/drawing/2014/main" id="{10832781-5549-3B10-6600-3B0B29D636B3}"/>
              </a:ext>
            </a:extLst>
          </p:cNvPr>
          <p:cNvSpPr/>
          <p:nvPr/>
        </p:nvSpPr>
        <p:spPr>
          <a:xfrm>
            <a:off x="11024772" y="7409284"/>
            <a:ext cx="5418208" cy="1409604"/>
          </a:xfrm>
          <a:prstGeom prst="rect">
            <a:avLst/>
          </a:prstGeom>
          <a:solidFill>
            <a:schemeClr val="bg1">
              <a:lumMod val="85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rPr>
              <a:t>ADI → Measures the gap between sales</a:t>
            </a:r>
          </a:p>
          <a:p>
            <a:pPr algn="ctr"/>
            <a:r>
              <a:rPr lang="en-IN" sz="2000" dirty="0">
                <a:solidFill>
                  <a:schemeClr val="tx1"/>
                </a:solidFill>
              </a:rPr>
              <a:t> CV² → Measures variation in sales quantity </a:t>
            </a:r>
          </a:p>
          <a:p>
            <a:pPr algn="ctr"/>
            <a:r>
              <a:rPr lang="en-IN" sz="2000" dirty="0">
                <a:solidFill>
                  <a:schemeClr val="tx1"/>
                </a:solidFill>
              </a:rPr>
              <a:t>ADI ≥ 1.32 → Longer gaps </a:t>
            </a:r>
          </a:p>
          <a:p>
            <a:pPr algn="ctr"/>
            <a:r>
              <a:rPr lang="en-IN" sz="2000" dirty="0">
                <a:solidFill>
                  <a:schemeClr val="tx1"/>
                </a:solidFill>
              </a:rPr>
              <a:t>CV² ≥ 0.49 → Higher variation</a:t>
            </a:r>
          </a:p>
        </p:txBody>
      </p:sp>
      <p:sp>
        <p:nvSpPr>
          <p:cNvPr id="26" name="TextBox 25">
            <a:extLst>
              <a:ext uri="{FF2B5EF4-FFF2-40B4-BE49-F238E27FC236}">
                <a16:creationId xmlns:a16="http://schemas.microsoft.com/office/drawing/2014/main" id="{A4C04526-4831-DCA1-0006-9ACDF3550EC0}"/>
              </a:ext>
            </a:extLst>
          </p:cNvPr>
          <p:cNvSpPr txBox="1"/>
          <p:nvPr/>
        </p:nvSpPr>
        <p:spPr>
          <a:xfrm>
            <a:off x="10089771" y="3133181"/>
            <a:ext cx="10501744" cy="523220"/>
          </a:xfrm>
          <a:prstGeom prst="rect">
            <a:avLst/>
          </a:prstGeom>
          <a:noFill/>
        </p:spPr>
        <p:txBody>
          <a:bodyPr wrap="square">
            <a:spAutoFit/>
          </a:bodyPr>
          <a:lstStyle/>
          <a:p>
            <a:r>
              <a:rPr lang="en-IN" sz="2800" b="1" dirty="0"/>
              <a:t>01 | Statistical </a:t>
            </a:r>
            <a:r>
              <a:rPr lang="en-IN" sz="2800" b="1" dirty="0" err="1"/>
              <a:t>AutoARIMA</a:t>
            </a:r>
            <a:r>
              <a:rPr lang="en-IN" sz="2800" b="1" dirty="0"/>
              <a:t> • MSTL • Seasonal Naive</a:t>
            </a:r>
          </a:p>
        </p:txBody>
      </p:sp>
      <p:sp>
        <p:nvSpPr>
          <p:cNvPr id="28" name="TextBox 27">
            <a:extLst>
              <a:ext uri="{FF2B5EF4-FFF2-40B4-BE49-F238E27FC236}">
                <a16:creationId xmlns:a16="http://schemas.microsoft.com/office/drawing/2014/main" id="{B539127E-05EB-A0D0-7C7E-00644F4DB0C2}"/>
              </a:ext>
            </a:extLst>
          </p:cNvPr>
          <p:cNvSpPr txBox="1"/>
          <p:nvPr/>
        </p:nvSpPr>
        <p:spPr>
          <a:xfrm>
            <a:off x="10089771" y="3933351"/>
            <a:ext cx="14427775" cy="954107"/>
          </a:xfrm>
          <a:prstGeom prst="rect">
            <a:avLst/>
          </a:prstGeom>
          <a:noFill/>
        </p:spPr>
        <p:txBody>
          <a:bodyPr wrap="square">
            <a:spAutoFit/>
          </a:bodyPr>
          <a:lstStyle/>
          <a:p>
            <a:r>
              <a:rPr lang="en-IN" sz="2800" b="1" dirty="0"/>
              <a:t>02 | Machine Learning </a:t>
            </a:r>
            <a:r>
              <a:rPr lang="en-IN" sz="2800" b="1" dirty="0" err="1"/>
              <a:t>LightGBM</a:t>
            </a:r>
            <a:r>
              <a:rPr lang="en-IN" sz="2800" b="1" dirty="0"/>
              <a:t> — Global </a:t>
            </a:r>
          </a:p>
          <a:p>
            <a:r>
              <a:rPr lang="en-IN" sz="2800" b="1" dirty="0"/>
              <a:t>        Quantile Forecasting</a:t>
            </a:r>
          </a:p>
        </p:txBody>
      </p:sp>
      <p:sp>
        <p:nvSpPr>
          <p:cNvPr id="30" name="TextBox 29">
            <a:extLst>
              <a:ext uri="{FF2B5EF4-FFF2-40B4-BE49-F238E27FC236}">
                <a16:creationId xmlns:a16="http://schemas.microsoft.com/office/drawing/2014/main" id="{27AE511C-4945-F563-1935-9598F0B4E5BE}"/>
              </a:ext>
            </a:extLst>
          </p:cNvPr>
          <p:cNvSpPr txBox="1"/>
          <p:nvPr/>
        </p:nvSpPr>
        <p:spPr>
          <a:xfrm>
            <a:off x="10089771" y="4951299"/>
            <a:ext cx="13563600" cy="523220"/>
          </a:xfrm>
          <a:prstGeom prst="rect">
            <a:avLst/>
          </a:prstGeom>
          <a:noFill/>
        </p:spPr>
        <p:txBody>
          <a:bodyPr wrap="square">
            <a:spAutoFit/>
          </a:bodyPr>
          <a:lstStyle>
            <a:defPPr>
              <a:defRPr lang="en-US"/>
            </a:defPPr>
            <a:lvl1pPr>
              <a:defRPr b="0" i="0">
                <a:effectLst/>
              </a:defRPr>
            </a:lvl1pPr>
          </a:lstStyle>
          <a:p>
            <a:r>
              <a:rPr lang="en-IN" sz="2800" b="1" dirty="0"/>
              <a:t>03 | Structural Prophet</a:t>
            </a:r>
          </a:p>
        </p:txBody>
      </p:sp>
      <p:sp>
        <p:nvSpPr>
          <p:cNvPr id="32" name="TextBox 31">
            <a:extLst>
              <a:ext uri="{FF2B5EF4-FFF2-40B4-BE49-F238E27FC236}">
                <a16:creationId xmlns:a16="http://schemas.microsoft.com/office/drawing/2014/main" id="{29915010-E949-4B4F-2952-A402CB36F6D9}"/>
              </a:ext>
            </a:extLst>
          </p:cNvPr>
          <p:cNvSpPr txBox="1"/>
          <p:nvPr/>
        </p:nvSpPr>
        <p:spPr>
          <a:xfrm>
            <a:off x="10089771" y="5723959"/>
            <a:ext cx="13563600" cy="523220"/>
          </a:xfrm>
          <a:prstGeom prst="rect">
            <a:avLst/>
          </a:prstGeom>
          <a:noFill/>
        </p:spPr>
        <p:txBody>
          <a:bodyPr wrap="square">
            <a:spAutoFit/>
          </a:bodyPr>
          <a:lstStyle/>
          <a:p>
            <a:r>
              <a:rPr lang="en-IN" sz="2800" b="1" dirty="0"/>
              <a:t>04 | Intermittent </a:t>
            </a:r>
            <a:r>
              <a:rPr lang="en-IN" sz="2800" b="1" dirty="0" err="1"/>
              <a:t>CrostonOptimized</a:t>
            </a:r>
            <a:r>
              <a:rPr lang="en-IN" sz="2800" b="1" dirty="0"/>
              <a:t> • TSB</a:t>
            </a:r>
          </a:p>
        </p:txBody>
      </p:sp>
      <p:sp>
        <p:nvSpPr>
          <p:cNvPr id="34" name="TextBox 33">
            <a:extLst>
              <a:ext uri="{FF2B5EF4-FFF2-40B4-BE49-F238E27FC236}">
                <a16:creationId xmlns:a16="http://schemas.microsoft.com/office/drawing/2014/main" id="{062AD8D6-E695-50E4-5C8E-349B72C1E7B5}"/>
              </a:ext>
            </a:extLst>
          </p:cNvPr>
          <p:cNvSpPr txBox="1"/>
          <p:nvPr/>
        </p:nvSpPr>
        <p:spPr>
          <a:xfrm>
            <a:off x="10089771" y="6455045"/>
            <a:ext cx="13563600" cy="523220"/>
          </a:xfrm>
          <a:prstGeom prst="rect">
            <a:avLst/>
          </a:prstGeom>
          <a:noFill/>
        </p:spPr>
        <p:txBody>
          <a:bodyPr wrap="square">
            <a:spAutoFit/>
          </a:bodyPr>
          <a:lstStyle/>
          <a:p>
            <a:r>
              <a:rPr lang="en-IN" sz="2800" b="1" dirty="0"/>
              <a:t>05 | Ensemble Median of selected model forecasts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328555">
            <a:off x="-260451" y="-1208305"/>
            <a:ext cx="6858974" cy="13353616"/>
            <a:chOff x="0" y="-85725"/>
            <a:chExt cx="1806479" cy="3517002"/>
          </a:xfrm>
        </p:grpSpPr>
        <p:sp>
          <p:nvSpPr>
            <p:cNvPr id="3" name="Freeform 3"/>
            <p:cNvSpPr/>
            <p:nvPr/>
          </p:nvSpPr>
          <p:spPr>
            <a:xfrm>
              <a:off x="144502" y="127275"/>
              <a:ext cx="1416524" cy="3304002"/>
            </a:xfrm>
            <a:custGeom>
              <a:avLst/>
              <a:gdLst/>
              <a:ahLst/>
              <a:cxnLst/>
              <a:rect l="l" t="t" r="r" b="b"/>
              <a:pathLst>
                <a:path w="1806479" h="3304002">
                  <a:moveTo>
                    <a:pt x="0" y="0"/>
                  </a:moveTo>
                  <a:lnTo>
                    <a:pt x="1806479" y="0"/>
                  </a:lnTo>
                  <a:lnTo>
                    <a:pt x="1806479" y="3304002"/>
                  </a:lnTo>
                  <a:lnTo>
                    <a:pt x="0" y="3304002"/>
                  </a:lnTo>
                  <a:close/>
                </a:path>
              </a:pathLst>
            </a:custGeom>
            <a:solidFill>
              <a:srgbClr val="112041">
                <a:alpha val="76863"/>
              </a:srgbClr>
            </a:solidFill>
          </p:spPr>
          <p:txBody>
            <a:bodyPr/>
            <a:lstStyle/>
            <a:p>
              <a:endParaRPr lang="en-IN"/>
            </a:p>
          </p:txBody>
        </p:sp>
        <p:sp>
          <p:nvSpPr>
            <p:cNvPr id="4" name="TextBox 4"/>
            <p:cNvSpPr txBox="1"/>
            <p:nvPr/>
          </p:nvSpPr>
          <p:spPr>
            <a:xfrm>
              <a:off x="0" y="-85725"/>
              <a:ext cx="1806479" cy="3389727"/>
            </a:xfrm>
            <a:prstGeom prst="rect">
              <a:avLst/>
            </a:prstGeom>
          </p:spPr>
          <p:txBody>
            <a:bodyPr lIns="50800" tIns="50800" rIns="50800" bIns="50800" rtlCol="0" anchor="ctr"/>
            <a:lstStyle/>
            <a:p>
              <a:pPr algn="ctr">
                <a:lnSpc>
                  <a:spcPts val="2239"/>
                </a:lnSpc>
              </a:pPr>
              <a:endParaRPr/>
            </a:p>
          </p:txBody>
        </p:sp>
      </p:grpSp>
      <p:sp>
        <p:nvSpPr>
          <p:cNvPr id="7" name="Freeform 7"/>
          <p:cNvSpPr/>
          <p:nvPr/>
        </p:nvSpPr>
        <p:spPr>
          <a:xfrm>
            <a:off x="16524562" y="9258300"/>
            <a:ext cx="734738" cy="420805"/>
          </a:xfrm>
          <a:custGeom>
            <a:avLst/>
            <a:gdLst/>
            <a:ahLst/>
            <a:cxnLst/>
            <a:rect l="l" t="t" r="r" b="b"/>
            <a:pathLst>
              <a:path w="734738" h="420805">
                <a:moveTo>
                  <a:pt x="0" y="0"/>
                </a:moveTo>
                <a:lnTo>
                  <a:pt x="734738" y="0"/>
                </a:lnTo>
                <a:lnTo>
                  <a:pt x="734738" y="420805"/>
                </a:lnTo>
                <a:lnTo>
                  <a:pt x="0" y="42080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8" name="Freeform 8"/>
          <p:cNvSpPr/>
          <p:nvPr/>
        </p:nvSpPr>
        <p:spPr>
          <a:xfrm>
            <a:off x="1464308" y="1028700"/>
            <a:ext cx="947230" cy="947230"/>
          </a:xfrm>
          <a:custGeom>
            <a:avLst/>
            <a:gdLst/>
            <a:ahLst/>
            <a:cxnLst/>
            <a:rect l="l" t="t" r="r" b="b"/>
            <a:pathLst>
              <a:path w="947230" h="947230">
                <a:moveTo>
                  <a:pt x="0" y="0"/>
                </a:moveTo>
                <a:lnTo>
                  <a:pt x="947230" y="0"/>
                </a:lnTo>
                <a:lnTo>
                  <a:pt x="947230" y="947230"/>
                </a:lnTo>
                <a:lnTo>
                  <a:pt x="0" y="9472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5790411" y="8088502"/>
            <a:ext cx="638390" cy="638390"/>
          </a:xfrm>
          <a:custGeom>
            <a:avLst/>
            <a:gdLst/>
            <a:ahLst/>
            <a:cxnLst/>
            <a:rect l="l" t="t" r="r" b="b"/>
            <a:pathLst>
              <a:path w="638390" h="638390">
                <a:moveTo>
                  <a:pt x="0" y="0"/>
                </a:moveTo>
                <a:lnTo>
                  <a:pt x="638390" y="0"/>
                </a:lnTo>
                <a:lnTo>
                  <a:pt x="638390" y="638390"/>
                </a:lnTo>
                <a:lnTo>
                  <a:pt x="0" y="63839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0" name="Freeform 10"/>
          <p:cNvSpPr/>
          <p:nvPr/>
        </p:nvSpPr>
        <p:spPr>
          <a:xfrm>
            <a:off x="17164050" y="529949"/>
            <a:ext cx="2914981" cy="552402"/>
          </a:xfrm>
          <a:custGeom>
            <a:avLst/>
            <a:gdLst/>
            <a:ahLst/>
            <a:cxnLst/>
            <a:rect l="l" t="t" r="r" b="b"/>
            <a:pathLst>
              <a:path w="2914981" h="552402">
                <a:moveTo>
                  <a:pt x="0" y="0"/>
                </a:moveTo>
                <a:lnTo>
                  <a:pt x="2914981" y="0"/>
                </a:lnTo>
                <a:lnTo>
                  <a:pt x="2914981" y="552402"/>
                </a:lnTo>
                <a:lnTo>
                  <a:pt x="0" y="55240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1" name="Freeform 11"/>
          <p:cNvSpPr/>
          <p:nvPr/>
        </p:nvSpPr>
        <p:spPr>
          <a:xfrm rot="-5400000">
            <a:off x="16783704" y="603903"/>
            <a:ext cx="362412" cy="956895"/>
          </a:xfrm>
          <a:custGeom>
            <a:avLst/>
            <a:gdLst/>
            <a:ahLst/>
            <a:cxnLst/>
            <a:rect l="l" t="t" r="r" b="b"/>
            <a:pathLst>
              <a:path w="362412" h="956895">
                <a:moveTo>
                  <a:pt x="0" y="0"/>
                </a:moveTo>
                <a:lnTo>
                  <a:pt x="362412" y="0"/>
                </a:lnTo>
                <a:lnTo>
                  <a:pt x="362412" y="956895"/>
                </a:lnTo>
                <a:lnTo>
                  <a:pt x="0" y="956895"/>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IN"/>
          </a:p>
        </p:txBody>
      </p:sp>
      <p:sp>
        <p:nvSpPr>
          <p:cNvPr id="12" name="Freeform 12"/>
          <p:cNvSpPr/>
          <p:nvPr/>
        </p:nvSpPr>
        <p:spPr>
          <a:xfrm>
            <a:off x="710725" y="9468702"/>
            <a:ext cx="1024972" cy="169586"/>
          </a:xfrm>
          <a:custGeom>
            <a:avLst/>
            <a:gdLst/>
            <a:ahLst/>
            <a:cxnLst/>
            <a:rect l="l" t="t" r="r" b="b"/>
            <a:pathLst>
              <a:path w="1024972" h="169586">
                <a:moveTo>
                  <a:pt x="0" y="0"/>
                </a:moveTo>
                <a:lnTo>
                  <a:pt x="1024971" y="0"/>
                </a:lnTo>
                <a:lnTo>
                  <a:pt x="1024971" y="169587"/>
                </a:lnTo>
                <a:lnTo>
                  <a:pt x="0" y="16958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IN"/>
          </a:p>
        </p:txBody>
      </p:sp>
      <p:sp>
        <p:nvSpPr>
          <p:cNvPr id="13" name="TextBox 13"/>
          <p:cNvSpPr txBox="1"/>
          <p:nvPr/>
        </p:nvSpPr>
        <p:spPr>
          <a:xfrm>
            <a:off x="1345510" y="2833330"/>
            <a:ext cx="5942705" cy="1774140"/>
          </a:xfrm>
          <a:prstGeom prst="rect">
            <a:avLst/>
          </a:prstGeom>
        </p:spPr>
        <p:txBody>
          <a:bodyPr wrap="square" lIns="0" tIns="0" rIns="0" bIns="0" rtlCol="0" anchor="t">
            <a:spAutoFit/>
          </a:bodyPr>
          <a:lstStyle/>
          <a:p>
            <a:pPr algn="l">
              <a:lnSpc>
                <a:spcPts val="6800"/>
              </a:lnSpc>
            </a:pPr>
            <a:r>
              <a:rPr lang="en-US" sz="7200" b="1" dirty="0">
                <a:solidFill>
                  <a:schemeClr val="bg1"/>
                </a:solidFill>
                <a:latin typeface="Agrandir Bold"/>
                <a:ea typeface="Agrandir Bold"/>
                <a:cs typeface="Agrandir Bold"/>
                <a:sym typeface="Agrandir Bold"/>
              </a:rPr>
              <a:t>Tech </a:t>
            </a:r>
          </a:p>
          <a:p>
            <a:pPr algn="l">
              <a:lnSpc>
                <a:spcPts val="6800"/>
              </a:lnSpc>
            </a:pPr>
            <a:r>
              <a:rPr lang="en-US" sz="7200" b="1" dirty="0">
                <a:solidFill>
                  <a:schemeClr val="bg1"/>
                </a:solidFill>
                <a:latin typeface="Agrandir Bold"/>
                <a:ea typeface="Agrandir Bold"/>
                <a:cs typeface="Agrandir Bold"/>
                <a:sym typeface="Agrandir Bold"/>
              </a:rPr>
              <a:t>Stack</a:t>
            </a:r>
          </a:p>
        </p:txBody>
      </p:sp>
      <p:sp>
        <p:nvSpPr>
          <p:cNvPr id="14" name="TextBox 14"/>
          <p:cNvSpPr txBox="1"/>
          <p:nvPr/>
        </p:nvSpPr>
        <p:spPr>
          <a:xfrm>
            <a:off x="6892735" y="806150"/>
            <a:ext cx="9457343" cy="6894195"/>
          </a:xfrm>
          <a:prstGeom prst="rect">
            <a:avLst/>
          </a:prstGeom>
        </p:spPr>
        <p:txBody>
          <a:bodyPr wrap="square" lIns="0" tIns="0" rIns="0" bIns="0" rtlCol="0" anchor="t">
            <a:spAutoFit/>
          </a:bodyPr>
          <a:lstStyle/>
          <a:p>
            <a:r>
              <a:rPr lang="en-IN" sz="2800" b="1" dirty="0"/>
              <a:t>Language: </a:t>
            </a:r>
            <a:r>
              <a:rPr lang="en-IN" sz="2800" dirty="0"/>
              <a:t>Python 3.11, TypeScript Data: pandas 2.2.3, NumPy 1.26.4, </a:t>
            </a:r>
            <a:r>
              <a:rPr lang="en-IN" sz="2800" dirty="0" err="1"/>
              <a:t>DuckDB</a:t>
            </a:r>
            <a:r>
              <a:rPr lang="en-IN" sz="2800" dirty="0"/>
              <a:t>, </a:t>
            </a:r>
            <a:r>
              <a:rPr lang="en-IN" sz="2800" dirty="0" err="1"/>
              <a:t>PyArrow</a:t>
            </a:r>
            <a:r>
              <a:rPr lang="en-IN" sz="2800" dirty="0"/>
              <a:t> / Parquet, SQLite </a:t>
            </a:r>
          </a:p>
          <a:p>
            <a:endParaRPr lang="en-IN" sz="2800" dirty="0"/>
          </a:p>
          <a:p>
            <a:r>
              <a:rPr lang="en-IN" sz="2800" b="1" dirty="0"/>
              <a:t>Forecasting: </a:t>
            </a:r>
            <a:r>
              <a:rPr lang="en-IN" sz="2800" dirty="0" err="1"/>
              <a:t>statsforecast</a:t>
            </a:r>
            <a:r>
              <a:rPr lang="en-IN" sz="2800" dirty="0"/>
              <a:t> (</a:t>
            </a:r>
            <a:r>
              <a:rPr lang="en-IN" sz="2800" dirty="0" err="1"/>
              <a:t>AutoARIMA</a:t>
            </a:r>
            <a:r>
              <a:rPr lang="en-IN" sz="2800" dirty="0"/>
              <a:t>, </a:t>
            </a:r>
            <a:r>
              <a:rPr lang="en-IN" sz="2800" dirty="0" err="1"/>
              <a:t>AutoETS</a:t>
            </a:r>
            <a:r>
              <a:rPr lang="en-IN" sz="2800" dirty="0"/>
              <a:t>, MSTL, Croston, TSB, Theta), </a:t>
            </a:r>
            <a:r>
              <a:rPr lang="en-IN" sz="2800" dirty="0" err="1"/>
              <a:t>mlforecast</a:t>
            </a:r>
            <a:r>
              <a:rPr lang="en-IN" sz="2800" dirty="0"/>
              <a:t>, </a:t>
            </a:r>
            <a:r>
              <a:rPr lang="en-IN" sz="2800" dirty="0" err="1"/>
              <a:t>LightGBM</a:t>
            </a:r>
            <a:r>
              <a:rPr lang="en-IN" sz="2800" dirty="0"/>
              <a:t> 4.5, Prophet 1.1.6 / </a:t>
            </a:r>
            <a:r>
              <a:rPr lang="en-IN" sz="2800" dirty="0" err="1"/>
              <a:t>cmdstanpy</a:t>
            </a:r>
            <a:r>
              <a:rPr lang="en-IN" sz="2800" dirty="0"/>
              <a:t> </a:t>
            </a:r>
          </a:p>
          <a:p>
            <a:endParaRPr lang="en-IN" sz="2800" dirty="0"/>
          </a:p>
          <a:p>
            <a:r>
              <a:rPr lang="en-IN" sz="2800" b="1" dirty="0"/>
              <a:t>API: </a:t>
            </a:r>
            <a:r>
              <a:rPr lang="en-IN" sz="2800" dirty="0"/>
              <a:t>FastAPI, </a:t>
            </a:r>
            <a:r>
              <a:rPr lang="en-IN" sz="2800" dirty="0" err="1"/>
              <a:t>Pydantic</a:t>
            </a:r>
            <a:r>
              <a:rPr lang="en-IN" sz="2800" dirty="0"/>
              <a:t> v2, </a:t>
            </a:r>
            <a:r>
              <a:rPr lang="en-IN" sz="2800" dirty="0" err="1"/>
              <a:t>Uvicorn</a:t>
            </a:r>
            <a:r>
              <a:rPr lang="en-IN" sz="2800" dirty="0"/>
              <a:t> — 17 endpoints </a:t>
            </a:r>
          </a:p>
          <a:p>
            <a:endParaRPr lang="en-IN" sz="2800" dirty="0"/>
          </a:p>
          <a:p>
            <a:r>
              <a:rPr lang="en-IN" sz="2800" b="1" dirty="0"/>
              <a:t>Frontend: </a:t>
            </a:r>
            <a:r>
              <a:rPr lang="en-IN" sz="2800" dirty="0"/>
              <a:t>React 18, TypeScript, Vite, Tailwind CSS, </a:t>
            </a:r>
            <a:r>
              <a:rPr lang="en-IN" sz="2800" dirty="0" err="1"/>
              <a:t>TanStack</a:t>
            </a:r>
            <a:r>
              <a:rPr lang="en-IN" sz="2800" dirty="0"/>
              <a:t> Query — charts are raw SVG, no charting library </a:t>
            </a:r>
          </a:p>
          <a:p>
            <a:endParaRPr lang="en-IN" sz="2800" dirty="0"/>
          </a:p>
          <a:p>
            <a:r>
              <a:rPr lang="en-IN" sz="2800" b="1" dirty="0"/>
              <a:t>Ship / quality: </a:t>
            </a:r>
            <a:r>
              <a:rPr lang="en-IN" sz="2800" dirty="0"/>
              <a:t>Docker Compose, GitHub Actions CI, </a:t>
            </a:r>
            <a:r>
              <a:rPr lang="en-IN" sz="2800" dirty="0" err="1"/>
              <a:t>pytest</a:t>
            </a:r>
            <a:r>
              <a:rPr lang="en-IN" sz="2800" dirty="0"/>
              <a:t> (139 tests), ruff, Hypothesis for property tests </a:t>
            </a:r>
          </a:p>
          <a:p>
            <a:endParaRPr lang="en-IN" sz="2800" dirty="0"/>
          </a:p>
          <a:p>
            <a:r>
              <a:rPr lang="en-IN" sz="2800" b="1" dirty="0"/>
              <a:t>Deck: </a:t>
            </a:r>
            <a:r>
              <a:rPr lang="en-IN" sz="2800" dirty="0" err="1"/>
              <a:t>pptxgenjs</a:t>
            </a:r>
            <a:r>
              <a:rPr lang="en-IN" sz="2800" dirty="0"/>
              <a:t>, generated from artifacts/</a:t>
            </a:r>
            <a:r>
              <a:rPr lang="en-IN" sz="2800" dirty="0" err="1"/>
              <a:t>benchmarks.json</a:t>
            </a:r>
            <a:r>
              <a:rPr lang="en-IN" sz="2800" dirty="0"/>
              <a:t> so it cannot drift from the numbers</a:t>
            </a:r>
            <a:endParaRPr lang="en-US" sz="2800" dirty="0">
              <a:solidFill>
                <a:srgbClr val="000000"/>
              </a:solidFill>
              <a:latin typeface="Poppins"/>
              <a:ea typeface="Poppins"/>
              <a:cs typeface="Poppins"/>
              <a:sym typeface="Poppins"/>
            </a:endParaRPr>
          </a:p>
        </p:txBody>
      </p:sp>
      <p:sp>
        <p:nvSpPr>
          <p:cNvPr id="16" name="AutoShape 21">
            <a:extLst>
              <a:ext uri="{FF2B5EF4-FFF2-40B4-BE49-F238E27FC236}">
                <a16:creationId xmlns:a16="http://schemas.microsoft.com/office/drawing/2014/main" id="{90BBC50C-9B6A-6AA7-18FB-89B078C60FA4}"/>
              </a:ext>
            </a:extLst>
          </p:cNvPr>
          <p:cNvSpPr/>
          <p:nvPr/>
        </p:nvSpPr>
        <p:spPr>
          <a:xfrm flipV="1">
            <a:off x="6534343" y="1028700"/>
            <a:ext cx="0" cy="1219200"/>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18" name="AutoShape 21">
            <a:extLst>
              <a:ext uri="{FF2B5EF4-FFF2-40B4-BE49-F238E27FC236}">
                <a16:creationId xmlns:a16="http://schemas.microsoft.com/office/drawing/2014/main" id="{1415BFCB-7123-C9A7-7D11-A248151C7164}"/>
              </a:ext>
            </a:extLst>
          </p:cNvPr>
          <p:cNvSpPr/>
          <p:nvPr/>
        </p:nvSpPr>
        <p:spPr>
          <a:xfrm flipH="1" flipV="1">
            <a:off x="6534341" y="4400289"/>
            <a:ext cx="0" cy="1328643"/>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20" name="AutoShape 21">
            <a:extLst>
              <a:ext uri="{FF2B5EF4-FFF2-40B4-BE49-F238E27FC236}">
                <a16:creationId xmlns:a16="http://schemas.microsoft.com/office/drawing/2014/main" id="{170501FA-C7FA-E67D-4032-7C0D15E8BBE4}"/>
              </a:ext>
            </a:extLst>
          </p:cNvPr>
          <p:cNvSpPr/>
          <p:nvPr/>
        </p:nvSpPr>
        <p:spPr>
          <a:xfrm flipV="1">
            <a:off x="6531788" y="3498760"/>
            <a:ext cx="1277" cy="1003351"/>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22" name="AutoShape 21">
            <a:extLst>
              <a:ext uri="{FF2B5EF4-FFF2-40B4-BE49-F238E27FC236}">
                <a16:creationId xmlns:a16="http://schemas.microsoft.com/office/drawing/2014/main" id="{3B1EB08F-D87D-725A-E76F-A9EA26689FAC}"/>
              </a:ext>
            </a:extLst>
          </p:cNvPr>
          <p:cNvSpPr/>
          <p:nvPr/>
        </p:nvSpPr>
        <p:spPr>
          <a:xfrm flipV="1">
            <a:off x="6531789" y="2182874"/>
            <a:ext cx="2553" cy="1328643"/>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24" name="AutoShape 21">
            <a:extLst>
              <a:ext uri="{FF2B5EF4-FFF2-40B4-BE49-F238E27FC236}">
                <a16:creationId xmlns:a16="http://schemas.microsoft.com/office/drawing/2014/main" id="{FE694721-3833-D997-308C-35534257CBB4}"/>
              </a:ext>
            </a:extLst>
          </p:cNvPr>
          <p:cNvSpPr/>
          <p:nvPr/>
        </p:nvSpPr>
        <p:spPr>
          <a:xfrm flipV="1">
            <a:off x="6531789" y="5728932"/>
            <a:ext cx="1" cy="1413172"/>
          </a:xfrm>
          <a:prstGeom prst="line">
            <a:avLst/>
          </a:prstGeom>
          <a:ln w="19050" cap="rnd">
            <a:solidFill>
              <a:srgbClr val="CDD4D8"/>
            </a:solidFill>
            <a:prstDash val="solid"/>
            <a:headEnd type="oval" w="lg" len="lg"/>
            <a:tailEnd type="none" w="sm" len="sm"/>
          </a:ln>
        </p:spPr>
        <p:txBody>
          <a:bodyPr/>
          <a:lstStyle/>
          <a:p>
            <a:endParaRPr lang="en-IN" dirty="0"/>
          </a:p>
        </p:txBody>
      </p:sp>
      <p:sp>
        <p:nvSpPr>
          <p:cNvPr id="26" name="AutoShape 21">
            <a:extLst>
              <a:ext uri="{FF2B5EF4-FFF2-40B4-BE49-F238E27FC236}">
                <a16:creationId xmlns:a16="http://schemas.microsoft.com/office/drawing/2014/main" id="{42B8A743-1B2B-4CF6-1E29-B0AA9086D723}"/>
              </a:ext>
            </a:extLst>
          </p:cNvPr>
          <p:cNvSpPr/>
          <p:nvPr/>
        </p:nvSpPr>
        <p:spPr>
          <a:xfrm flipH="1">
            <a:off x="6531789" y="1021080"/>
            <a:ext cx="3409" cy="954850"/>
          </a:xfrm>
          <a:prstGeom prst="line">
            <a:avLst/>
          </a:prstGeom>
          <a:ln w="19050" cap="rnd">
            <a:solidFill>
              <a:srgbClr val="CDD4D8"/>
            </a:solidFill>
            <a:prstDash val="solid"/>
            <a:headEnd type="oval" w="lg" len="lg"/>
            <a:tailEnd type="none" w="sm" len="sm"/>
          </a:ln>
        </p:spPr>
        <p:txBody>
          <a:bodyPr/>
          <a:lstStyle/>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Rounded Corners 38">
            <a:extLst>
              <a:ext uri="{FF2B5EF4-FFF2-40B4-BE49-F238E27FC236}">
                <a16:creationId xmlns:a16="http://schemas.microsoft.com/office/drawing/2014/main" id="{EF64DFFC-3263-E773-F498-9CFE8AC100BE}"/>
              </a:ext>
            </a:extLst>
          </p:cNvPr>
          <p:cNvSpPr/>
          <p:nvPr/>
        </p:nvSpPr>
        <p:spPr>
          <a:xfrm>
            <a:off x="645442" y="1744062"/>
            <a:ext cx="6642104" cy="7696543"/>
          </a:xfrm>
          <a:prstGeom prst="roundRect">
            <a:avLst>
              <a:gd name="adj" fmla="val 12973"/>
            </a:avLst>
          </a:prstGeom>
          <a:solidFill>
            <a:srgbClr val="D9D9D9">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p:cNvGrpSpPr/>
          <p:nvPr/>
        </p:nvGrpSpPr>
        <p:grpSpPr>
          <a:xfrm rot="4711081">
            <a:off x="10509418" y="6099724"/>
            <a:ext cx="5828391" cy="12544882"/>
            <a:chOff x="0" y="0"/>
            <a:chExt cx="1535049" cy="3304002"/>
          </a:xfrm>
        </p:grpSpPr>
        <p:sp>
          <p:nvSpPr>
            <p:cNvPr id="3" name="Freeform 3"/>
            <p:cNvSpPr/>
            <p:nvPr/>
          </p:nvSpPr>
          <p:spPr>
            <a:xfrm>
              <a:off x="0" y="0"/>
              <a:ext cx="1535050" cy="3304002"/>
            </a:xfrm>
            <a:custGeom>
              <a:avLst/>
              <a:gdLst/>
              <a:ahLst/>
              <a:cxnLst/>
              <a:rect l="l" t="t" r="r" b="b"/>
              <a:pathLst>
                <a:path w="1535050" h="3304002">
                  <a:moveTo>
                    <a:pt x="0" y="0"/>
                  </a:moveTo>
                  <a:lnTo>
                    <a:pt x="1535050" y="0"/>
                  </a:lnTo>
                  <a:lnTo>
                    <a:pt x="1535050" y="3304002"/>
                  </a:lnTo>
                  <a:lnTo>
                    <a:pt x="0" y="3304002"/>
                  </a:lnTo>
                  <a:close/>
                </a:path>
              </a:pathLst>
            </a:custGeom>
            <a:solidFill>
              <a:srgbClr val="112041">
                <a:alpha val="76863"/>
              </a:srgbClr>
            </a:solidFill>
          </p:spPr>
          <p:txBody>
            <a:bodyPr/>
            <a:lstStyle/>
            <a:p>
              <a:endParaRPr lang="en-IN"/>
            </a:p>
          </p:txBody>
        </p:sp>
        <p:sp>
          <p:nvSpPr>
            <p:cNvPr id="4" name="TextBox 4"/>
            <p:cNvSpPr txBox="1"/>
            <p:nvPr/>
          </p:nvSpPr>
          <p:spPr>
            <a:xfrm>
              <a:off x="0" y="-85725"/>
              <a:ext cx="1535049" cy="3389727"/>
            </a:xfrm>
            <a:prstGeom prst="rect">
              <a:avLst/>
            </a:prstGeom>
          </p:spPr>
          <p:txBody>
            <a:bodyPr lIns="50800" tIns="50800" rIns="50800" bIns="50800" rtlCol="0" anchor="ctr"/>
            <a:lstStyle/>
            <a:p>
              <a:pPr algn="ctr">
                <a:lnSpc>
                  <a:spcPts val="2239"/>
                </a:lnSpc>
              </a:pPr>
              <a:endParaRPr/>
            </a:p>
          </p:txBody>
        </p:sp>
      </p:grpSp>
      <p:sp>
        <p:nvSpPr>
          <p:cNvPr id="27" name="Freeform 27"/>
          <p:cNvSpPr/>
          <p:nvPr/>
        </p:nvSpPr>
        <p:spPr>
          <a:xfrm>
            <a:off x="16815035" y="216974"/>
            <a:ext cx="811725" cy="811725"/>
          </a:xfrm>
          <a:custGeom>
            <a:avLst/>
            <a:gdLst/>
            <a:ahLst/>
            <a:cxnLst/>
            <a:rect l="l" t="t" r="r" b="b"/>
            <a:pathLst>
              <a:path w="811725" h="811725">
                <a:moveTo>
                  <a:pt x="0" y="0"/>
                </a:moveTo>
                <a:lnTo>
                  <a:pt x="811725" y="0"/>
                </a:lnTo>
                <a:lnTo>
                  <a:pt x="811725" y="811725"/>
                </a:lnTo>
                <a:lnTo>
                  <a:pt x="0" y="81172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dirty="0"/>
          </a:p>
        </p:txBody>
      </p:sp>
      <p:sp>
        <p:nvSpPr>
          <p:cNvPr id="28" name="Freeform 28"/>
          <p:cNvSpPr/>
          <p:nvPr/>
        </p:nvSpPr>
        <p:spPr>
          <a:xfrm>
            <a:off x="-1330114" y="9052317"/>
            <a:ext cx="3391074" cy="881046"/>
          </a:xfrm>
          <a:custGeom>
            <a:avLst/>
            <a:gdLst/>
            <a:ahLst/>
            <a:cxnLst/>
            <a:rect l="l" t="t" r="r" b="b"/>
            <a:pathLst>
              <a:path w="3391074" h="881046">
                <a:moveTo>
                  <a:pt x="0" y="0"/>
                </a:moveTo>
                <a:lnTo>
                  <a:pt x="3391074" y="0"/>
                </a:lnTo>
                <a:lnTo>
                  <a:pt x="3391074" y="881046"/>
                </a:lnTo>
                <a:lnTo>
                  <a:pt x="0" y="881046"/>
                </a:lnTo>
                <a:lnTo>
                  <a:pt x="0" y="0"/>
                </a:lnTo>
                <a:close/>
              </a:path>
            </a:pathLst>
          </a:custGeom>
          <a:blipFill>
            <a:blip>
              <a:alphaModFix amt="16000"/>
              <a:extLst>
                <a:ext uri="{96DAC541-7B7A-43D3-8B79-37D633B846F1}">
                  <asvg:svgBlip xmlns:asvg="http://schemas.microsoft.com/office/drawing/2016/SVG/main" r:embed="rId3"/>
                </a:ext>
              </a:extLst>
            </a:blip>
            <a:stretch>
              <a:fillRect t="-294587" b="-3326"/>
            </a:stretch>
          </a:blipFill>
        </p:spPr>
        <p:txBody>
          <a:bodyPr/>
          <a:lstStyle/>
          <a:p>
            <a:endParaRPr lang="en-IN"/>
          </a:p>
        </p:txBody>
      </p:sp>
      <p:sp>
        <p:nvSpPr>
          <p:cNvPr id="29" name="TextBox 29"/>
          <p:cNvSpPr txBox="1"/>
          <p:nvPr/>
        </p:nvSpPr>
        <p:spPr>
          <a:xfrm>
            <a:off x="1219200" y="467147"/>
            <a:ext cx="14859000" cy="928075"/>
          </a:xfrm>
          <a:prstGeom prst="rect">
            <a:avLst/>
          </a:prstGeom>
        </p:spPr>
        <p:txBody>
          <a:bodyPr wrap="square" lIns="0" tIns="0" rIns="0" bIns="0" rtlCol="0" anchor="t">
            <a:spAutoFit/>
          </a:bodyPr>
          <a:lstStyle/>
          <a:p>
            <a:pPr algn="l">
              <a:lnSpc>
                <a:spcPts val="7480"/>
              </a:lnSpc>
            </a:pPr>
            <a:r>
              <a:rPr lang="en-US" sz="6000" b="1" dirty="0">
                <a:solidFill>
                  <a:srgbClr val="0B0A0A"/>
                </a:solidFill>
                <a:latin typeface="Agrandir Bold"/>
                <a:ea typeface="Agrandir Bold"/>
                <a:cs typeface="Agrandir Bold"/>
                <a:sym typeface="Agrandir Bold"/>
              </a:rPr>
              <a:t>Potential Impacts &amp; Users  </a:t>
            </a:r>
          </a:p>
        </p:txBody>
      </p:sp>
      <p:sp>
        <p:nvSpPr>
          <p:cNvPr id="34" name="Freeform 34"/>
          <p:cNvSpPr/>
          <p:nvPr/>
        </p:nvSpPr>
        <p:spPr>
          <a:xfrm>
            <a:off x="6115303" y="-152530"/>
            <a:ext cx="2344486" cy="609129"/>
          </a:xfrm>
          <a:custGeom>
            <a:avLst/>
            <a:gdLst/>
            <a:ahLst/>
            <a:cxnLst/>
            <a:rect l="l" t="t" r="r" b="b"/>
            <a:pathLst>
              <a:path w="2344486" h="609129">
                <a:moveTo>
                  <a:pt x="0" y="0"/>
                </a:moveTo>
                <a:lnTo>
                  <a:pt x="2344486" y="0"/>
                </a:lnTo>
                <a:lnTo>
                  <a:pt x="2344486" y="609129"/>
                </a:lnTo>
                <a:lnTo>
                  <a:pt x="0" y="609129"/>
                </a:lnTo>
                <a:lnTo>
                  <a:pt x="0" y="0"/>
                </a:lnTo>
                <a:close/>
              </a:path>
            </a:pathLst>
          </a:custGeom>
          <a:blipFill>
            <a:blip>
              <a:alphaModFix amt="16000"/>
              <a:extLst>
                <a:ext uri="{96DAC541-7B7A-43D3-8B79-37D633B846F1}">
                  <asvg:svgBlip xmlns:asvg="http://schemas.microsoft.com/office/drawing/2016/SVG/main" r:embed="rId3"/>
                </a:ext>
              </a:extLst>
            </a:blip>
            <a:stretch>
              <a:fillRect t="-294587" b="-3326"/>
            </a:stretch>
          </a:blipFill>
        </p:spPr>
        <p:txBody>
          <a:bodyPr/>
          <a:lstStyle/>
          <a:p>
            <a:endParaRPr lang="en-IN"/>
          </a:p>
        </p:txBody>
      </p:sp>
      <p:sp>
        <p:nvSpPr>
          <p:cNvPr id="35" name="Freeform 35"/>
          <p:cNvSpPr/>
          <p:nvPr/>
        </p:nvSpPr>
        <p:spPr>
          <a:xfrm rot="-5400000">
            <a:off x="141610" y="437755"/>
            <a:ext cx="447626" cy="1181889"/>
          </a:xfrm>
          <a:custGeom>
            <a:avLst/>
            <a:gdLst/>
            <a:ahLst/>
            <a:cxnLst/>
            <a:rect l="l" t="t" r="r" b="b"/>
            <a:pathLst>
              <a:path w="447626" h="1181889">
                <a:moveTo>
                  <a:pt x="0" y="0"/>
                </a:moveTo>
                <a:lnTo>
                  <a:pt x="447626" y="0"/>
                </a:lnTo>
                <a:lnTo>
                  <a:pt x="447626" y="1181890"/>
                </a:lnTo>
                <a:lnTo>
                  <a:pt x="0" y="118189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37" name="Rectangle: Rounded Corners 36">
            <a:extLst>
              <a:ext uri="{FF2B5EF4-FFF2-40B4-BE49-F238E27FC236}">
                <a16:creationId xmlns:a16="http://schemas.microsoft.com/office/drawing/2014/main" id="{0C5AA240-B42D-1F12-482C-A8B1365462FA}"/>
              </a:ext>
            </a:extLst>
          </p:cNvPr>
          <p:cNvSpPr/>
          <p:nvPr/>
        </p:nvSpPr>
        <p:spPr>
          <a:xfrm>
            <a:off x="661240" y="2762215"/>
            <a:ext cx="6610508" cy="6703480"/>
          </a:xfrm>
          <a:prstGeom prst="roundRect">
            <a:avLst>
              <a:gd name="adj" fmla="val 10799"/>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900" b="1" dirty="0">
                <a:solidFill>
                  <a:schemeClr val="tx1"/>
                </a:solidFill>
              </a:rPr>
              <a:t>Fewer Stockouts: </a:t>
            </a:r>
            <a:r>
              <a:rPr lang="en-IN" sz="2900" dirty="0">
                <a:solidFill>
                  <a:schemeClr val="tx1"/>
                </a:solidFill>
              </a:rPr>
              <a:t>Better forecasting helps maintain medicine availability. </a:t>
            </a:r>
          </a:p>
          <a:p>
            <a:endParaRPr lang="en-IN" sz="2900" dirty="0">
              <a:solidFill>
                <a:schemeClr val="tx1"/>
              </a:solidFill>
            </a:endParaRPr>
          </a:p>
          <a:p>
            <a:r>
              <a:rPr lang="en-IN" sz="2900" b="1" dirty="0">
                <a:solidFill>
                  <a:schemeClr val="tx1"/>
                </a:solidFill>
              </a:rPr>
              <a:t>Reduced Overstock:</a:t>
            </a:r>
            <a:r>
              <a:rPr lang="en-IN" sz="2900" dirty="0">
                <a:solidFill>
                  <a:schemeClr val="tx1"/>
                </a:solidFill>
              </a:rPr>
              <a:t> Avoids unnecessary inventory and expiry risk. </a:t>
            </a:r>
          </a:p>
          <a:p>
            <a:endParaRPr lang="en-IN" sz="2900" dirty="0">
              <a:solidFill>
                <a:schemeClr val="tx1"/>
              </a:solidFill>
            </a:endParaRPr>
          </a:p>
          <a:p>
            <a:r>
              <a:rPr lang="en-IN" sz="2900" b="1" dirty="0">
                <a:solidFill>
                  <a:schemeClr val="tx1"/>
                </a:solidFill>
              </a:rPr>
              <a:t>Faster Decisions: </a:t>
            </a:r>
            <a:r>
              <a:rPr lang="en-IN" sz="2900" dirty="0">
                <a:solidFill>
                  <a:schemeClr val="tx1"/>
                </a:solidFill>
              </a:rPr>
              <a:t>Provides clear, actionable ordering recommendations. </a:t>
            </a:r>
          </a:p>
          <a:p>
            <a:endParaRPr lang="en-IN" sz="2900" dirty="0">
              <a:solidFill>
                <a:schemeClr val="tx1"/>
              </a:solidFill>
            </a:endParaRPr>
          </a:p>
          <a:p>
            <a:r>
              <a:rPr lang="en-IN" sz="2900" b="1" dirty="0">
                <a:solidFill>
                  <a:schemeClr val="tx1"/>
                </a:solidFill>
              </a:rPr>
              <a:t>Better Inventory Planning: </a:t>
            </a:r>
            <a:r>
              <a:rPr lang="en-IN" sz="2900" dirty="0">
                <a:solidFill>
                  <a:schemeClr val="tx1"/>
                </a:solidFill>
              </a:rPr>
              <a:t>Supports daily, weekly and monthly stocking decisions.</a:t>
            </a:r>
            <a:endParaRPr lang="en-IN" sz="2900" b="1" dirty="0">
              <a:solidFill>
                <a:schemeClr val="tx1"/>
              </a:solidFill>
            </a:endParaRPr>
          </a:p>
        </p:txBody>
      </p:sp>
      <p:sp>
        <p:nvSpPr>
          <p:cNvPr id="38" name="TextBox 37">
            <a:extLst>
              <a:ext uri="{FF2B5EF4-FFF2-40B4-BE49-F238E27FC236}">
                <a16:creationId xmlns:a16="http://schemas.microsoft.com/office/drawing/2014/main" id="{694E5E75-0FAC-9F4B-9844-A6D2BB8A254C}"/>
              </a:ext>
            </a:extLst>
          </p:cNvPr>
          <p:cNvSpPr txBox="1"/>
          <p:nvPr/>
        </p:nvSpPr>
        <p:spPr>
          <a:xfrm>
            <a:off x="365423" y="2081871"/>
            <a:ext cx="7039338" cy="615553"/>
          </a:xfrm>
          <a:prstGeom prst="rect">
            <a:avLst/>
          </a:prstGeom>
          <a:noFill/>
        </p:spPr>
        <p:txBody>
          <a:bodyPr wrap="square" rtlCol="0">
            <a:spAutoFit/>
          </a:bodyPr>
          <a:lstStyle/>
          <a:p>
            <a:pPr algn="ctr"/>
            <a:r>
              <a:rPr lang="en-IN" sz="3400" b="1" dirty="0"/>
              <a:t>Impact on Pharmacy Operations</a:t>
            </a:r>
          </a:p>
        </p:txBody>
      </p:sp>
      <p:sp>
        <p:nvSpPr>
          <p:cNvPr id="40" name="Rectangle: Rounded Corners 39">
            <a:extLst>
              <a:ext uri="{FF2B5EF4-FFF2-40B4-BE49-F238E27FC236}">
                <a16:creationId xmlns:a16="http://schemas.microsoft.com/office/drawing/2014/main" id="{15D0B79E-BF23-7F70-B575-AF0B26CA63AC}"/>
              </a:ext>
            </a:extLst>
          </p:cNvPr>
          <p:cNvSpPr/>
          <p:nvPr/>
        </p:nvSpPr>
        <p:spPr>
          <a:xfrm>
            <a:off x="8504435" y="2247900"/>
            <a:ext cx="4373366" cy="358140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The Purchasing Buyer</a:t>
            </a:r>
          </a:p>
          <a:p>
            <a:pPr algn="ctr"/>
            <a:endParaRPr lang="en-IN" sz="2400" b="1" dirty="0">
              <a:solidFill>
                <a:schemeClr val="tx1"/>
              </a:solidFill>
            </a:endParaRPr>
          </a:p>
          <a:p>
            <a:pPr algn="ctr"/>
            <a:r>
              <a:rPr lang="en-IN" sz="2400" dirty="0">
                <a:solidFill>
                  <a:schemeClr val="tx1"/>
                </a:solidFill>
              </a:rPr>
              <a:t> “What should I order?” Gets the recommended order quantity, service level and risk. Decisions → Order</a:t>
            </a:r>
          </a:p>
        </p:txBody>
      </p:sp>
      <p:sp>
        <p:nvSpPr>
          <p:cNvPr id="41" name="Rectangle: Rounded Corners 40">
            <a:extLst>
              <a:ext uri="{FF2B5EF4-FFF2-40B4-BE49-F238E27FC236}">
                <a16:creationId xmlns:a16="http://schemas.microsoft.com/office/drawing/2014/main" id="{3A0C782F-48C0-0C59-55F9-25334CB010B5}"/>
              </a:ext>
            </a:extLst>
          </p:cNvPr>
          <p:cNvSpPr/>
          <p:nvPr/>
        </p:nvSpPr>
        <p:spPr>
          <a:xfrm>
            <a:off x="13253394" y="2247900"/>
            <a:ext cx="4373366" cy="3581400"/>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The Pharmacy Owner </a:t>
            </a:r>
          </a:p>
          <a:p>
            <a:pPr algn="ctr"/>
            <a:endParaRPr lang="en-IN" sz="2400" b="1" dirty="0">
              <a:solidFill>
                <a:schemeClr val="tx1"/>
              </a:solidFill>
            </a:endParaRPr>
          </a:p>
          <a:p>
            <a:pPr algn="ctr"/>
            <a:r>
              <a:rPr lang="en-IN" sz="2400" dirty="0">
                <a:solidFill>
                  <a:schemeClr val="tx1"/>
                </a:solidFill>
              </a:rPr>
              <a:t>“Is my capital in the right stock?” Reviews inventory costs, risks and business impact. Risk → Replay</a:t>
            </a:r>
          </a:p>
        </p:txBody>
      </p:sp>
      <p:sp>
        <p:nvSpPr>
          <p:cNvPr id="42" name="Rectangle: Rounded Corners 41">
            <a:extLst>
              <a:ext uri="{FF2B5EF4-FFF2-40B4-BE49-F238E27FC236}">
                <a16:creationId xmlns:a16="http://schemas.microsoft.com/office/drawing/2014/main" id="{5811E8DF-708B-3421-ECF6-FEA593FFAED7}"/>
              </a:ext>
            </a:extLst>
          </p:cNvPr>
          <p:cNvSpPr/>
          <p:nvPr/>
        </p:nvSpPr>
        <p:spPr>
          <a:xfrm>
            <a:off x="11000456" y="6108092"/>
            <a:ext cx="4114800" cy="3332513"/>
          </a:xfrm>
          <a:prstGeom prst="round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solidFill>
                  <a:schemeClr val="tx1"/>
                </a:solidFill>
              </a:rPr>
              <a:t>The Decision Maker</a:t>
            </a:r>
          </a:p>
          <a:p>
            <a:pPr algn="ctr"/>
            <a:endParaRPr lang="en-IN" sz="2400" b="1" dirty="0">
              <a:solidFill>
                <a:schemeClr val="tx1"/>
              </a:solidFill>
            </a:endParaRPr>
          </a:p>
          <a:p>
            <a:pPr algn="ctr"/>
            <a:r>
              <a:rPr lang="en-IN" sz="2400" dirty="0">
                <a:solidFill>
                  <a:schemeClr val="tx1"/>
                </a:solidFill>
              </a:rPr>
              <a:t> “Why should I trust this?” Checks accuracy, calibration and forecast explanations. Why → Evidence</a:t>
            </a:r>
          </a:p>
        </p:txBody>
      </p:sp>
      <p:sp>
        <p:nvSpPr>
          <p:cNvPr id="36" name="Freeform 36"/>
          <p:cNvSpPr/>
          <p:nvPr/>
        </p:nvSpPr>
        <p:spPr>
          <a:xfrm rot="-5400000">
            <a:off x="6944880" y="8562396"/>
            <a:ext cx="302714" cy="799270"/>
          </a:xfrm>
          <a:custGeom>
            <a:avLst/>
            <a:gdLst/>
            <a:ahLst/>
            <a:cxnLst/>
            <a:rect l="l" t="t" r="r" b="b"/>
            <a:pathLst>
              <a:path w="302714" h="799270">
                <a:moveTo>
                  <a:pt x="0" y="0"/>
                </a:moveTo>
                <a:lnTo>
                  <a:pt x="302713" y="0"/>
                </a:lnTo>
                <a:lnTo>
                  <a:pt x="302713" y="799270"/>
                </a:lnTo>
                <a:lnTo>
                  <a:pt x="0" y="7992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5539503" y="2324103"/>
            <a:ext cx="9280470" cy="7149707"/>
            <a:chOff x="0" y="-99529"/>
            <a:chExt cx="1457151" cy="817943"/>
          </a:xfrm>
        </p:grpSpPr>
        <p:sp>
          <p:nvSpPr>
            <p:cNvPr id="8" name="Freeform 8"/>
            <p:cNvSpPr/>
            <p:nvPr/>
          </p:nvSpPr>
          <p:spPr>
            <a:xfrm>
              <a:off x="0" y="-35706"/>
              <a:ext cx="1457151" cy="754120"/>
            </a:xfrm>
            <a:custGeom>
              <a:avLst/>
              <a:gdLst/>
              <a:ahLst/>
              <a:cxnLst/>
              <a:rect l="l" t="t" r="r" b="b"/>
              <a:pathLst>
                <a:path w="1457151" h="718414">
                  <a:moveTo>
                    <a:pt x="1457151" y="48977"/>
                  </a:moveTo>
                  <a:lnTo>
                    <a:pt x="1457151" y="669437"/>
                  </a:lnTo>
                  <a:cubicBezTo>
                    <a:pt x="1457151" y="696486"/>
                    <a:pt x="1435223" y="718414"/>
                    <a:pt x="1408173" y="718414"/>
                  </a:cubicBezTo>
                  <a:lnTo>
                    <a:pt x="48977" y="718414"/>
                  </a:lnTo>
                  <a:cubicBezTo>
                    <a:pt x="35988" y="718414"/>
                    <a:pt x="23530" y="713254"/>
                    <a:pt x="14345" y="704069"/>
                  </a:cubicBezTo>
                  <a:cubicBezTo>
                    <a:pt x="5160" y="694884"/>
                    <a:pt x="0" y="682426"/>
                    <a:pt x="0" y="669437"/>
                  </a:cubicBezTo>
                  <a:lnTo>
                    <a:pt x="0" y="48977"/>
                  </a:lnTo>
                  <a:cubicBezTo>
                    <a:pt x="0" y="35988"/>
                    <a:pt x="5160" y="23530"/>
                    <a:pt x="14345" y="14345"/>
                  </a:cubicBezTo>
                  <a:cubicBezTo>
                    <a:pt x="23530" y="5160"/>
                    <a:pt x="35988" y="0"/>
                    <a:pt x="48977" y="0"/>
                  </a:cubicBezTo>
                  <a:lnTo>
                    <a:pt x="1408173" y="0"/>
                  </a:lnTo>
                  <a:cubicBezTo>
                    <a:pt x="1421163" y="0"/>
                    <a:pt x="1433621" y="5160"/>
                    <a:pt x="1442806" y="14345"/>
                  </a:cubicBezTo>
                  <a:cubicBezTo>
                    <a:pt x="1451991" y="23530"/>
                    <a:pt x="1457151" y="35988"/>
                    <a:pt x="1457151" y="48977"/>
                  </a:cubicBezTo>
                  <a:close/>
                </a:path>
              </a:pathLst>
            </a:custGeom>
            <a:solidFill>
              <a:schemeClr val="accent1">
                <a:lumMod val="50000"/>
              </a:schemeClr>
            </a:solidFill>
            <a:ln>
              <a:solidFill>
                <a:schemeClr val="tx2">
                  <a:lumMod val="60000"/>
                  <a:lumOff val="40000"/>
                </a:schemeClr>
              </a:solidFill>
            </a:ln>
          </p:spPr>
          <p:txBody>
            <a:bodyPr/>
            <a:lstStyle/>
            <a:p>
              <a:endParaRPr lang="en-IN" dirty="0"/>
            </a:p>
          </p:txBody>
        </p:sp>
        <p:sp>
          <p:nvSpPr>
            <p:cNvPr id="9" name="TextBox 9"/>
            <p:cNvSpPr txBox="1"/>
            <p:nvPr/>
          </p:nvSpPr>
          <p:spPr>
            <a:xfrm>
              <a:off x="0" y="-99529"/>
              <a:ext cx="1457151" cy="817943"/>
            </a:xfrm>
            <a:prstGeom prst="rect">
              <a:avLst/>
            </a:prstGeom>
            <a:ln>
              <a:solidFill>
                <a:schemeClr val="tx2">
                  <a:lumMod val="60000"/>
                  <a:lumOff val="40000"/>
                </a:schemeClr>
              </a:solidFill>
            </a:ln>
          </p:spPr>
          <p:txBody>
            <a:bodyPr lIns="50800" tIns="50800" rIns="50800" bIns="50800" rtlCol="0" anchor="ctr"/>
            <a:lstStyle/>
            <a:p>
              <a:pPr algn="ctr">
                <a:lnSpc>
                  <a:spcPts val="3306"/>
                </a:lnSpc>
              </a:pPr>
              <a:endParaRPr/>
            </a:p>
          </p:txBody>
        </p:sp>
      </p:grpSp>
      <p:sp>
        <p:nvSpPr>
          <p:cNvPr id="10" name="Freeform 10"/>
          <p:cNvSpPr/>
          <p:nvPr/>
        </p:nvSpPr>
        <p:spPr>
          <a:xfrm>
            <a:off x="16595791" y="492019"/>
            <a:ext cx="2174549" cy="751208"/>
          </a:xfrm>
          <a:custGeom>
            <a:avLst/>
            <a:gdLst/>
            <a:ahLst/>
            <a:cxnLst/>
            <a:rect l="l" t="t" r="r" b="b"/>
            <a:pathLst>
              <a:path w="2174549" h="751208">
                <a:moveTo>
                  <a:pt x="0" y="0"/>
                </a:moveTo>
                <a:lnTo>
                  <a:pt x="2174549" y="0"/>
                </a:lnTo>
                <a:lnTo>
                  <a:pt x="2174549" y="751208"/>
                </a:lnTo>
                <a:lnTo>
                  <a:pt x="0" y="751208"/>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rot="549406">
            <a:off x="17369553" y="-412200"/>
            <a:ext cx="2590371" cy="11191157"/>
            <a:chOff x="0" y="0"/>
            <a:chExt cx="682238" cy="2947465"/>
          </a:xfrm>
        </p:grpSpPr>
        <p:sp>
          <p:nvSpPr>
            <p:cNvPr id="12" name="Freeform 12"/>
            <p:cNvSpPr/>
            <p:nvPr/>
          </p:nvSpPr>
          <p:spPr>
            <a:xfrm>
              <a:off x="0" y="0"/>
              <a:ext cx="682238" cy="2947465"/>
            </a:xfrm>
            <a:custGeom>
              <a:avLst/>
              <a:gdLst/>
              <a:ahLst/>
              <a:cxnLst/>
              <a:rect l="l" t="t" r="r" b="b"/>
              <a:pathLst>
                <a:path w="682238" h="2947465">
                  <a:moveTo>
                    <a:pt x="0" y="0"/>
                  </a:moveTo>
                  <a:lnTo>
                    <a:pt x="682238" y="0"/>
                  </a:lnTo>
                  <a:lnTo>
                    <a:pt x="682238" y="2947465"/>
                  </a:lnTo>
                  <a:lnTo>
                    <a:pt x="0" y="2947465"/>
                  </a:lnTo>
                  <a:close/>
                </a:path>
              </a:pathLst>
            </a:custGeom>
            <a:solidFill>
              <a:srgbClr val="112041">
                <a:alpha val="76863"/>
              </a:srgbClr>
            </a:solidFill>
          </p:spPr>
          <p:txBody>
            <a:bodyPr/>
            <a:lstStyle/>
            <a:p>
              <a:endParaRPr lang="en-IN"/>
            </a:p>
          </p:txBody>
        </p:sp>
        <p:sp>
          <p:nvSpPr>
            <p:cNvPr id="13" name="TextBox 13"/>
            <p:cNvSpPr txBox="1"/>
            <p:nvPr/>
          </p:nvSpPr>
          <p:spPr>
            <a:xfrm>
              <a:off x="0" y="-85725"/>
              <a:ext cx="682238" cy="3033190"/>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rot="1258952">
            <a:off x="-874767" y="-609520"/>
            <a:ext cx="1789592" cy="4968696"/>
            <a:chOff x="0" y="0"/>
            <a:chExt cx="471333" cy="1308628"/>
          </a:xfrm>
        </p:grpSpPr>
        <p:sp>
          <p:nvSpPr>
            <p:cNvPr id="15" name="Freeform 15"/>
            <p:cNvSpPr/>
            <p:nvPr/>
          </p:nvSpPr>
          <p:spPr>
            <a:xfrm>
              <a:off x="0" y="0"/>
              <a:ext cx="471333" cy="1308628"/>
            </a:xfrm>
            <a:custGeom>
              <a:avLst/>
              <a:gdLst/>
              <a:ahLst/>
              <a:cxnLst/>
              <a:rect l="l" t="t" r="r" b="b"/>
              <a:pathLst>
                <a:path w="471333" h="1308628">
                  <a:moveTo>
                    <a:pt x="0" y="0"/>
                  </a:moveTo>
                  <a:lnTo>
                    <a:pt x="471333" y="0"/>
                  </a:lnTo>
                  <a:lnTo>
                    <a:pt x="471333" y="1308628"/>
                  </a:lnTo>
                  <a:lnTo>
                    <a:pt x="0" y="1308628"/>
                  </a:lnTo>
                  <a:close/>
                </a:path>
              </a:pathLst>
            </a:custGeom>
            <a:solidFill>
              <a:srgbClr val="112041">
                <a:alpha val="76863"/>
              </a:srgbClr>
            </a:solidFill>
          </p:spPr>
          <p:txBody>
            <a:bodyPr/>
            <a:lstStyle/>
            <a:p>
              <a:endParaRPr lang="en-IN"/>
            </a:p>
          </p:txBody>
        </p:sp>
        <p:sp>
          <p:nvSpPr>
            <p:cNvPr id="16" name="TextBox 16"/>
            <p:cNvSpPr txBox="1"/>
            <p:nvPr/>
          </p:nvSpPr>
          <p:spPr>
            <a:xfrm>
              <a:off x="0" y="-85725"/>
              <a:ext cx="471333" cy="1394353"/>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579481" y="9061775"/>
            <a:ext cx="2174549" cy="751208"/>
          </a:xfrm>
          <a:custGeom>
            <a:avLst/>
            <a:gdLst/>
            <a:ahLst/>
            <a:cxnLst/>
            <a:rect l="l" t="t" r="r" b="b"/>
            <a:pathLst>
              <a:path w="2174549" h="751208">
                <a:moveTo>
                  <a:pt x="0" y="0"/>
                </a:moveTo>
                <a:lnTo>
                  <a:pt x="2174549" y="0"/>
                </a:lnTo>
                <a:lnTo>
                  <a:pt x="2174549" y="751207"/>
                </a:lnTo>
                <a:lnTo>
                  <a:pt x="0" y="751207"/>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en-IN"/>
          </a:p>
        </p:txBody>
      </p:sp>
      <p:sp>
        <p:nvSpPr>
          <p:cNvPr id="18" name="Freeform 18"/>
          <p:cNvSpPr/>
          <p:nvPr/>
        </p:nvSpPr>
        <p:spPr>
          <a:xfrm>
            <a:off x="1232609" y="698037"/>
            <a:ext cx="1024972" cy="169586"/>
          </a:xfrm>
          <a:custGeom>
            <a:avLst/>
            <a:gdLst/>
            <a:ahLst/>
            <a:cxnLst/>
            <a:rect l="l" t="t" r="r" b="b"/>
            <a:pathLst>
              <a:path w="1024972" h="169586">
                <a:moveTo>
                  <a:pt x="0" y="0"/>
                </a:moveTo>
                <a:lnTo>
                  <a:pt x="1024971" y="0"/>
                </a:lnTo>
                <a:lnTo>
                  <a:pt x="1024971" y="169586"/>
                </a:lnTo>
                <a:lnTo>
                  <a:pt x="0" y="1695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9" name="Freeform 19"/>
          <p:cNvSpPr/>
          <p:nvPr/>
        </p:nvSpPr>
        <p:spPr>
          <a:xfrm>
            <a:off x="9448800" y="9848704"/>
            <a:ext cx="1024972" cy="169586"/>
          </a:xfrm>
          <a:custGeom>
            <a:avLst/>
            <a:gdLst/>
            <a:ahLst/>
            <a:cxnLst/>
            <a:rect l="l" t="t" r="r" b="b"/>
            <a:pathLst>
              <a:path w="1024972" h="169586">
                <a:moveTo>
                  <a:pt x="0" y="0"/>
                </a:moveTo>
                <a:lnTo>
                  <a:pt x="1024971" y="0"/>
                </a:lnTo>
                <a:lnTo>
                  <a:pt x="1024971" y="169586"/>
                </a:lnTo>
                <a:lnTo>
                  <a:pt x="0" y="16958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3" name="TextBox 23"/>
          <p:cNvSpPr txBox="1"/>
          <p:nvPr/>
        </p:nvSpPr>
        <p:spPr>
          <a:xfrm>
            <a:off x="2590800" y="1201608"/>
            <a:ext cx="12465042" cy="1305486"/>
          </a:xfrm>
          <a:prstGeom prst="rect">
            <a:avLst/>
          </a:prstGeom>
        </p:spPr>
        <p:txBody>
          <a:bodyPr wrap="square" lIns="0" tIns="0" rIns="0" bIns="0" rtlCol="0" anchor="t">
            <a:spAutoFit/>
          </a:bodyPr>
          <a:lstStyle/>
          <a:p>
            <a:pPr algn="just">
              <a:lnSpc>
                <a:spcPts val="8160"/>
              </a:lnSpc>
            </a:pPr>
            <a:r>
              <a:rPr lang="en-US" sz="15000" b="1" dirty="0">
                <a:solidFill>
                  <a:srgbClr val="0B0A0A"/>
                </a:solidFill>
                <a:latin typeface="Agrandir Bold"/>
                <a:ea typeface="Agrandir Bold"/>
                <a:cs typeface="Agrandir Bold"/>
                <a:sym typeface="Agrandir Bold"/>
              </a:rPr>
              <a:t>Thank You</a:t>
            </a:r>
          </a:p>
        </p:txBody>
      </p:sp>
      <p:sp>
        <p:nvSpPr>
          <p:cNvPr id="28" name="TextBox 28"/>
          <p:cNvSpPr txBox="1"/>
          <p:nvPr/>
        </p:nvSpPr>
        <p:spPr>
          <a:xfrm>
            <a:off x="3223707" y="7884047"/>
            <a:ext cx="4631593" cy="424815"/>
          </a:xfrm>
          <a:prstGeom prst="rect">
            <a:avLst/>
          </a:prstGeom>
        </p:spPr>
        <p:txBody>
          <a:bodyPr lIns="0" tIns="0" rIns="0" bIns="0" rtlCol="0" anchor="t">
            <a:spAutoFit/>
          </a:bodyPr>
          <a:lstStyle/>
          <a:p>
            <a:pPr marL="0" lvl="1" indent="0" algn="l">
              <a:lnSpc>
                <a:spcPts val="3359"/>
              </a:lnSpc>
              <a:spcBef>
                <a:spcPct val="0"/>
              </a:spcBef>
            </a:pPr>
            <a:r>
              <a:rPr lang="en-US" sz="2400" b="1" u="none" strike="noStrike" dirty="0">
                <a:solidFill>
                  <a:srgbClr val="FFFFFF"/>
                </a:solidFill>
                <a:latin typeface="Poppins Medium"/>
                <a:ea typeface="Poppins Medium"/>
                <a:cs typeface="Poppins Medium"/>
                <a:sym typeface="Poppins Medium"/>
              </a:rPr>
              <a:t> </a:t>
            </a:r>
          </a:p>
        </p:txBody>
      </p:sp>
      <p:sp>
        <p:nvSpPr>
          <p:cNvPr id="30" name="TextBox 29">
            <a:extLst>
              <a:ext uri="{FF2B5EF4-FFF2-40B4-BE49-F238E27FC236}">
                <a16:creationId xmlns:a16="http://schemas.microsoft.com/office/drawing/2014/main" id="{4EF3F9EC-C9B2-51AD-BA3F-4DC8AB5A7CE2}"/>
              </a:ext>
            </a:extLst>
          </p:cNvPr>
          <p:cNvSpPr txBox="1"/>
          <p:nvPr/>
        </p:nvSpPr>
        <p:spPr>
          <a:xfrm>
            <a:off x="6376159" y="3160052"/>
            <a:ext cx="11306906" cy="5925340"/>
          </a:xfrm>
          <a:prstGeom prst="rect">
            <a:avLst/>
          </a:prstGeom>
          <a:noFill/>
        </p:spPr>
        <p:txBody>
          <a:bodyPr wrap="square">
            <a:spAutoFit/>
          </a:bodyPr>
          <a:lstStyle/>
          <a:p>
            <a:pPr>
              <a:lnSpc>
                <a:spcPct val="150000"/>
              </a:lnSpc>
            </a:pPr>
            <a:r>
              <a:rPr lang="en-IN" sz="3200" b="1" dirty="0">
                <a:solidFill>
                  <a:schemeClr val="bg1"/>
                </a:solidFill>
              </a:rPr>
              <a:t>Yash Kailas Doke                      8236346</a:t>
            </a:r>
          </a:p>
          <a:p>
            <a:pPr>
              <a:lnSpc>
                <a:spcPct val="150000"/>
              </a:lnSpc>
            </a:pPr>
            <a:r>
              <a:rPr lang="en-IN" sz="3200" b="1" dirty="0" err="1">
                <a:solidFill>
                  <a:schemeClr val="bg1"/>
                </a:solidFill>
              </a:rPr>
              <a:t>Yadni</a:t>
            </a:r>
            <a:r>
              <a:rPr lang="en-IN" sz="3200" b="1" dirty="0">
                <a:solidFill>
                  <a:schemeClr val="bg1"/>
                </a:solidFill>
              </a:rPr>
              <a:t> Prabhakar Mali             8243735</a:t>
            </a:r>
          </a:p>
          <a:p>
            <a:pPr>
              <a:lnSpc>
                <a:spcPct val="150000"/>
              </a:lnSpc>
            </a:pPr>
            <a:r>
              <a:rPr lang="en-IN" sz="3200" b="1" dirty="0">
                <a:solidFill>
                  <a:schemeClr val="bg1"/>
                </a:solidFill>
              </a:rPr>
              <a:t>Arya Jitendra Chandak           8246760</a:t>
            </a:r>
          </a:p>
          <a:p>
            <a:pPr>
              <a:lnSpc>
                <a:spcPct val="150000"/>
              </a:lnSpc>
            </a:pPr>
            <a:r>
              <a:rPr lang="en-IN" sz="3200" b="1" dirty="0">
                <a:solidFill>
                  <a:schemeClr val="bg1"/>
                </a:solidFill>
              </a:rPr>
              <a:t>Shruti Sachin Chavan             8243636</a:t>
            </a:r>
          </a:p>
          <a:p>
            <a:pPr>
              <a:lnSpc>
                <a:spcPct val="150000"/>
              </a:lnSpc>
            </a:pPr>
            <a:r>
              <a:rPr lang="en-IN" sz="3200" b="1" dirty="0">
                <a:solidFill>
                  <a:schemeClr val="bg1"/>
                </a:solidFill>
              </a:rPr>
              <a:t>Samiksha Nitin Gaikwad       7873346</a:t>
            </a:r>
          </a:p>
          <a:p>
            <a:pPr>
              <a:lnSpc>
                <a:spcPct val="150000"/>
              </a:lnSpc>
            </a:pPr>
            <a:r>
              <a:rPr lang="en-IN" sz="3200" b="1" dirty="0">
                <a:solidFill>
                  <a:schemeClr val="bg1"/>
                </a:solidFill>
              </a:rPr>
              <a:t>Sanika Ashok Misal                 8180859</a:t>
            </a:r>
          </a:p>
          <a:p>
            <a:pPr>
              <a:lnSpc>
                <a:spcPct val="150000"/>
              </a:lnSpc>
            </a:pPr>
            <a:r>
              <a:rPr lang="en-IN" sz="3200" b="1" dirty="0">
                <a:solidFill>
                  <a:schemeClr val="bg1"/>
                </a:solidFill>
              </a:rPr>
              <a:t>Sarvesh Rajesh </a:t>
            </a:r>
            <a:r>
              <a:rPr lang="en-IN" sz="3200" b="1" dirty="0" err="1">
                <a:solidFill>
                  <a:schemeClr val="bg1"/>
                </a:solidFill>
              </a:rPr>
              <a:t>Nagawade</a:t>
            </a:r>
            <a:r>
              <a:rPr lang="en-IN" sz="3200" b="1" dirty="0">
                <a:solidFill>
                  <a:schemeClr val="bg1"/>
                </a:solidFill>
              </a:rPr>
              <a:t>    8245178</a:t>
            </a:r>
          </a:p>
          <a:p>
            <a:pPr>
              <a:lnSpc>
                <a:spcPct val="150000"/>
              </a:lnSpc>
            </a:pPr>
            <a:r>
              <a:rPr lang="en-IN" sz="3200" b="1" dirty="0">
                <a:solidFill>
                  <a:schemeClr val="bg1"/>
                </a:solidFill>
              </a:rPr>
              <a:t>Bajrang </a:t>
            </a:r>
            <a:r>
              <a:rPr lang="en-IN" sz="3200" b="1" dirty="0" err="1">
                <a:solidFill>
                  <a:schemeClr val="bg1"/>
                </a:solidFill>
              </a:rPr>
              <a:t>Yelure</a:t>
            </a:r>
            <a:r>
              <a:rPr lang="en-IN" sz="3200" b="1" dirty="0">
                <a:solidFill>
                  <a:schemeClr val="bg1"/>
                </a:solidFill>
              </a:rPr>
              <a:t>                         8232476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180</TotalTime>
  <Words>711</Words>
  <Application>Microsoft Office PowerPoint</Application>
  <PresentationFormat>Custom</PresentationFormat>
  <Paragraphs>103</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Agrandir Bold</vt:lpstr>
      <vt:lpstr>Poppins Semi-Bold</vt:lpstr>
      <vt:lpstr>Calibri</vt:lpstr>
      <vt:lpstr>Poppins Bold</vt:lpstr>
      <vt:lpstr>Poppins</vt:lpstr>
      <vt:lpstr>Poppins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Navy and White Modern Business Pitch Deck Presentation</dc:title>
  <cp:lastModifiedBy>Shruti Chavan</cp:lastModifiedBy>
  <cp:revision>2</cp:revision>
  <dcterms:created xsi:type="dcterms:W3CDTF">2006-08-16T00:00:00Z</dcterms:created>
  <dcterms:modified xsi:type="dcterms:W3CDTF">2026-09-02T16:55:53Z</dcterms:modified>
  <dc:identifier>DAHUDSz4WVA</dc:identifier>
</cp:coreProperties>
</file>