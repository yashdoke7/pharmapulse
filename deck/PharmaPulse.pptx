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Do not read the slide. Say: every pharmacy makes this decision every week, from memory or a spreadsheet - this is what it looks like when you calculate it instead. The USP is the last box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Everything a judge will ask - where did the cost data come from, how do you know the stock level - traces back to that row, and the lanes slide is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maths is not the novelty - shipping it is. Walk the five boxes left to right; that is the entire product in one line. Note step 4: the shelf position is live, not a stored field, so accepting an order changes the next recommendation.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buyer first. The whole product is built for ten minutes on a Monday morning; the other two roles exist so that somebody will let the buyer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narrate the screen. One sentence - it opens on what needs a decision, ranked by rupees - then move. The live demo is where this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demo moment. Drag from 80 to 95 and let them watch the quantity and the cost move together. Then say: that is the newsvendor formula from three slides ago, and nothing was fetched.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so the panel can see the whole surface at once. Do not talk through it - name the first two and move on, or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architecture slide. Every other team shows the design; this shows the build and names what is missing. Do not read the cards - point at the dashed line and say the split, then point at the footnote and say what was cut. Full delta is docs/ARCHITECTURE_DELTA.md.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about latency or scale, this is the slide. The store is immutable per version and the pointer swap is atomic, so publishing during a live demo cannot corrupt a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architectural choice traces to a measured property of the file. This is what stops it being a generic pipeline with a pharma label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converts the project's biggest vulnerability into its most credible feature. Say it before a judge asks where the cost data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the question 'why so many models'. The answer is that they are not interchangeable - a Croston model exists because averaging methods return a flat fractional line on a series that is zero most days, which is useless to a buyer.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benchmark, not with our number. SeasonalNaive is hard to beat on retail pharmacy data, and any team that does not name its baseline is hiding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slide in the deck. 'We tested the obvious approach and it lost' is a result. 'We averaged some models' is not - same code, different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teams never check calibration at all. Point out that the diagram lives in the product, not just the deck - the buyer can see it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windows are in the product: Jan-Mar 2019 at 69.5%, Apr-Jun 2019 at 64.3%, Oct-Dec 2018 at 75.5%. Show a second one live so it is obviously not one cherry-picked quarter.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before anyone finds it. A team that reports only wins gets discounted, and experienced judges do that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the strongest thing in the presentation. It bounds every claim the system makes, and volunteering it separates a team that measured from a team that demoed.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claim and take questions. Do not add a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COGNIZANT CAMPUS DRIVE · HEALTHCARE · PHARMA SALES ANALYSIS &amp; FORECASTING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PharmaPulse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3172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pharmacy guesses how much to order.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calculate it — with the odds, the cost of being wrong,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reason behind the number.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PROPOSED SOLUTION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24528"/>
            <a:ext cx="1691640" cy="658368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years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real sales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422452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4224528"/>
            <a:ext cx="1691640" cy="658368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422452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4224528"/>
            <a:ext cx="1691640" cy="658368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intervals we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and fixed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22452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4224528"/>
            <a:ext cx="1691640" cy="658368"/>
          </a:xfrm>
          <a:prstGeom prst="rect">
            <a:avLst/>
          </a:prstGeom>
          <a:solidFill>
            <a:srgbClr val="5FD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order,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packs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4224528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tool in this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stops after box two.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578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8704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MASE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18.8% better than the benchmark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2578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69.5%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58704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inventory cost than a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min/max policy, replayed on real days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52578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58704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and a benchmark that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reruns from a clean clone in CI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CASE #14 · WHAT WAS ASKED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pharmaceutical sales.</a:t>
            </a:r>
            <a:endParaRPr lang="en-US" sz="3800" dirty="0"/>
          </a:p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future demand.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5120640" cy="310896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7157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BRIEF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03580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historical pharmaceutical sales, identify demand patterns and seasonality, and forecast future sales so that inventory can be planned.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0690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READ IT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438912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 that inventory can be planned” is the actual deliverable. A forecast nobody can act on is a chart. We took the brief to its end — the purchase order.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46520" y="2514600"/>
            <a:ext cx="4983480" cy="310896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9128" y="2715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DATA WE WERE GIVEN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739128" y="312724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2,106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1912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· 1 Jan 2014 to 8 Oct 2019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739128" y="37307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 drug categories, sold in fractional units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39128" y="43342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43982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grains — daily, weekly, monthly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739128" y="4937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50017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for stock, price, promotion or cost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8064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· Pharma Sales Data (milanzdravkovic) — a real pharmacy's point-of-sale export. That last row is the constraint the whole architecture is built around.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 UNDERNEATH THE FORECAST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wrong costs money in two directions at once.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4983480" cy="1874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3272" y="19202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9751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too little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24323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asks for a medicine you do not have. They go to the pharmacy across the road.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gross margin — and often the customer, permanently.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36499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our settings: the unit margin.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46520" y="1783080"/>
            <a:ext cx="4983480" cy="1874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2552" y="19202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543800" y="19751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too much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702552" y="24323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sits on a shelf. Medicines reach their expiry date and are thrown away.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02552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on the capital, plus a total write-off at expiry.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02552" y="336499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our settings: 22% annual holding + 1.5% expiry risk.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785616"/>
            <a:ext cx="10637215" cy="841248"/>
          </a:xfrm>
          <a:prstGeom prst="rect">
            <a:avLst/>
          </a:prstGeom>
          <a:solidFill>
            <a:srgbClr val="EFEBE2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9684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 =  Cu / (Cu + Co)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877056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newsvendor fractile. A hundred years old, and exact — not an approximation and not a heuristic. If a shortage costs 3× an excess, order the quantity you exceed only one cycle in four. It is closed form, which is why the slider recomputes in the browser.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00600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WORKED, ON PARACETAMOL — EXACTLY WHAT THE PRODUCT DOES ON THE NEXT SLIDE BUT ONE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7240" y="5120640"/>
            <a:ext cx="1893357" cy="120700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20640"/>
            <a:ext cx="256032" cy="201168"/>
          </a:xfrm>
          <a:prstGeom prst="rect">
            <a:avLst/>
          </a:prstGeom>
          <a:solidFill>
            <a:srgbClr val="6B64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923544" y="5358384"/>
            <a:ext cx="1600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COSTS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" y="5742432"/>
            <a:ext cx="160074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lost if short,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+ expiry if long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670597" y="548640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63205" y="5120640"/>
            <a:ext cx="1893357" cy="120700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963205" y="5120640"/>
            <a:ext cx="256032" cy="201168"/>
          </a:xfrm>
          <a:prstGeom prst="rect">
            <a:avLst/>
          </a:prstGeom>
          <a:solidFill>
            <a:srgbClr val="1F5D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109509" y="5358384"/>
            <a:ext cx="1600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94.8%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3109509" y="5742432"/>
            <a:ext cx="160074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fractile those two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imply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56561" y="548640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149169" y="5120640"/>
            <a:ext cx="1893357" cy="120700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49169" y="5120640"/>
            <a:ext cx="256032" cy="201168"/>
          </a:xfrm>
          <a:prstGeom prst="rect">
            <a:avLst/>
          </a:prstGeom>
          <a:solidFill>
            <a:srgbClr val="1C4E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295473" y="5358384"/>
            <a:ext cx="1600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545 units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295473" y="5742432"/>
            <a:ext cx="160074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94.8th percentile of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over 11 days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042526" y="548640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35134" y="5120640"/>
            <a:ext cx="1893357" cy="120700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35134" y="5120640"/>
            <a:ext cx="256032" cy="201168"/>
          </a:xfrm>
          <a:prstGeom prst="rect">
            <a:avLst/>
          </a:prstGeom>
          <a:solidFill>
            <a:srgbClr val="6B64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7481438" y="5358384"/>
            <a:ext cx="1600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− 310 on hand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481438" y="5742432"/>
            <a:ext cx="160074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shelf position,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ledger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228491" y="548640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21099" y="5120640"/>
            <a:ext cx="1893357" cy="120700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521099" y="5120640"/>
            <a:ext cx="256032" cy="201168"/>
          </a:xfrm>
          <a:prstGeom prst="rect">
            <a:avLst/>
          </a:prstGeom>
          <a:solidFill>
            <a:srgbClr val="A32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9667403" y="5358384"/>
            <a:ext cx="1600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 units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667403" y="5742432"/>
            <a:ext cx="160074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 rounded up to 24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packs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THIS IS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people open it, and each one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 a different screen.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3291840" cy="32461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514600"/>
            <a:ext cx="3291840" cy="50292"/>
          </a:xfrm>
          <a:prstGeom prst="rect">
            <a:avLst/>
          </a:prstGeom>
          <a:solidFill>
            <a:srgbClr val="A32E22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7432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purchasing buyer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3182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 MORNING · TEN MINUTES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52958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A3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do I order this week?”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431596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quantity, in packs, with the money at risk if they ignore it. Not a chart.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→ Order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2514600"/>
            <a:ext cx="3291840" cy="32461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514600"/>
            <a:ext cx="3291840" cy="50292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27432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pharmacy owner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3182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OF MONTH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352958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1C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“Is my capital in the right stock?”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431596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current policy against the alternative, over real days, in rupees.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 → the business case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01000" y="2514600"/>
            <a:ext cx="3291840" cy="32461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01000" y="2514600"/>
            <a:ext cx="3291840" cy="50292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57032" y="27432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Whoever signs it off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57032" y="3182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IT GOES LIVE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57032" y="352958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1F5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“Why should I trust this number?”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431596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in units, calibration measured against outcomes, and the series where it loses.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57032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→ Evidence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screens, but nobody has to visit all seven. The navigation is ordered the way the questions actually arrive: decide, order, forecast, why, replay, evidence, settings.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 · WHAT THE BUYER SEES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86384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opens on the decision, not on a chart.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7726680" cy="4928616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dashboard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7635240" cy="483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732520" y="15727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money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19202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₹276 at 34% likely is ranked above ₹163 at 99%. Probability is not the ranking a buyer needs — exposure is.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31089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the fix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456432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links straight to the order that resolves it — there is no hunting.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464515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not nightly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499262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= seeded opening stock + every ledger movement since. Accept an order and the shelf actually moves.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60533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screenshot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 · THE SCREEN THE WHOLE SYSTEM EXISTS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86384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slider is the cost ratio. Drag it, the order moves.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6922008" cy="5010912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or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6830568" cy="4919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0" y="1572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quantile, made physical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19202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level, stockout risk, cost this cycle and the distance from optimal — all recomputed as you drag.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1455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 pack, priced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349300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 fewer and one pack more, each with what it costs. That is a sensitivity a buyer can argue with.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47183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 is auditable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5065776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stock, then every receipt and sale, summing to the number on the shelf.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61081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network calls while dragging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 · ALL OF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49808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screens, in the order the questions arrive.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thumb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2535174" cy="15844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04752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Decisions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26698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my decision today?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431286" y="132588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9" name="Image 1" descr="C:\Users\ASUS\Desktop\CS\Projects\pharmapulse\deck\img\thumb_or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006" y="1371600"/>
            <a:ext cx="2535174" cy="15844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77006" y="304752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Order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77006" y="326698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actually buy?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131052" y="132588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13" name="Image 2" descr="C:\Users\ASUS\Desktop\CS\Projects\pharmapulse\deck\img\thumb_fore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772" y="1371600"/>
            <a:ext cx="2535174" cy="15844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176772" y="304752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Forecast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176772" y="326698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sell, and how sure are we?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8830818" y="132588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17" name="Image 3" descr="C:\Users\ASUS\Desktop\CS\Projects\pharmapulse\deck\img\thumb_wh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6538" y="1371600"/>
            <a:ext cx="2535174" cy="158448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76538" y="304752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Why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8876538" y="326698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that number come from?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083003" y="356616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21" name="Image 4" descr="C:\Users\ASUS\Desktop\CS\Projects\pharmapulse\deck\img\thumb_liveop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8723" y="3611880"/>
            <a:ext cx="2535174" cy="15844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2128723" y="528780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Replay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2128723" y="550726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it have been worth?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782769" y="356616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25" name="Image 5" descr="C:\Users\ASUS\Desktop\CS\Projects\pharmapulse\deck\img\thumb_op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489" y="3611880"/>
            <a:ext cx="2535174" cy="158448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828489" y="528780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Evidence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4828489" y="550726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accuracy claims.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7482535" y="3566160"/>
            <a:ext cx="2626614" cy="1675924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29" name="Image 6" descr="C:\Users\ASUS\Desktop\CS\Projects\pharmapulse\deck\img\thumb_setting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8255" y="3611880"/>
            <a:ext cx="2535174" cy="158448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528255" y="5287804"/>
            <a:ext cx="25351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Settings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7528255" y="5507260"/>
            <a:ext cx="25351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my shop's numbers.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777240" y="589788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to visit all seven. A buyer lives in the first two; the other five exist so that somebody will let them.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EVERY COMPONENT, AND WHERE IT LIVES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04088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system as built — not as designed.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98448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81912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pipelines/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38528" y="1078992"/>
            <a:ext cx="1885493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38528" y="1078992"/>
            <a:ext cx="310896" cy="219456"/>
          </a:xfrm>
          <a:prstGeom prst="rect">
            <a:avLst/>
          </a:prstGeom>
          <a:solidFill>
            <a:srgbClr val="6B6459"/>
          </a:solidFill>
          <a:ln w="12700">
            <a:solidFill>
              <a:srgbClr val="6B64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38528" y="108356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2322576" y="1097280"/>
            <a:ext cx="14282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20824" y="1344168"/>
            <a:ext cx="17209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file only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append-only, idempotent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SHA-256 snapshot id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915461" y="1078992"/>
            <a:ext cx="1885493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15461" y="1078992"/>
            <a:ext cx="310896" cy="219456"/>
          </a:xfrm>
          <a:prstGeom prst="rect">
            <a:avLst/>
          </a:prstGeom>
          <a:solidFill>
            <a:srgbClr val="6B6459"/>
          </a:solidFill>
          <a:ln w="12700">
            <a:solidFill>
              <a:srgbClr val="6B64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15461" y="108356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299509" y="1097280"/>
            <a:ext cx="14282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997757" y="1344168"/>
            <a:ext cx="17209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9 quality gates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day/week/month must agree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raises, never warns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892394" y="1078992"/>
            <a:ext cx="1885493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2394" y="1078992"/>
            <a:ext cx="310896" cy="219456"/>
          </a:xfrm>
          <a:prstGeom prst="rect">
            <a:avLst/>
          </a:prstGeom>
          <a:solidFill>
            <a:srgbClr val="6B6459"/>
          </a:solidFill>
          <a:ln w="12700">
            <a:solidFill>
              <a:srgbClr val="6B64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92394" y="108356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276442" y="1097280"/>
            <a:ext cx="14282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974690" y="1344168"/>
            <a:ext cx="17209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26 closure days masked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outliers flagged, not cut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partial periods flagged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869326" y="1078992"/>
            <a:ext cx="1885493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9326" y="1078992"/>
            <a:ext cx="310896" cy="219456"/>
          </a:xfrm>
          <a:prstGeom prst="rect">
            <a:avLst/>
          </a:prstGeom>
          <a:solidFill>
            <a:srgbClr val="6B6459"/>
          </a:solidFill>
          <a:ln w="12700">
            <a:solidFill>
              <a:srgbClr val="6B645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9326" y="108356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8253374" y="1097280"/>
            <a:ext cx="14282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Builder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951622" y="1344168"/>
            <a:ext cx="17209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lags and rolling means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calendar and holidays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truncate, then compute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46259" y="1078992"/>
            <a:ext cx="1885493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46259" y="1078992"/>
            <a:ext cx="310896" cy="219456"/>
          </a:xfrm>
          <a:prstGeom prst="rect">
            <a:avLst/>
          </a:prstGeom>
          <a:solidFill>
            <a:srgbClr val="6B6459"/>
          </a:solidFill>
          <a:ln w="12700">
            <a:solidFill>
              <a:srgbClr val="6B645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46259" y="108356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230307" y="1097280"/>
            <a:ext cx="14282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Store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928555" y="1344168"/>
            <a:ext cx="17209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Parquet + DuckDB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3 grains from the daily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origin lane on every row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223113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43230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271576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938528" y="2212848"/>
            <a:ext cx="1556004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38528" y="2212848"/>
            <a:ext cx="310896" cy="219456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938528" y="2217420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322576" y="2231136"/>
            <a:ext cx="1098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2020824" y="2478024"/>
            <a:ext cx="13914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ADI / CV² quadrants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recomputed per grain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 rule, not a setting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585972" y="2212848"/>
            <a:ext cx="1556004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85972" y="2212848"/>
            <a:ext cx="310896" cy="219456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585972" y="2217420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2.2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970020" y="2231136"/>
            <a:ext cx="1098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668268" y="2478024"/>
            <a:ext cx="13914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11 models, 5 shipped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routed by demand class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ARIMA LGBM MSTL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Prophet Croston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233416" y="2212848"/>
            <a:ext cx="1556004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3416" y="2212848"/>
            <a:ext cx="310896" cy="219456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233416" y="2217420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5617464" y="2231136"/>
            <a:ext cx="1098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Combiner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315712" y="2478024"/>
            <a:ext cx="13914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median of five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not best-of-five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quantiles stay monotonic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880860" y="2212848"/>
            <a:ext cx="1556004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80860" y="2212848"/>
            <a:ext cx="310896" cy="219456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80860" y="2217420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7264908" y="2231136"/>
            <a:ext cx="1098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Calibrator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6963156" y="2478024"/>
            <a:ext cx="13914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conformal, so assumes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no residual shape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92.2% → 82.0% coverage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528304" y="2212848"/>
            <a:ext cx="1556004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528304" y="2212848"/>
            <a:ext cx="310896" cy="219456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28304" y="2217420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8912352" y="2231136"/>
            <a:ext cx="1098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Store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8610600" y="2478024"/>
            <a:ext cx="13914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versioned, immutable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CURRENT written last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so a read is never torn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175748" y="2212848"/>
            <a:ext cx="1556004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175748" y="2212848"/>
            <a:ext cx="310896" cy="219456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175748" y="2217420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10559796" y="2231136"/>
            <a:ext cx="1098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◂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10258044" y="2478024"/>
            <a:ext cx="13914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Prophet's components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expressed in units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parts must sum to whole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38528" y="3310128"/>
            <a:ext cx="9793224" cy="0"/>
          </a:xfrm>
          <a:prstGeom prst="line">
            <a:avLst/>
          </a:prstGeom>
          <a:noFill/>
          <a:ln w="15875">
            <a:solidFill>
              <a:srgbClr val="14110D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1938528" y="3328416"/>
            <a:ext cx="9793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ABOVE  runs offline, once, about 4 minutes          BELOW  runs per request, under a second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457200" y="36210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382219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410565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decision/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1938528" y="3602736"/>
            <a:ext cx="2379726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938528" y="3602736"/>
            <a:ext cx="310896" cy="219456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938528" y="3607308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3.1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2322576" y="3621024"/>
            <a:ext cx="19225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Calculator</a:t>
            </a:r>
            <a:endParaRPr lang="en-US" sz="1100" dirty="0"/>
          </a:p>
        </p:txBody>
      </p:sp>
      <p:sp>
        <p:nvSpPr>
          <p:cNvPr id="74" name="Text 72"/>
          <p:cNvSpPr txBox="1"/>
          <p:nvPr/>
        </p:nvSpPr>
        <p:spPr>
          <a:xfrm>
            <a:off x="2020824" y="3867912"/>
            <a:ext cx="22151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newsvendor fractile, closed form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protection interval = lead + review gap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rounded up to whole packs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409694" y="3602736"/>
            <a:ext cx="2379726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409694" y="3602736"/>
            <a:ext cx="310896" cy="219456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409694" y="3607308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3.2</a:t>
            </a:r>
            <a:endParaRPr lang="en-US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4793742" y="3621024"/>
            <a:ext cx="19225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Detector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4491990" y="3867912"/>
            <a:ext cx="22151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rules, read at the current position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before any order is placed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ranked by rupee exposure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6880860" y="3602736"/>
            <a:ext cx="2379726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80860" y="3602736"/>
            <a:ext cx="310896" cy="219456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880860" y="3607308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7264908" y="3621024"/>
            <a:ext cx="19225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Ledger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6963156" y="3867912"/>
            <a:ext cx="22151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opening stock + every movement since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hash-chained order log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accepting an order moves the shelf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9352026" y="3602736"/>
            <a:ext cx="2379726" cy="96926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352026" y="3602736"/>
            <a:ext cx="310896" cy="219456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352026" y="3607308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</a:t>
            </a:r>
            <a:endParaRPr lang="en-US" sz="850" dirty="0"/>
          </a:p>
        </p:txBody>
      </p:sp>
      <p:sp>
        <p:nvSpPr>
          <p:cNvPr id="88" name="Text 86"/>
          <p:cNvSpPr txBox="1"/>
          <p:nvPr/>
        </p:nvSpPr>
        <p:spPr>
          <a:xfrm>
            <a:off x="9736074" y="3621024"/>
            <a:ext cx="19225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◂</a:t>
            </a:r>
            <a:endParaRPr lang="en-US" sz="1100" dirty="0"/>
          </a:p>
        </p:txBody>
      </p:sp>
      <p:sp>
        <p:nvSpPr>
          <p:cNvPr id="89" name="Text 87"/>
          <p:cNvSpPr txBox="1"/>
          <p:nvPr/>
        </p:nvSpPr>
        <p:spPr>
          <a:xfrm>
            <a:off x="9434322" y="3867912"/>
            <a:ext cx="22151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real 2019 days, one per tick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serialised under a per-session lock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carries a rival min/max policy</a:t>
            </a:r>
            <a:endParaRPr lang="en-US" sz="850" dirty="0"/>
          </a:p>
        </p:txBody>
      </p:sp>
      <p:sp>
        <p:nvSpPr>
          <p:cNvPr id="90" name="Text 88"/>
          <p:cNvSpPr txBox="1"/>
          <p:nvPr/>
        </p:nvSpPr>
        <p:spPr>
          <a:xfrm>
            <a:off x="457200" y="475488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5</a:t>
            </a:r>
            <a:endParaRPr lang="en-US" sz="850" dirty="0"/>
          </a:p>
        </p:txBody>
      </p:sp>
      <p:sp>
        <p:nvSpPr>
          <p:cNvPr id="91" name="Text 89"/>
          <p:cNvSpPr txBox="1"/>
          <p:nvPr/>
        </p:nvSpPr>
        <p:spPr>
          <a:xfrm>
            <a:off x="457200" y="4956048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7200" y="5239512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1938528" y="4736592"/>
            <a:ext cx="9793224" cy="603504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048256" y="4782312"/>
            <a:ext cx="9573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 · 16 endpoints · one provenance envelope on every response · fixture fallback when the store is missing, so the app always runs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2048256" y="5065776"/>
            <a:ext cx="9573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/forecast   /explain   /risk   /recommend   /orders   /ledger   /replay   /benchmarks   /series   /settings   /health   /metrics</a:t>
            </a:r>
            <a:endParaRPr lang="en-US" sz="950" dirty="0"/>
          </a:p>
        </p:txBody>
      </p:sp>
      <p:sp>
        <p:nvSpPr>
          <p:cNvPr id="96" name="Text 94"/>
          <p:cNvSpPr txBox="1"/>
          <p:nvPr/>
        </p:nvSpPr>
        <p:spPr>
          <a:xfrm>
            <a:off x="457200" y="54498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6</a:t>
            </a:r>
            <a:endParaRPr lang="en-US" sz="850" dirty="0"/>
          </a:p>
        </p:txBody>
      </p:sp>
      <p:sp>
        <p:nvSpPr>
          <p:cNvPr id="97" name="Text 95"/>
          <p:cNvSpPr txBox="1"/>
          <p:nvPr/>
        </p:nvSpPr>
        <p:spPr>
          <a:xfrm>
            <a:off x="457200" y="565099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57200" y="593445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web/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938528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3348010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100" dirty="0"/>
          </a:p>
        </p:txBody>
      </p:sp>
      <p:sp>
        <p:nvSpPr>
          <p:cNvPr id="101" name="Text 99"/>
          <p:cNvSpPr txBox="1"/>
          <p:nvPr/>
        </p:nvSpPr>
        <p:spPr>
          <a:xfrm>
            <a:off x="4757493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6166975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03" name="Text 101"/>
          <p:cNvSpPr txBox="1"/>
          <p:nvPr/>
        </p:nvSpPr>
        <p:spPr>
          <a:xfrm>
            <a:off x="7576457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100" dirty="0"/>
          </a:p>
        </p:txBody>
      </p:sp>
      <p:sp>
        <p:nvSpPr>
          <p:cNvPr id="104" name="Text 102"/>
          <p:cNvSpPr txBox="1"/>
          <p:nvPr/>
        </p:nvSpPr>
        <p:spPr>
          <a:xfrm>
            <a:off x="8985939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05" name="Text 103"/>
          <p:cNvSpPr txBox="1"/>
          <p:nvPr/>
        </p:nvSpPr>
        <p:spPr>
          <a:xfrm>
            <a:off x="10395422" y="5486400"/>
            <a:ext cx="1336330" cy="347472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106" name="Text 104"/>
          <p:cNvSpPr txBox="1"/>
          <p:nvPr/>
        </p:nvSpPr>
        <p:spPr>
          <a:xfrm>
            <a:off x="1938528" y="5989320"/>
            <a:ext cx="9793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◂ moved down a layer from the submitted design.   Removed and not built: the reconciler (2.5), the scenario engine, the assistant, the stress harness — and with attribution and replay moved down, LAYER 4 · INTELLIGENCE no longer exists as a layer. Redis became an in-process cache, Postgres became SQLite, MLflow became one JSON file the API can only read.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THE SPLIT THAT MAKES IT FAST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model runs inside a request.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expensive happens in a batch that writes a versioned forecast store. Everything a screen does is a read. The two halves are joined by a single pointer file, written last — so a reader is never caught mid-publish.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834640"/>
            <a:ext cx="4983480" cy="2468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017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BATCH · minutes, offline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80744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2,106 days, validate, derive grains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80744" y="381304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11 models across 3 grains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80744" y="419709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by median, calibrate conformally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80744" y="4581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new version, then swap CURRENT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9743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pipelines.run_nightly --stage all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46520" y="2834640"/>
            <a:ext cx="4983480" cy="2468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3017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 · milliseconds, per request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50024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version CURRENT points at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50024" y="381304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the protection interval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50024" y="419709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newsvendor fractile → order quantity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050024" y="4581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the provenance envelope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49743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uvicorn api.main:app --port 8000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779008" y="388620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DuckDB · Parquet · SQLite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916936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2916936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statsforecast · mlforecast · LightGBM · Prophet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056632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056632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Pydantic v2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96328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196328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 · Vite · Tailwind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36024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SHIP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9336024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· ruff · pytest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MEASURED BEFORE DESIGNING ANYTHING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properties of the file</a:t>
            </a:r>
            <a:endParaRPr lang="en-US" sz="3600" dirty="0"/>
          </a:p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drove every design decision.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786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5786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supplied monthly file is corrupt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90779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series-months disagree with a daily rollup by more than 5%. We ingest the daily file only and derive the rest.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5786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5786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days are closures, not zero demand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90779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map to the Serbian Orthodox calendar. Masked from the loss — never imputed, never deleted.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8561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85616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bucket is truncated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1480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2019 looks like a 70% collapse and is not. Partial periods stay visible, and hatched.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378561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785616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series is genuinely intermittent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11480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N05C sells nothing on 67.9% of days, ADI 3.12. It routes to Croston/TSB automatically.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99262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99262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has a different phase per drug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3218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Antihistamines peak in May, paracetamol in January. One global profile would smear both.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499262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499262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effects run in opposite directions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53218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sells more at weekends, prescription less. A shared coefficient would cancel them out.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05332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contradict our own submitted design document. Both corrections are written down rather than quietly fixed.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RULE THAT PROTECTS THE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has dates and units sold.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no stock, costs or lead times.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6032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invents those and trains on them is learning from a random number generator — and any explanation it then produces is an explanation of noise. So every value belongs to exactly one lane, and the lanes have different rights.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310128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46557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observed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34655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salesdaily.csv and the calendar features derived from 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635240" y="3465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models · explains · backs a claim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4297680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453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your setting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4531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· holding cost · margin · stock on hand · pack size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44531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only — never trains, never backs a claim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5285232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synthetic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54406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demo-only generated data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— blocked in code, asserted by a test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intended: the ingest entrypoint raises on a synthetic path, every row carries its origin, the API returns it, and the interface renders a badge from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INSIDE THE FORECAST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hardcoded to a product name.</a:t>
            </a:r>
            <a:endParaRPr lang="en-US" sz="30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decides which models it gets.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describe how a medicine sells. ADI is the average gap between sales — irregular TIMING. CV² is how much the sale sizes vary — erratic SIZE. They put every product in one of four quadrants, and the quadrant chooses the models. It is recomputed every night, per grain, so when a product's behaviour changes its model family changes with it.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463040" y="3127248"/>
            <a:ext cx="2423160" cy="1325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3127248"/>
            <a:ext cx="2423160" cy="41148"/>
          </a:xfrm>
          <a:prstGeom prst="rect">
            <a:avLst/>
          </a:prstGeom>
          <a:solidFill>
            <a:srgbClr val="8A6410"/>
          </a:solidFill>
          <a:ln w="12700">
            <a:solidFill>
              <a:srgbClr val="8A641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91056" y="324612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ERRATIC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349300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timing,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sizes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393192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 · MSTL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SeasonalNaive · ARIMA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977640" y="3127248"/>
            <a:ext cx="2423160" cy="1325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77640" y="3127248"/>
            <a:ext cx="2423160" cy="41148"/>
          </a:xfrm>
          <a:prstGeom prst="rect">
            <a:avLst/>
          </a:prstGeom>
          <a:solidFill>
            <a:srgbClr val="A32E22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05656" y="324612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105656" y="349300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timing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wild sizes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105656" y="393192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Croston · LightGBM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SeasonalNaive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63040" y="4544568"/>
            <a:ext cx="2423160" cy="1325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3040" y="4544568"/>
            <a:ext cx="2423160" cy="41148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91056" y="466344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491032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most days,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sizes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534924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Prophet · ARIMA · MSTL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SeasonalNaive · LightGBM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977640" y="4544568"/>
            <a:ext cx="2423160" cy="1325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77640" y="4544568"/>
            <a:ext cx="2423160" cy="41148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5656" y="466344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INTERMITTENT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105656" y="491032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gaps between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105656" y="534924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Croston · SeasonalNaive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5488" y="3127248"/>
            <a:ext cx="914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CV² ↑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 size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varies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cut at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0.49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90702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ADI  →  gaps between sales get longer          cut at 1.32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21284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8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ELEVEN MODELS, BY FAMILY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252374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27249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 · SeasonalNaive · WindowAverage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29077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SeasonalNaive is the one to beat, not a strawman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12724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332841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AutoARIMA · AutoETS · DynamicOptimizedTheta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351129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short-run autocorrelation, fitted per series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3730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393192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MSTL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949440" y="411480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trend and multiple seasonalities apart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49440" y="433425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Intermittent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53542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CrostonOptimized · TSB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471830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sale size and sale timing separately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49440" y="493776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949440" y="5138928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 (global, quantile)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949440" y="5321808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across all series, learns shared shape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949440" y="554126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949440" y="57424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Prophet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949440" y="59253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trend, yearly season, holidays — and it explains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614476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18"/>
              </a:lnSpc>
              <a:buNone/>
            </a:pPr>
            <a:r>
              <a:rPr lang="en-US" sz="105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of the eleven make the shipped ensemble. At weekly grain all eight classify as smooth; at daily grain the sedatives route to Croston. Measured, not asserted.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1 · FORECAST ACCURACY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18.8% better than the benchmark</a:t>
            </a:r>
            <a:endParaRPr lang="en-US" sz="3600" dirty="0"/>
          </a:p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has to beat.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697480" y="2587752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480" y="2587752"/>
            <a:ext cx="3840935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0.843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986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97480" y="2971800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97480" y="2971800"/>
            <a:ext cx="4130577" cy="155448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0" y="2898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826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697480" y="3355848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7480" y="3355848"/>
            <a:ext cx="4258092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0" y="32826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0.935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6667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697480" y="3739896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7480" y="3739896"/>
            <a:ext cx="4376499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36667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50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697480" y="4123944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4123944"/>
            <a:ext cx="4619688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40507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1.014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4348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697480" y="4507992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7480" y="4507992"/>
            <a:ext cx="4941664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44348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1.085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818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697480" y="4892040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7480" y="4892040"/>
            <a:ext cx="5076921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55280" y="48188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2029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697480" y="5276088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7480" y="5276088"/>
            <a:ext cx="5089217" cy="155448"/>
          </a:xfrm>
          <a:prstGeom prst="rect">
            <a:avLst/>
          </a:prstGeom>
          <a:solidFill>
            <a:srgbClr val="8A6410"/>
          </a:solidFill>
          <a:ln w="12700">
            <a:solidFill>
              <a:srgbClr val="8A641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55280" y="520293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697480" y="5660136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7480" y="5660136"/>
            <a:ext cx="5120640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955280" y="558698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1.124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006840" y="24688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4400" dirty="0"/>
          </a:p>
        </p:txBody>
      </p:sp>
      <p:sp>
        <p:nvSpPr>
          <p:cNvPr id="41" name="Text 39"/>
          <p:cNvSpPr txBox="1"/>
          <p:nvPr/>
        </p:nvSpPr>
        <p:spPr>
          <a:xfrm>
            <a:off x="9006840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 — the median of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independent models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006840" y="41148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1.117</a:t>
            </a:r>
            <a:endParaRPr lang="en-US" sz="4400" dirty="0"/>
          </a:p>
        </p:txBody>
      </p:sp>
      <p:sp>
        <p:nvSpPr>
          <p:cNvPr id="43" name="Text 41"/>
          <p:cNvSpPr txBox="1"/>
          <p:nvPr/>
        </p:nvSpPr>
        <p:spPr>
          <a:xfrm>
            <a:off x="9006840" y="49834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SeasonalNaive — repeat what happened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 last year. The honest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benchmark, and a hard one.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94360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85"/>
              </a:lnSpc>
              <a:buNone/>
            </a:pPr>
            <a:r>
              <a:rPr lang="en-US" sz="11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grain · horizon 8 · rolling-origin CV over 4 non-overlapping folds · MASE against an in-sample naive denominator · 8 series · seed 42. MAPE is undefined on a series with zero-sale days, and one of ours has them on 67.9% of days.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2 · THE FINDING WORTH LEADING WITH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implemented the obvious approach</a:t>
            </a:r>
            <a:endParaRPr lang="en-US" sz="4000" dirty="0"/>
          </a:p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measured it losing.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0.968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each product's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370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intuitive answer — and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most teams ship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5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them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 of five)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4370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0.843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hindsight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4370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bound, not a model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02920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different models win across the eight series, so per-series selection looks obviously right. But with ~300 weekly observations, “best on the last fold” is mostly noise — selection chases the noise and locks in whichever model got lucky. Combination does the opposite: independent models make independent mistakes, and the median cancels them.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053328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honestly: the choice for fold k uses only folds 1…k−1, so it never sees the answer it is graded on.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3 · ARE OUR OWN CONFIDENCE INTERVALS TRUE?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whether to believe</a:t>
            </a:r>
            <a:endParaRPr lang="en-US" sz="30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ourselves, then corrected it.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80% interval actually covered 92.2% of outcomes. Too wide — which sounds like the safe direction and is not: an over-wide interval pushes the order quantity up, and the buyer pays holding cost for confidence the model has not earned.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747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92.2%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model interval,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stated 80%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34747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82.0%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43434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conformal correction —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distribution-free, assuming nothing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shape of the residuals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3035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document predicted the opposite direction — 75%, over-confident. The measurement contradicts it. The lesson is unchanged; the business story flips, and we say so out loud.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645920"/>
            <a:ext cx="4617720" cy="3886200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11" name="Image 0" descr="C:\Users\ASUS\Desktop\CS\Projects\pharmapulse\deck\img\why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691640"/>
            <a:ext cx="4526280" cy="37947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903720" y="57150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same diagram, inside the product's Why screen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4 · WHAT IT IS ACTUALLY WORTH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Replayed over the identical real days,</a:t>
            </a:r>
            <a:endParaRPr lang="en-US" sz="3200" dirty="0"/>
          </a:p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identical costs.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10725912" cy="3081528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liveops_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31720"/>
            <a:ext cx="10634472" cy="29900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5486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difference between the two policies is that min/max sizes against the mean, and we size against the quantile the cost ratio implies. Same lead time, same review cadence, same protection interval, same 90 real days of history.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863840" y="5468112"/>
            <a:ext cx="3566160" cy="822960"/>
          </a:xfrm>
          <a:prstGeom prst="rect">
            <a:avLst/>
          </a:prstGeom>
          <a:solidFill>
            <a:srgbClr val="EFEBE2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555955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more stock and pay more holding cost. The saving is entirely fewer lost sales — and a test asserts exactly that.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DOES NOT 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only shows you where it wins</a:t>
            </a:r>
            <a:endParaRPr lang="en-US" sz="3200" dirty="0"/>
          </a:p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not telling you anything.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468880"/>
          <a:ext cx="63093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91640"/>
                <a:gridCol w="137160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SeasonalNaive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single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M01AB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0.971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0.651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AutoARIMA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M01AE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1.019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1.000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N02BA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0.671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0.618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SeasonalNaive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N02BE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0.993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0.799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N05B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0.939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0.621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WindowAverage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N05C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0.785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CrostonOptimized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1.294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CrostonOptimized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1.880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1.646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" y="53492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ensemble beats seasonal-naive on all eight, so the relative column is not the interesting one. MASE above 1.000 means worse than simply repeating last week — and two series are.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498080" y="2468880"/>
            <a:ext cx="3931920" cy="155448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R06 · 1.646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worst series, and well above 1.0. The May pollen peak is sharp and its timing moves year to year — we have six observations of it.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4206240"/>
            <a:ext cx="3931920" cy="155448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R03 · 1.137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800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/ COPD. Better than the 1.294 seasonal-naive manages, but still above 1.0. We do not claim a win here.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60807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on the product's own Evidence screen, flagged, alongside the wins.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DEEPEST LIMITATION, STATED BEFORE ANYONE ASKS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52"/>
              </a:lnSpc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forecast sales, not demand.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stockout records zero sales — indistinguishable from zero demand. So our observations are right-censored, and the censoring is worst on exactly the products the system most needs to get right.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stockout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953512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sales fall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73752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29784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falls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0024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06056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falls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226296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482328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stockout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Self-reinforcing, if left uncorrected.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do: flag days where sales hit a suspicious ceiling and treat them as censored.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cannot do: verify it — this dataset has no on-hand-stock column.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named in the model card, and it is the first thing a real deployment fixes.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6B64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pharmacy guesses how much to order.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736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calculate it — with the odds,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being wrong, and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reason behind the number.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forecasts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3749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0.907 — 18.8% better than the seasonal-naive benchmark, over 4 rolling-origin folds.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343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decides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434340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becomes a purchase order through the newsvendor fractile, sized against the full protection interval.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honest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49377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measured and corrected, the two series where it loses shown inside the product, and the censoring limitation named.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real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53212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tests, a benchmark that reruns from a clean clone in CI, and docker compose up.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144768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github.com/yashdoke7/pharmapulse    ·    docs/PHARMAPULSE_SYSTEM.md    ·    docs/ARCHITECTURE_DELTA.md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PharmaPulse — forecast to purchase order</dc:title>
  <dc:subject>PptxGenJS Presentation</dc:subject>
  <dc:creator>PharmaPulse</dc:creator>
  <cp:lastModifiedBy>PharmaPulse</cp:lastModifiedBy>
  <cp:revision>1</cp:revision>
  <dcterms:created xsi:type="dcterms:W3CDTF">2026-09-02T09:27:22Z</dcterms:created>
  <dcterms:modified xsi:type="dcterms:W3CDTF">2026-09-02T09:27:22Z</dcterms:modified>
</cp:coreProperties>
</file>