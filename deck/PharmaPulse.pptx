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Do not read the slide. Say: every pharmacy makes this decision every week, from memory or a spreadsheet - this is what it looks like when you calculate it instead. The USP is the last box in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zero. Everything a judge will ask - where did the cost data come from, how do you know the stock level - traces back to that row, and the lanes slide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maths is not the novelty - shipping it is. Walk the five boxes left to right; that is the entire product in one line. Note step 4: the shelf position is live, not a stored field, so accepting an order changes the next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buyer first. The whole product is built for ten minutes on a Monday morning; the other two roles exist so that somebody will let the buyer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narrate the screen. One sentence - it opens on what needs a decision, ranked by rupees - then move. The live demo is where this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moment. Drag from 80 to 95 and let them watch the quantity and the cost move together. Then say: that is the newsvendor formula from three slides ago, and nothing was fetched.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so the panel can see the whole surface at once. Do not talk through it - name the first two and move on, or go to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architecture slide. Every other team shows the design; this shows the build and names what is missing. Do not read the cards - point at the dashed line and say the split, then point at the footnote and say what was cut. Full delta is docs/ARCHITECTURE_DELTA.md.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asks about latency or scale, this is the slide. The store is immutable per version and the pointer swap is atomic, so publishing during a live demo cannot corrupt a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architectural choice traces to a measured property of the file. This is what stops it being a generic pipeline with a pharma label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converts the project's biggest vulnerability into its most credible feature. Say it before a judge asks where the cost data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the question 'why so many models'. The answer is that they are not interchangeable - a Croston model exists because averaging methods return a flat fractional line on a series that is zero most days, which is useless to a buyer.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benchmark, not with our number. SeasonalNaive is hard to beat on retail pharmacy data, and any team that does not name its baseline is hiding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slide in the deck. 'We tested the obvious approach and it lost' is a result. 'We averaged some models' is not - same code, different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teams never check calibration at all. Point out that the diagram lives in the product, not just the deck - the buyer can see it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lead on min/max - anyone who works in inventory discounts it instantly, because every ERP carries safety stock. Lead on the third card. If asked why we do not dominate the ERP column: every policy here sizes off a trailing window, so none of them can anticipate a seasonal turn - on 1 January the last 180 days are autumn. Anticipating it is what the forecast layer is for, and exercising it needs a forecast produced at each review point rather than one vintage. That is the next piece of work and it is written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anyone finds it. A team that reports only wins gets discounted, and experienced judges do that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this out loud is the strongest thing in the presentation. It bounds every claim the system makes, and volunteering it separates a team that measured from a team that demoed.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claim and take questions. Do not add a thank-you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10D"/>
        </a:solidFill>
      </p:bgPr>
    </p:bg>
    <p:spTree>
      <p:nvGrpSpPr>
        <p:cNvPr id="1" name=""/>
        <p:cNvGrpSpPr/>
        <p:nvPr/>
      </p:nvGrpSpPr>
      <p:grpSpPr>
        <a:xfrm>
          <a:off x="0" y="0"/>
          <a:ext cx="0" cy="0"/>
          <a:chOff x="0" y="0"/>
          <a:chExt cx="0" cy="0"/>
        </a:xfrm>
      </p:grpSpPr>
      <p:sp>
        <p:nvSpPr>
          <p:cNvPr id="2" name="Text 0"/>
          <p:cNvSpPr txBox="1"/>
          <p:nvPr/>
        </p:nvSpPr>
        <p:spPr>
          <a:xfrm>
            <a:off x="777240" y="50292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COGNIZANT CAMPUS DRIVE · HEALTHCARE · PHARMA SALES ANALYSIS &amp; FORECASTING</a:t>
            </a:r>
            <a:endParaRPr lang="en-US" sz="1100" dirty="0"/>
          </a:p>
        </p:txBody>
      </p:sp>
      <p:sp>
        <p:nvSpPr>
          <p:cNvPr id="3" name="Text 1"/>
          <p:cNvSpPr txBox="1"/>
          <p:nvPr/>
        </p:nvSpPr>
        <p:spPr>
          <a:xfrm>
            <a:off x="777240" y="1097280"/>
            <a:ext cx="9144000" cy="1188720"/>
          </a:xfrm>
          <a:prstGeom prst="rect">
            <a:avLst/>
          </a:prstGeom>
          <a:noFill/>
          <a:ln/>
        </p:spPr>
        <p:txBody>
          <a:bodyPr wrap="square" lIns="0" tIns="0" rIns="0" bIns="0" rtlCol="0" anchor="ctr"/>
          <a:lstStyle/>
          <a:p>
            <a:pPr indent="0" marL="0">
              <a:buNone/>
            </a:pPr>
            <a:r>
              <a:rPr lang="en-US" sz="6400" dirty="0">
                <a:solidFill>
                  <a:srgbClr val="F7F4EE"/>
                </a:solidFill>
                <a:latin typeface="Cambria" pitchFamily="34" charset="0"/>
                <a:ea typeface="Cambria" pitchFamily="34" charset="-122"/>
                <a:cs typeface="Cambria" pitchFamily="34" charset="-120"/>
              </a:rPr>
              <a:t>PharmaPulse</a:t>
            </a:r>
            <a:endParaRPr lang="en-US" sz="6400" dirty="0"/>
          </a:p>
        </p:txBody>
      </p:sp>
      <p:sp>
        <p:nvSpPr>
          <p:cNvPr id="4" name="Text 2"/>
          <p:cNvSpPr txBox="1"/>
          <p:nvPr/>
        </p:nvSpPr>
        <p:spPr>
          <a:xfrm>
            <a:off x="777240" y="2331720"/>
            <a:ext cx="8778240" cy="1371600"/>
          </a:xfrm>
          <a:prstGeom prst="rect">
            <a:avLst/>
          </a:prstGeom>
          <a:noFill/>
          <a:ln/>
        </p:spPr>
        <p:txBody>
          <a:bodyPr wrap="square" lIns="0" tIns="0" rIns="0" bIns="0" rtlCol="0" anchor="ctr"/>
          <a:lstStyle/>
          <a:p>
            <a:pPr indent="0" marL="0">
              <a:lnSpc>
                <a:spcPts val="3200"/>
              </a:lnSpc>
              <a:buNone/>
            </a:pPr>
            <a:r>
              <a:rPr lang="en-US" sz="2300" i="1" dirty="0">
                <a:solidFill>
                  <a:srgbClr val="C9C2B6"/>
                </a:solidFill>
                <a:latin typeface="Cambria" pitchFamily="34" charset="0"/>
                <a:ea typeface="Cambria" pitchFamily="34" charset="-122"/>
                <a:cs typeface="Cambria" pitchFamily="34" charset="-120"/>
              </a:rPr>
              <a:t>Every pharmacy guesses how much to order.</a:t>
            </a:r>
            <a:endParaRPr lang="en-US" sz="2300" dirty="0"/>
          </a:p>
          <a:p>
            <a:pPr indent="0" marL="0">
              <a:lnSpc>
                <a:spcPts val="3200"/>
              </a:lnSpc>
              <a:buNone/>
            </a:pPr>
            <a:r>
              <a:rPr lang="en-US" sz="2300" i="1" dirty="0">
                <a:solidFill>
                  <a:srgbClr val="C9C2B6"/>
                </a:solidFill>
                <a:latin typeface="Cambria" pitchFamily="34" charset="0"/>
                <a:ea typeface="Cambria" pitchFamily="34" charset="-122"/>
                <a:cs typeface="Cambria" pitchFamily="34" charset="-120"/>
              </a:rPr>
              <a:t>We calculate it — with the odds, the cost of being wrong,</a:t>
            </a:r>
            <a:endParaRPr lang="en-US" sz="2300" dirty="0"/>
          </a:p>
          <a:p>
            <a:pPr indent="0" marL="0">
              <a:lnSpc>
                <a:spcPts val="3200"/>
              </a:lnSpc>
              <a:buNone/>
            </a:pPr>
            <a:r>
              <a:rPr lang="en-US" sz="2300" i="1" dirty="0">
                <a:solidFill>
                  <a:srgbClr val="C9C2B6"/>
                </a:solidFill>
                <a:latin typeface="Cambria" pitchFamily="34" charset="0"/>
                <a:ea typeface="Cambria" pitchFamily="34" charset="-122"/>
                <a:cs typeface="Cambria" pitchFamily="34" charset="-120"/>
              </a:rPr>
              <a:t>and the reason behind the number.</a:t>
            </a:r>
            <a:endParaRPr lang="en-US" sz="2300" dirty="0"/>
          </a:p>
        </p:txBody>
      </p:sp>
      <p:sp>
        <p:nvSpPr>
          <p:cNvPr id="5" name="Text 3"/>
          <p:cNvSpPr txBox="1"/>
          <p:nvPr/>
        </p:nvSpPr>
        <p:spPr>
          <a:xfrm>
            <a:off x="777240" y="3886200"/>
            <a:ext cx="5486400" cy="274320"/>
          </a:xfrm>
          <a:prstGeom prst="rect">
            <a:avLst/>
          </a:prstGeom>
          <a:noFill/>
          <a:ln/>
        </p:spPr>
        <p:txBody>
          <a:bodyPr wrap="square" lIns="0" tIns="0" rIns="0" bIns="0" rtlCol="0" anchor="ctr"/>
          <a:lstStyle/>
          <a:p>
            <a:pPr indent="0" marL="0">
              <a:buNone/>
            </a:pPr>
            <a:r>
              <a:rPr lang="en-US" sz="1050" spc="220" kern="0" dirty="0">
                <a:solidFill>
                  <a:srgbClr val="6B6459"/>
                </a:solidFill>
                <a:latin typeface="Courier New" pitchFamily="34" charset="0"/>
                <a:ea typeface="Courier New" pitchFamily="34" charset="-122"/>
                <a:cs typeface="Courier New" pitchFamily="34" charset="-120"/>
              </a:rPr>
              <a:t>THE PROPOSED SOLUTION</a:t>
            </a:r>
            <a:endParaRPr lang="en-US" sz="1050" dirty="0"/>
          </a:p>
        </p:txBody>
      </p:sp>
      <p:sp>
        <p:nvSpPr>
          <p:cNvPr id="6" name="Text 4"/>
          <p:cNvSpPr txBox="1"/>
          <p:nvPr/>
        </p:nvSpPr>
        <p:spPr>
          <a:xfrm>
            <a:off x="777240" y="4224528"/>
            <a:ext cx="1691640" cy="658368"/>
          </a:xfrm>
          <a:prstGeom prst="rect">
            <a:avLst/>
          </a:prstGeom>
          <a:solidFill>
            <a:srgbClr val="2A2521"/>
          </a:solidFill>
          <a:ln/>
        </p:spPr>
        <p:txBody>
          <a:bodyPr wrap="square" lIns="0" tIns="0" rIns="0" bIns="0" rtlCol="0" anchor="ctr"/>
          <a:lstStyle/>
          <a:p>
            <a:pPr algn="ctr" indent="0" marL="0">
              <a:lnSpc>
                <a:spcPts val="1400"/>
              </a:lnSpc>
              <a:buNone/>
            </a:pPr>
            <a:r>
              <a:rPr lang="en-US" sz="1050" dirty="0">
                <a:solidFill>
                  <a:srgbClr val="F7F4EE"/>
                </a:solidFill>
                <a:latin typeface="Calibri" pitchFamily="34" charset="0"/>
                <a:ea typeface="Calibri" pitchFamily="34" charset="-122"/>
                <a:cs typeface="Calibri" pitchFamily="34" charset="-120"/>
              </a:rPr>
              <a:t>six years</a:t>
            </a:r>
            <a:endParaRPr lang="en-US" sz="1050" dirty="0"/>
          </a:p>
          <a:p>
            <a:pPr algn="ctr" indent="0" marL="0">
              <a:lnSpc>
                <a:spcPts val="1400"/>
              </a:lnSpc>
              <a:buNone/>
            </a:pPr>
            <a:r>
              <a:rPr lang="en-US" sz="1050" dirty="0">
                <a:solidFill>
                  <a:srgbClr val="F7F4EE"/>
                </a:solidFill>
                <a:latin typeface="Calibri" pitchFamily="34" charset="0"/>
                <a:ea typeface="Calibri" pitchFamily="34" charset="-122"/>
                <a:cs typeface="Calibri" pitchFamily="34" charset="-120"/>
              </a:rPr>
              <a:t>of real sales</a:t>
            </a:r>
            <a:endParaRPr lang="en-US" sz="1050" dirty="0"/>
          </a:p>
        </p:txBody>
      </p:sp>
      <p:sp>
        <p:nvSpPr>
          <p:cNvPr id="7" name="Text 5"/>
          <p:cNvSpPr txBox="1"/>
          <p:nvPr/>
        </p:nvSpPr>
        <p:spPr>
          <a:xfrm>
            <a:off x="2468880" y="4224528"/>
            <a:ext cx="274320" cy="658368"/>
          </a:xfrm>
          <a:prstGeom prst="rect">
            <a:avLst/>
          </a:prstGeom>
          <a:noFill/>
          <a:ln/>
        </p:spPr>
        <p:txBody>
          <a:bodyPr wrap="square" lIns="0" tIns="0" rIns="0" bIns="0" rtlCol="0" anchor="ctr"/>
          <a:lstStyle/>
          <a:p>
            <a:pPr algn="ctr" indent="0" marL="0">
              <a:buNone/>
            </a:pPr>
            <a:r>
              <a:rPr lang="en-US" sz="1400" dirty="0">
                <a:solidFill>
                  <a:srgbClr val="5FD39B"/>
                </a:solidFill>
                <a:latin typeface="Calibri" pitchFamily="34" charset="0"/>
                <a:ea typeface="Calibri" pitchFamily="34" charset="-122"/>
                <a:cs typeface="Calibri" pitchFamily="34" charset="-120"/>
              </a:rPr>
              <a:t>→</a:t>
            </a:r>
            <a:endParaRPr lang="en-US" sz="1400" dirty="0"/>
          </a:p>
        </p:txBody>
      </p:sp>
      <p:sp>
        <p:nvSpPr>
          <p:cNvPr id="8" name="Text 6"/>
          <p:cNvSpPr txBox="1"/>
          <p:nvPr/>
        </p:nvSpPr>
        <p:spPr>
          <a:xfrm>
            <a:off x="2743200" y="4224528"/>
            <a:ext cx="1691640" cy="658368"/>
          </a:xfrm>
          <a:prstGeom prst="rect">
            <a:avLst/>
          </a:prstGeom>
          <a:solidFill>
            <a:srgbClr val="2A2521"/>
          </a:solidFill>
          <a:ln/>
        </p:spPr>
        <p:txBody>
          <a:bodyPr wrap="square" lIns="0" tIns="0" rIns="0" bIns="0" rtlCol="0" anchor="ctr"/>
          <a:lstStyle/>
          <a:p>
            <a:pPr algn="ctr" indent="0" marL="0">
              <a:lnSpc>
                <a:spcPts val="1400"/>
              </a:lnSpc>
              <a:buNone/>
            </a:pPr>
            <a:r>
              <a:rPr lang="en-US" sz="1050" dirty="0">
                <a:solidFill>
                  <a:srgbClr val="F7F4EE"/>
                </a:solidFill>
                <a:latin typeface="Calibri" pitchFamily="34" charset="0"/>
                <a:ea typeface="Calibri" pitchFamily="34" charset="-122"/>
                <a:cs typeface="Calibri" pitchFamily="34" charset="-120"/>
              </a:rPr>
              <a:t>a demand</a:t>
            </a:r>
            <a:endParaRPr lang="en-US" sz="1050" dirty="0"/>
          </a:p>
          <a:p>
            <a:pPr algn="ctr" indent="0" marL="0">
              <a:lnSpc>
                <a:spcPts val="1400"/>
              </a:lnSpc>
              <a:buNone/>
            </a:pPr>
            <a:r>
              <a:rPr lang="en-US" sz="1050" dirty="0">
                <a:solidFill>
                  <a:srgbClr val="F7F4EE"/>
                </a:solidFill>
                <a:latin typeface="Calibri" pitchFamily="34" charset="0"/>
                <a:ea typeface="Calibri" pitchFamily="34" charset="-122"/>
                <a:cs typeface="Calibri" pitchFamily="34" charset="-120"/>
              </a:rPr>
              <a:t>distribution</a:t>
            </a:r>
            <a:endParaRPr lang="en-US" sz="1050" dirty="0"/>
          </a:p>
        </p:txBody>
      </p:sp>
      <p:sp>
        <p:nvSpPr>
          <p:cNvPr id="9" name="Text 7"/>
          <p:cNvSpPr txBox="1"/>
          <p:nvPr/>
        </p:nvSpPr>
        <p:spPr>
          <a:xfrm>
            <a:off x="4434840" y="4224528"/>
            <a:ext cx="274320" cy="658368"/>
          </a:xfrm>
          <a:prstGeom prst="rect">
            <a:avLst/>
          </a:prstGeom>
          <a:noFill/>
          <a:ln/>
        </p:spPr>
        <p:txBody>
          <a:bodyPr wrap="square" lIns="0" tIns="0" rIns="0" bIns="0" rtlCol="0" anchor="ctr"/>
          <a:lstStyle/>
          <a:p>
            <a:pPr algn="ctr" indent="0" marL="0">
              <a:buNone/>
            </a:pPr>
            <a:r>
              <a:rPr lang="en-US" sz="1400" dirty="0">
                <a:solidFill>
                  <a:srgbClr val="5FD39B"/>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4709160" y="4224528"/>
            <a:ext cx="1691640" cy="658368"/>
          </a:xfrm>
          <a:prstGeom prst="rect">
            <a:avLst/>
          </a:prstGeom>
          <a:solidFill>
            <a:srgbClr val="2A2521"/>
          </a:solidFill>
          <a:ln/>
        </p:spPr>
        <p:txBody>
          <a:bodyPr wrap="square" lIns="0" tIns="0" rIns="0" bIns="0" rtlCol="0" anchor="ctr"/>
          <a:lstStyle/>
          <a:p>
            <a:pPr algn="ctr" indent="0" marL="0">
              <a:lnSpc>
                <a:spcPts val="1400"/>
              </a:lnSpc>
              <a:buNone/>
            </a:pPr>
            <a:r>
              <a:rPr lang="en-US" sz="1050" dirty="0">
                <a:solidFill>
                  <a:srgbClr val="F7F4EE"/>
                </a:solidFill>
                <a:latin typeface="Calibri" pitchFamily="34" charset="0"/>
                <a:ea typeface="Calibri" pitchFamily="34" charset="-122"/>
                <a:cs typeface="Calibri" pitchFamily="34" charset="-120"/>
              </a:rPr>
              <a:t>intervals we</a:t>
            </a:r>
            <a:endParaRPr lang="en-US" sz="1050" dirty="0"/>
          </a:p>
          <a:p>
            <a:pPr algn="ctr" indent="0" marL="0">
              <a:lnSpc>
                <a:spcPts val="1400"/>
              </a:lnSpc>
              <a:buNone/>
            </a:pPr>
            <a:r>
              <a:rPr lang="en-US" sz="1050" dirty="0">
                <a:solidFill>
                  <a:srgbClr val="F7F4EE"/>
                </a:solidFill>
                <a:latin typeface="Calibri" pitchFamily="34" charset="0"/>
                <a:ea typeface="Calibri" pitchFamily="34" charset="-122"/>
                <a:cs typeface="Calibri" pitchFamily="34" charset="-120"/>
              </a:rPr>
              <a:t>checked and fixed</a:t>
            </a:r>
            <a:endParaRPr lang="en-US" sz="1050" dirty="0"/>
          </a:p>
        </p:txBody>
      </p:sp>
      <p:sp>
        <p:nvSpPr>
          <p:cNvPr id="11" name="Text 9"/>
          <p:cNvSpPr txBox="1"/>
          <p:nvPr/>
        </p:nvSpPr>
        <p:spPr>
          <a:xfrm>
            <a:off x="6400800" y="4224528"/>
            <a:ext cx="274320" cy="658368"/>
          </a:xfrm>
          <a:prstGeom prst="rect">
            <a:avLst/>
          </a:prstGeom>
          <a:noFill/>
          <a:ln/>
        </p:spPr>
        <p:txBody>
          <a:bodyPr wrap="square" lIns="0" tIns="0" rIns="0" bIns="0" rtlCol="0" anchor="ctr"/>
          <a:lstStyle/>
          <a:p>
            <a:pPr algn="ctr" indent="0" marL="0">
              <a:buNone/>
            </a:pPr>
            <a:r>
              <a:rPr lang="en-US" sz="1400" dirty="0">
                <a:solidFill>
                  <a:srgbClr val="5FD39B"/>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6675120" y="4224528"/>
            <a:ext cx="1691640" cy="658368"/>
          </a:xfrm>
          <a:prstGeom prst="rect">
            <a:avLst/>
          </a:prstGeom>
          <a:solidFill>
            <a:srgbClr val="5FD39B"/>
          </a:solidFill>
          <a:ln/>
        </p:spPr>
        <p:txBody>
          <a:bodyPr wrap="square" lIns="0" tIns="0" rIns="0" bIns="0" rtlCol="0" anchor="ctr"/>
          <a:lstStyle/>
          <a:p>
            <a:pPr algn="ctr" indent="0" marL="0">
              <a:lnSpc>
                <a:spcPts val="1400"/>
              </a:lnSpc>
              <a:buNone/>
            </a:pPr>
            <a:r>
              <a:rPr lang="en-US" sz="1050" dirty="0">
                <a:solidFill>
                  <a:srgbClr val="14110D"/>
                </a:solidFill>
                <a:latin typeface="Calibri" pitchFamily="34" charset="0"/>
                <a:ea typeface="Calibri" pitchFamily="34" charset="-122"/>
                <a:cs typeface="Calibri" pitchFamily="34" charset="-120"/>
              </a:rPr>
              <a:t>a purchase order,</a:t>
            </a:r>
            <a:endParaRPr lang="en-US" sz="1050" dirty="0"/>
          </a:p>
          <a:p>
            <a:pPr algn="ctr" indent="0" marL="0">
              <a:lnSpc>
                <a:spcPts val="1400"/>
              </a:lnSpc>
              <a:buNone/>
            </a:pPr>
            <a:r>
              <a:rPr lang="en-US" sz="1050" dirty="0">
                <a:solidFill>
                  <a:srgbClr val="14110D"/>
                </a:solidFill>
                <a:latin typeface="Calibri" pitchFamily="34" charset="0"/>
                <a:ea typeface="Calibri" pitchFamily="34" charset="-122"/>
                <a:cs typeface="Calibri" pitchFamily="34" charset="-120"/>
              </a:rPr>
              <a:t>in packs</a:t>
            </a:r>
            <a:endParaRPr lang="en-US" sz="1050" dirty="0"/>
          </a:p>
        </p:txBody>
      </p:sp>
      <p:sp>
        <p:nvSpPr>
          <p:cNvPr id="13" name="Text 11"/>
          <p:cNvSpPr txBox="1"/>
          <p:nvPr/>
        </p:nvSpPr>
        <p:spPr>
          <a:xfrm>
            <a:off x="8549640" y="4224528"/>
            <a:ext cx="2880360" cy="658368"/>
          </a:xfrm>
          <a:prstGeom prst="rect">
            <a:avLst/>
          </a:prstGeom>
          <a:noFill/>
          <a:ln/>
        </p:spPr>
        <p:txBody>
          <a:bodyPr wrap="square" lIns="0" tIns="0" rIns="0" bIns="0" rtlCol="0" anchor="ctr"/>
          <a:lstStyle/>
          <a:p>
            <a:pPr indent="0" marL="0">
              <a:lnSpc>
                <a:spcPts val="1500"/>
              </a:lnSpc>
              <a:buNone/>
            </a:pPr>
            <a:r>
              <a:rPr lang="en-US" sz="1150" i="1" dirty="0">
                <a:solidFill>
                  <a:srgbClr val="9A9287"/>
                </a:solidFill>
                <a:latin typeface="Calibri" pitchFamily="34" charset="0"/>
                <a:ea typeface="Calibri" pitchFamily="34" charset="-122"/>
                <a:cs typeface="Calibri" pitchFamily="34" charset="-120"/>
              </a:rPr>
              <a:t>Almost every tool in this</a:t>
            </a:r>
            <a:endParaRPr lang="en-US" sz="1150" dirty="0"/>
          </a:p>
          <a:p>
            <a:pPr indent="0" marL="0">
              <a:lnSpc>
                <a:spcPts val="1500"/>
              </a:lnSpc>
              <a:buNone/>
            </a:pPr>
            <a:r>
              <a:rPr lang="en-US" sz="1150" i="1" dirty="0">
                <a:solidFill>
                  <a:srgbClr val="9A9287"/>
                </a:solidFill>
                <a:latin typeface="Calibri" pitchFamily="34" charset="0"/>
                <a:ea typeface="Calibri" pitchFamily="34" charset="-122"/>
                <a:cs typeface="Calibri" pitchFamily="34" charset="-120"/>
              </a:rPr>
              <a:t>market stops after box two.</a:t>
            </a:r>
            <a:endParaRPr lang="en-US" sz="1150" dirty="0"/>
          </a:p>
        </p:txBody>
      </p:sp>
      <p:sp>
        <p:nvSpPr>
          <p:cNvPr id="14" name="Text 12"/>
          <p:cNvSpPr txBox="1"/>
          <p:nvPr/>
        </p:nvSpPr>
        <p:spPr>
          <a:xfrm>
            <a:off x="777240" y="5257800"/>
            <a:ext cx="3291840" cy="621792"/>
          </a:xfrm>
          <a:prstGeom prst="rect">
            <a:avLst/>
          </a:prstGeom>
          <a:noFill/>
          <a:ln/>
        </p:spPr>
        <p:txBody>
          <a:bodyPr wrap="square" lIns="0" tIns="0" rIns="0" bIns="0" rtlCol="0" anchor="ctr"/>
          <a:lstStyle/>
          <a:p>
            <a:pPr indent="0" marL="0">
              <a:buNone/>
            </a:pPr>
            <a:r>
              <a:rPr lang="en-US" sz="3200" b="1" dirty="0">
                <a:solidFill>
                  <a:srgbClr val="F7F4EE"/>
                </a:solidFill>
                <a:latin typeface="Courier New" pitchFamily="34" charset="0"/>
                <a:ea typeface="Courier New" pitchFamily="34" charset="-122"/>
                <a:cs typeface="Courier New" pitchFamily="34" charset="-120"/>
              </a:rPr>
              <a:t>0.907</a:t>
            </a:r>
            <a:endParaRPr lang="en-US" sz="3200" dirty="0"/>
          </a:p>
        </p:txBody>
      </p:sp>
      <p:sp>
        <p:nvSpPr>
          <p:cNvPr id="15" name="Text 13"/>
          <p:cNvSpPr txBox="1"/>
          <p:nvPr/>
        </p:nvSpPr>
        <p:spPr>
          <a:xfrm>
            <a:off x="777240" y="5870448"/>
            <a:ext cx="3291840" cy="512064"/>
          </a:xfrm>
          <a:prstGeom prst="rect">
            <a:avLst/>
          </a:prstGeom>
          <a:noFill/>
          <a:ln/>
        </p:spPr>
        <p:txBody>
          <a:bodyPr wrap="square" lIns="0" tIns="0" rIns="0" bIns="0" rtlCol="0" anchor="ctr"/>
          <a:lstStyle/>
          <a:p>
            <a:pPr indent="0" marL="0">
              <a:lnSpc>
                <a:spcPts val="1400"/>
              </a:lnSpc>
              <a:buNone/>
            </a:pPr>
            <a:r>
              <a:rPr lang="en-US" sz="1100" dirty="0">
                <a:solidFill>
                  <a:srgbClr val="9A9287"/>
                </a:solidFill>
                <a:latin typeface="Calibri" pitchFamily="34" charset="0"/>
                <a:ea typeface="Calibri" pitchFamily="34" charset="-122"/>
                <a:cs typeface="Calibri" pitchFamily="34" charset="-120"/>
              </a:rPr>
              <a:t>ensemble MASE</a:t>
            </a:r>
            <a:endParaRPr lang="en-US" sz="1100" dirty="0"/>
          </a:p>
          <a:p>
            <a:pPr indent="0" marL="0">
              <a:lnSpc>
                <a:spcPts val="1400"/>
              </a:lnSpc>
              <a:buNone/>
            </a:pPr>
            <a:r>
              <a:rPr lang="en-US" sz="1100" dirty="0">
                <a:solidFill>
                  <a:srgbClr val="9A9287"/>
                </a:solidFill>
                <a:latin typeface="Calibri" pitchFamily="34" charset="0"/>
                <a:ea typeface="Calibri" pitchFamily="34" charset="-122"/>
                <a:cs typeface="Calibri" pitchFamily="34" charset="-120"/>
              </a:rPr>
              <a:t>18.8% better than the benchmark</a:t>
            </a:r>
            <a:endParaRPr lang="en-US" sz="1100" dirty="0"/>
          </a:p>
        </p:txBody>
      </p:sp>
      <p:sp>
        <p:nvSpPr>
          <p:cNvPr id="16" name="Text 14"/>
          <p:cNvSpPr txBox="1"/>
          <p:nvPr/>
        </p:nvSpPr>
        <p:spPr>
          <a:xfrm>
            <a:off x="4343400" y="5257800"/>
            <a:ext cx="3291840" cy="621792"/>
          </a:xfrm>
          <a:prstGeom prst="rect">
            <a:avLst/>
          </a:prstGeom>
          <a:noFill/>
          <a:ln/>
        </p:spPr>
        <p:txBody>
          <a:bodyPr wrap="square" lIns="0" tIns="0" rIns="0" bIns="0" rtlCol="0" anchor="ctr"/>
          <a:lstStyle/>
          <a:p>
            <a:pPr indent="0" marL="0">
              <a:buNone/>
            </a:pPr>
            <a:r>
              <a:rPr lang="en-US" sz="3200" b="1" dirty="0">
                <a:solidFill>
                  <a:srgbClr val="F7F4EE"/>
                </a:solidFill>
                <a:latin typeface="Courier New" pitchFamily="34" charset="0"/>
                <a:ea typeface="Courier New" pitchFamily="34" charset="-122"/>
                <a:cs typeface="Courier New" pitchFamily="34" charset="-120"/>
              </a:rPr>
              <a:t>69.5%</a:t>
            </a:r>
            <a:endParaRPr lang="en-US" sz="3200" dirty="0"/>
          </a:p>
        </p:txBody>
      </p:sp>
      <p:sp>
        <p:nvSpPr>
          <p:cNvPr id="17" name="Text 15"/>
          <p:cNvSpPr txBox="1"/>
          <p:nvPr/>
        </p:nvSpPr>
        <p:spPr>
          <a:xfrm>
            <a:off x="4343400" y="5870448"/>
            <a:ext cx="3291840" cy="512064"/>
          </a:xfrm>
          <a:prstGeom prst="rect">
            <a:avLst/>
          </a:prstGeom>
          <a:noFill/>
          <a:ln/>
        </p:spPr>
        <p:txBody>
          <a:bodyPr wrap="square" lIns="0" tIns="0" rIns="0" bIns="0" rtlCol="0" anchor="ctr"/>
          <a:lstStyle/>
          <a:p>
            <a:pPr indent="0" marL="0">
              <a:lnSpc>
                <a:spcPts val="1400"/>
              </a:lnSpc>
              <a:buNone/>
            </a:pPr>
            <a:r>
              <a:rPr lang="en-US" sz="1100" dirty="0">
                <a:solidFill>
                  <a:srgbClr val="9A9287"/>
                </a:solidFill>
                <a:latin typeface="Calibri" pitchFamily="34" charset="0"/>
                <a:ea typeface="Calibri" pitchFamily="34" charset="-122"/>
                <a:cs typeface="Calibri" pitchFamily="34" charset="-120"/>
              </a:rPr>
              <a:t>lower inventory cost than a</a:t>
            </a:r>
            <a:endParaRPr lang="en-US" sz="1100" dirty="0"/>
          </a:p>
          <a:p>
            <a:pPr indent="0" marL="0">
              <a:lnSpc>
                <a:spcPts val="1400"/>
              </a:lnSpc>
              <a:buNone/>
            </a:pPr>
            <a:r>
              <a:rPr lang="en-US" sz="1100" dirty="0">
                <a:solidFill>
                  <a:srgbClr val="9A9287"/>
                </a:solidFill>
                <a:latin typeface="Calibri" pitchFamily="34" charset="0"/>
                <a:ea typeface="Calibri" pitchFamily="34" charset="-122"/>
                <a:cs typeface="Calibri" pitchFamily="34" charset="-120"/>
              </a:rPr>
              <a:t>min/max policy, replayed on real days</a:t>
            </a:r>
            <a:endParaRPr lang="en-US" sz="1100" dirty="0"/>
          </a:p>
        </p:txBody>
      </p:sp>
      <p:sp>
        <p:nvSpPr>
          <p:cNvPr id="18" name="Text 16"/>
          <p:cNvSpPr txBox="1"/>
          <p:nvPr/>
        </p:nvSpPr>
        <p:spPr>
          <a:xfrm>
            <a:off x="7909560" y="5257800"/>
            <a:ext cx="3291840" cy="621792"/>
          </a:xfrm>
          <a:prstGeom prst="rect">
            <a:avLst/>
          </a:prstGeom>
          <a:noFill/>
          <a:ln/>
        </p:spPr>
        <p:txBody>
          <a:bodyPr wrap="square" lIns="0" tIns="0" rIns="0" bIns="0" rtlCol="0" anchor="ctr"/>
          <a:lstStyle/>
          <a:p>
            <a:pPr indent="0" marL="0">
              <a:buNone/>
            </a:pPr>
            <a:r>
              <a:rPr lang="en-US" sz="3200" b="1" dirty="0">
                <a:solidFill>
                  <a:srgbClr val="F7F4EE"/>
                </a:solidFill>
                <a:latin typeface="Courier New" pitchFamily="34" charset="0"/>
                <a:ea typeface="Courier New" pitchFamily="34" charset="-122"/>
                <a:cs typeface="Courier New" pitchFamily="34" charset="-120"/>
              </a:rPr>
              <a:t>138</a:t>
            </a:r>
            <a:endParaRPr lang="en-US" sz="3200" dirty="0"/>
          </a:p>
        </p:txBody>
      </p:sp>
      <p:sp>
        <p:nvSpPr>
          <p:cNvPr id="19" name="Text 17"/>
          <p:cNvSpPr txBox="1"/>
          <p:nvPr/>
        </p:nvSpPr>
        <p:spPr>
          <a:xfrm>
            <a:off x="7909560" y="5870448"/>
            <a:ext cx="3291840" cy="512064"/>
          </a:xfrm>
          <a:prstGeom prst="rect">
            <a:avLst/>
          </a:prstGeom>
          <a:noFill/>
          <a:ln/>
        </p:spPr>
        <p:txBody>
          <a:bodyPr wrap="square" lIns="0" tIns="0" rIns="0" bIns="0" rtlCol="0" anchor="ctr"/>
          <a:lstStyle/>
          <a:p>
            <a:pPr indent="0" marL="0">
              <a:lnSpc>
                <a:spcPts val="1400"/>
              </a:lnSpc>
              <a:buNone/>
            </a:pPr>
            <a:r>
              <a:rPr lang="en-US" sz="1100" dirty="0">
                <a:solidFill>
                  <a:srgbClr val="9A9287"/>
                </a:solidFill>
                <a:latin typeface="Calibri" pitchFamily="34" charset="0"/>
                <a:ea typeface="Calibri" pitchFamily="34" charset="-122"/>
                <a:cs typeface="Calibri" pitchFamily="34" charset="-120"/>
              </a:rPr>
              <a:t>tests, and a benchmark that</a:t>
            </a:r>
            <a:endParaRPr lang="en-US" sz="1100" dirty="0"/>
          </a:p>
          <a:p>
            <a:pPr indent="0" marL="0">
              <a:lnSpc>
                <a:spcPts val="1400"/>
              </a:lnSpc>
              <a:buNone/>
            </a:pPr>
            <a:r>
              <a:rPr lang="en-US" sz="1100" dirty="0">
                <a:solidFill>
                  <a:srgbClr val="9A9287"/>
                </a:solidFill>
                <a:latin typeface="Calibri" pitchFamily="34" charset="0"/>
                <a:ea typeface="Calibri" pitchFamily="34" charset="-122"/>
                <a:cs typeface="Calibri" pitchFamily="34" charset="-120"/>
              </a:rPr>
              <a:t>reruns from a clean clone in CI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USE CASE #14 · WHAT WAS ASKED</a:t>
            </a:r>
            <a:endParaRPr lang="en-US" sz="1100" dirty="0"/>
          </a:p>
        </p:txBody>
      </p:sp>
      <p:sp>
        <p:nvSpPr>
          <p:cNvPr id="3" name="Text 1"/>
          <p:cNvSpPr txBox="1"/>
          <p:nvPr/>
        </p:nvSpPr>
        <p:spPr>
          <a:xfrm>
            <a:off x="777240" y="868680"/>
            <a:ext cx="10637215" cy="1600200"/>
          </a:xfrm>
          <a:prstGeom prst="rect">
            <a:avLst/>
          </a:prstGeom>
          <a:noFill/>
          <a:ln/>
        </p:spPr>
        <p:txBody>
          <a:bodyPr wrap="square" lIns="0" tIns="0" rIns="0" bIns="0" rtlCol="0" anchor="ctr"/>
          <a:lstStyle/>
          <a:p>
            <a:pPr indent="0" marL="0">
              <a:lnSpc>
                <a:spcPts val="4256"/>
              </a:lnSpc>
              <a:buNone/>
            </a:pPr>
            <a:r>
              <a:rPr lang="en-US" sz="3800" dirty="0">
                <a:solidFill>
                  <a:srgbClr val="14110D"/>
                </a:solidFill>
                <a:latin typeface="Cambria" pitchFamily="34" charset="0"/>
                <a:ea typeface="Cambria" pitchFamily="34" charset="-122"/>
                <a:cs typeface="Cambria" pitchFamily="34" charset="-120"/>
              </a:rPr>
              <a:t>Analyse pharmaceutical sales.</a:t>
            </a:r>
            <a:endParaRPr lang="en-US" sz="3800" dirty="0"/>
          </a:p>
          <a:p>
            <a:pPr indent="0" marL="0">
              <a:lnSpc>
                <a:spcPts val="4256"/>
              </a:lnSpc>
              <a:buNone/>
            </a:pPr>
            <a:r>
              <a:rPr lang="en-US" sz="3800" dirty="0">
                <a:solidFill>
                  <a:srgbClr val="14110D"/>
                </a:solidFill>
                <a:latin typeface="Cambria" pitchFamily="34" charset="0"/>
                <a:ea typeface="Cambria" pitchFamily="34" charset="-122"/>
                <a:cs typeface="Cambria" pitchFamily="34" charset="-120"/>
              </a:rPr>
              <a:t>Forecast future demand.</a:t>
            </a:r>
            <a:endParaRPr lang="en-US" sz="3800" dirty="0"/>
          </a:p>
        </p:txBody>
      </p:sp>
      <p:sp>
        <p:nvSpPr>
          <p:cNvPr id="4" name="Shape 2"/>
          <p:cNvSpPr/>
          <p:nvPr/>
        </p:nvSpPr>
        <p:spPr>
          <a:xfrm>
            <a:off x="777240" y="2514600"/>
            <a:ext cx="5120640" cy="3108960"/>
          </a:xfrm>
          <a:prstGeom prst="rect">
            <a:avLst/>
          </a:prstGeom>
          <a:solidFill>
            <a:srgbClr val="FCFAF6"/>
          </a:solidFill>
          <a:ln w="12700">
            <a:solidFill>
              <a:srgbClr val="E4DFD5"/>
            </a:solidFill>
            <a:prstDash val="solid"/>
          </a:ln>
        </p:spPr>
      </p:sp>
      <p:sp>
        <p:nvSpPr>
          <p:cNvPr id="5" name="Text 3"/>
          <p:cNvSpPr txBox="1"/>
          <p:nvPr/>
        </p:nvSpPr>
        <p:spPr>
          <a:xfrm>
            <a:off x="1069848" y="2715768"/>
            <a:ext cx="4480560" cy="256032"/>
          </a:xfrm>
          <a:prstGeom prst="rect">
            <a:avLst/>
          </a:prstGeom>
          <a:noFill/>
          <a:ln/>
        </p:spPr>
        <p:txBody>
          <a:bodyPr wrap="square" lIns="0" tIns="0" rIns="0" bIns="0" rtlCol="0" anchor="ctr"/>
          <a:lstStyle/>
          <a:p>
            <a:pPr indent="0" marL="0">
              <a:buNone/>
            </a:pPr>
            <a:r>
              <a:rPr lang="en-US" sz="1050" spc="200" kern="0" dirty="0">
                <a:solidFill>
                  <a:srgbClr val="9A9287"/>
                </a:solidFill>
                <a:latin typeface="Courier New" pitchFamily="34" charset="0"/>
                <a:ea typeface="Courier New" pitchFamily="34" charset="-122"/>
                <a:cs typeface="Courier New" pitchFamily="34" charset="-120"/>
              </a:rPr>
              <a:t>THE BRIEF</a:t>
            </a:r>
            <a:endParaRPr lang="en-US" sz="1050" dirty="0"/>
          </a:p>
        </p:txBody>
      </p:sp>
      <p:sp>
        <p:nvSpPr>
          <p:cNvPr id="6" name="Text 4"/>
          <p:cNvSpPr txBox="1"/>
          <p:nvPr/>
        </p:nvSpPr>
        <p:spPr>
          <a:xfrm>
            <a:off x="1069848" y="3035808"/>
            <a:ext cx="4526280" cy="914400"/>
          </a:xfrm>
          <a:prstGeom prst="rect">
            <a:avLst/>
          </a:prstGeom>
          <a:noFill/>
          <a:ln/>
        </p:spPr>
        <p:txBody>
          <a:bodyPr wrap="square" lIns="0" tIns="0" rIns="0" bIns="0" rtlCol="0" anchor="ctr"/>
          <a:lstStyle/>
          <a:p>
            <a:pPr indent="0" marL="0">
              <a:lnSpc>
                <a:spcPts val="2000"/>
              </a:lnSpc>
              <a:buNone/>
            </a:pPr>
            <a:r>
              <a:rPr lang="en-US" sz="1400" dirty="0">
                <a:solidFill>
                  <a:srgbClr val="3B362F"/>
                </a:solidFill>
                <a:latin typeface="Calibri" pitchFamily="34" charset="0"/>
                <a:ea typeface="Calibri" pitchFamily="34" charset="-122"/>
                <a:cs typeface="Calibri" pitchFamily="34" charset="-120"/>
              </a:rPr>
              <a:t>Analyse historical pharmaceutical sales, identify demand patterns and seasonality, and forecast future sales so that inventory can be planned.</a:t>
            </a:r>
            <a:endParaRPr lang="en-US" sz="1400" dirty="0"/>
          </a:p>
        </p:txBody>
      </p:sp>
      <p:sp>
        <p:nvSpPr>
          <p:cNvPr id="7" name="Text 5"/>
          <p:cNvSpPr txBox="1"/>
          <p:nvPr/>
        </p:nvSpPr>
        <p:spPr>
          <a:xfrm>
            <a:off x="1069848" y="4069080"/>
            <a:ext cx="4480560" cy="256032"/>
          </a:xfrm>
          <a:prstGeom prst="rect">
            <a:avLst/>
          </a:prstGeom>
          <a:noFill/>
          <a:ln/>
        </p:spPr>
        <p:txBody>
          <a:bodyPr wrap="square" lIns="0" tIns="0" rIns="0" bIns="0" rtlCol="0" anchor="ctr"/>
          <a:lstStyle/>
          <a:p>
            <a:pPr indent="0" marL="0">
              <a:buNone/>
            </a:pPr>
            <a:r>
              <a:rPr lang="en-US" sz="1050" spc="200" kern="0" dirty="0">
                <a:solidFill>
                  <a:srgbClr val="9A9287"/>
                </a:solidFill>
                <a:latin typeface="Courier New" pitchFamily="34" charset="0"/>
                <a:ea typeface="Courier New" pitchFamily="34" charset="-122"/>
                <a:cs typeface="Courier New" pitchFamily="34" charset="-120"/>
              </a:rPr>
              <a:t>HOW WE READ IT</a:t>
            </a:r>
            <a:endParaRPr lang="en-US" sz="1050" dirty="0"/>
          </a:p>
        </p:txBody>
      </p:sp>
      <p:sp>
        <p:nvSpPr>
          <p:cNvPr id="8" name="Text 6"/>
          <p:cNvSpPr txBox="1"/>
          <p:nvPr/>
        </p:nvSpPr>
        <p:spPr>
          <a:xfrm>
            <a:off x="1069848" y="4389120"/>
            <a:ext cx="4526280" cy="1051560"/>
          </a:xfrm>
          <a:prstGeom prst="rect">
            <a:avLst/>
          </a:prstGeom>
          <a:noFill/>
          <a:ln/>
        </p:spPr>
        <p:txBody>
          <a:bodyPr wrap="square" lIns="0" tIns="0" rIns="0" bIns="0" rtlCol="0" anchor="ctr"/>
          <a:lstStyle/>
          <a:p>
            <a:pPr indent="0" marL="0">
              <a:lnSpc>
                <a:spcPts val="2000"/>
              </a:lnSpc>
              <a:buNone/>
            </a:pPr>
            <a:r>
              <a:rPr lang="en-US" sz="1400" dirty="0">
                <a:solidFill>
                  <a:srgbClr val="14110D"/>
                </a:solidFill>
                <a:latin typeface="Calibri" pitchFamily="34" charset="0"/>
                <a:ea typeface="Calibri" pitchFamily="34" charset="-122"/>
                <a:cs typeface="Calibri" pitchFamily="34" charset="-120"/>
              </a:rPr>
              <a:t>“So that inventory can be planned” is the actual deliverable. A forecast nobody can act on is a chart. We took the brief to its end — the purchase order.</a:t>
            </a:r>
            <a:endParaRPr lang="en-US" sz="1400" dirty="0"/>
          </a:p>
        </p:txBody>
      </p:sp>
      <p:sp>
        <p:nvSpPr>
          <p:cNvPr id="9" name="Shape 7"/>
          <p:cNvSpPr/>
          <p:nvPr/>
        </p:nvSpPr>
        <p:spPr>
          <a:xfrm>
            <a:off x="6446520" y="2514600"/>
            <a:ext cx="4983480" cy="3108960"/>
          </a:xfrm>
          <a:prstGeom prst="rect">
            <a:avLst/>
          </a:prstGeom>
          <a:solidFill>
            <a:srgbClr val="FCFAF6"/>
          </a:solidFill>
          <a:ln w="12700">
            <a:solidFill>
              <a:srgbClr val="E4DFD5"/>
            </a:solidFill>
            <a:prstDash val="solid"/>
          </a:ln>
        </p:spPr>
      </p:sp>
      <p:sp>
        <p:nvSpPr>
          <p:cNvPr id="10" name="Text 8"/>
          <p:cNvSpPr txBox="1"/>
          <p:nvPr/>
        </p:nvSpPr>
        <p:spPr>
          <a:xfrm>
            <a:off x="6739128" y="2715768"/>
            <a:ext cx="4389120" cy="256032"/>
          </a:xfrm>
          <a:prstGeom prst="rect">
            <a:avLst/>
          </a:prstGeom>
          <a:noFill/>
          <a:ln/>
        </p:spPr>
        <p:txBody>
          <a:bodyPr wrap="square" lIns="0" tIns="0" rIns="0" bIns="0" rtlCol="0" anchor="ctr"/>
          <a:lstStyle/>
          <a:p>
            <a:pPr indent="0" marL="0">
              <a:buNone/>
            </a:pPr>
            <a:r>
              <a:rPr lang="en-US" sz="1050" spc="200" kern="0" dirty="0">
                <a:solidFill>
                  <a:srgbClr val="9A9287"/>
                </a:solidFill>
                <a:latin typeface="Courier New" pitchFamily="34" charset="0"/>
                <a:ea typeface="Courier New" pitchFamily="34" charset="-122"/>
                <a:cs typeface="Courier New" pitchFamily="34" charset="-120"/>
              </a:rPr>
              <a:t>THE DATA WE WERE GIVEN</a:t>
            </a:r>
            <a:endParaRPr lang="en-US" sz="1050" dirty="0"/>
          </a:p>
        </p:txBody>
      </p:sp>
      <p:sp>
        <p:nvSpPr>
          <p:cNvPr id="11" name="Text 9"/>
          <p:cNvSpPr txBox="1"/>
          <p:nvPr/>
        </p:nvSpPr>
        <p:spPr>
          <a:xfrm>
            <a:off x="6739128" y="3127248"/>
            <a:ext cx="1143000" cy="384048"/>
          </a:xfrm>
          <a:prstGeom prst="rect">
            <a:avLst/>
          </a:prstGeom>
          <a:noFill/>
          <a:ln/>
        </p:spPr>
        <p:txBody>
          <a:bodyPr wrap="square" lIns="0" tIns="0" rIns="0" bIns="0" rtlCol="0" anchor="ctr"/>
          <a:lstStyle/>
          <a:p>
            <a:pPr algn="r" indent="0" marL="0">
              <a:buNone/>
            </a:pPr>
            <a:r>
              <a:rPr lang="en-US" sz="2000" b="1" dirty="0">
                <a:solidFill>
                  <a:srgbClr val="14110D"/>
                </a:solidFill>
                <a:latin typeface="Courier New" pitchFamily="34" charset="0"/>
                <a:ea typeface="Courier New" pitchFamily="34" charset="-122"/>
                <a:cs typeface="Courier New" pitchFamily="34" charset="-120"/>
              </a:rPr>
              <a:t>2,106</a:t>
            </a:r>
            <a:endParaRPr lang="en-US" sz="2000" dirty="0"/>
          </a:p>
        </p:txBody>
      </p:sp>
      <p:sp>
        <p:nvSpPr>
          <p:cNvPr id="12" name="Text 10"/>
          <p:cNvSpPr txBox="1"/>
          <p:nvPr/>
        </p:nvSpPr>
        <p:spPr>
          <a:xfrm>
            <a:off x="8001000" y="3191256"/>
            <a:ext cx="3200400" cy="457200"/>
          </a:xfrm>
          <a:prstGeom prst="rect">
            <a:avLst/>
          </a:prstGeom>
          <a:noFill/>
          <a:ln/>
        </p:spPr>
        <p:txBody>
          <a:bodyPr wrap="square" lIns="0" tIns="0" rIns="0" bIns="0" rtlCol="0" anchor="ctr"/>
          <a:lstStyle/>
          <a:p>
            <a:pPr indent="0" marL="0">
              <a:lnSpc>
                <a:spcPts val="1600"/>
              </a:lnSpc>
              <a:buNone/>
            </a:pPr>
            <a:r>
              <a:rPr lang="en-US" sz="1250" dirty="0">
                <a:solidFill>
                  <a:srgbClr val="6B6459"/>
                </a:solidFill>
                <a:latin typeface="Calibri" pitchFamily="34" charset="0"/>
                <a:ea typeface="Calibri" pitchFamily="34" charset="-122"/>
                <a:cs typeface="Calibri" pitchFamily="34" charset="-120"/>
              </a:rPr>
              <a:t>days · 1 Jan 2014 to 8 Oct 2019</a:t>
            </a:r>
            <a:endParaRPr lang="en-US" sz="1250" dirty="0"/>
          </a:p>
        </p:txBody>
      </p:sp>
      <p:sp>
        <p:nvSpPr>
          <p:cNvPr id="13" name="Text 11"/>
          <p:cNvSpPr txBox="1"/>
          <p:nvPr/>
        </p:nvSpPr>
        <p:spPr>
          <a:xfrm>
            <a:off x="6739128" y="3730752"/>
            <a:ext cx="1143000" cy="384048"/>
          </a:xfrm>
          <a:prstGeom prst="rect">
            <a:avLst/>
          </a:prstGeom>
          <a:noFill/>
          <a:ln/>
        </p:spPr>
        <p:txBody>
          <a:bodyPr wrap="square" lIns="0" tIns="0" rIns="0" bIns="0" rtlCol="0" anchor="ctr"/>
          <a:lstStyle/>
          <a:p>
            <a:pPr algn="r" indent="0" marL="0">
              <a:buNone/>
            </a:pPr>
            <a:r>
              <a:rPr lang="en-US" sz="2000" b="1" dirty="0">
                <a:solidFill>
                  <a:srgbClr val="14110D"/>
                </a:solidFill>
                <a:latin typeface="Courier New" pitchFamily="34" charset="0"/>
                <a:ea typeface="Courier New" pitchFamily="34" charset="-122"/>
                <a:cs typeface="Courier New" pitchFamily="34" charset="-120"/>
              </a:rPr>
              <a:t>8</a:t>
            </a:r>
            <a:endParaRPr lang="en-US" sz="2000" dirty="0"/>
          </a:p>
        </p:txBody>
      </p:sp>
      <p:sp>
        <p:nvSpPr>
          <p:cNvPr id="14" name="Text 12"/>
          <p:cNvSpPr txBox="1"/>
          <p:nvPr/>
        </p:nvSpPr>
        <p:spPr>
          <a:xfrm>
            <a:off x="8001000" y="3794760"/>
            <a:ext cx="3200400" cy="457200"/>
          </a:xfrm>
          <a:prstGeom prst="rect">
            <a:avLst/>
          </a:prstGeom>
          <a:noFill/>
          <a:ln/>
        </p:spPr>
        <p:txBody>
          <a:bodyPr wrap="square" lIns="0" tIns="0" rIns="0" bIns="0" rtlCol="0" anchor="ctr"/>
          <a:lstStyle/>
          <a:p>
            <a:pPr indent="0" marL="0">
              <a:lnSpc>
                <a:spcPts val="1600"/>
              </a:lnSpc>
              <a:buNone/>
            </a:pPr>
            <a:r>
              <a:rPr lang="en-US" sz="1250" dirty="0">
                <a:solidFill>
                  <a:srgbClr val="6B6459"/>
                </a:solidFill>
                <a:latin typeface="Calibri" pitchFamily="34" charset="0"/>
                <a:ea typeface="Calibri" pitchFamily="34" charset="-122"/>
                <a:cs typeface="Calibri" pitchFamily="34" charset="-120"/>
              </a:rPr>
              <a:t>ATC drug categories, sold in fractional units</a:t>
            </a:r>
            <a:endParaRPr lang="en-US" sz="1250" dirty="0"/>
          </a:p>
        </p:txBody>
      </p:sp>
      <p:sp>
        <p:nvSpPr>
          <p:cNvPr id="15" name="Text 13"/>
          <p:cNvSpPr txBox="1"/>
          <p:nvPr/>
        </p:nvSpPr>
        <p:spPr>
          <a:xfrm>
            <a:off x="6739128" y="4334256"/>
            <a:ext cx="1143000" cy="384048"/>
          </a:xfrm>
          <a:prstGeom prst="rect">
            <a:avLst/>
          </a:prstGeom>
          <a:noFill/>
          <a:ln/>
        </p:spPr>
        <p:txBody>
          <a:bodyPr wrap="square" lIns="0" tIns="0" rIns="0" bIns="0" rtlCol="0" anchor="ctr"/>
          <a:lstStyle/>
          <a:p>
            <a:pPr algn="r" indent="0" marL="0">
              <a:buNone/>
            </a:pPr>
            <a:r>
              <a:rPr lang="en-US" sz="2000" b="1" dirty="0">
                <a:solidFill>
                  <a:srgbClr val="14110D"/>
                </a:solidFill>
                <a:latin typeface="Courier New" pitchFamily="34" charset="0"/>
                <a:ea typeface="Courier New" pitchFamily="34" charset="-122"/>
                <a:cs typeface="Courier New" pitchFamily="34" charset="-120"/>
              </a:rPr>
              <a:t>3</a:t>
            </a:r>
            <a:endParaRPr lang="en-US" sz="2000" dirty="0"/>
          </a:p>
        </p:txBody>
      </p:sp>
      <p:sp>
        <p:nvSpPr>
          <p:cNvPr id="16" name="Text 14"/>
          <p:cNvSpPr txBox="1"/>
          <p:nvPr/>
        </p:nvSpPr>
        <p:spPr>
          <a:xfrm>
            <a:off x="8001000" y="4398264"/>
            <a:ext cx="3200400" cy="457200"/>
          </a:xfrm>
          <a:prstGeom prst="rect">
            <a:avLst/>
          </a:prstGeom>
          <a:noFill/>
          <a:ln/>
        </p:spPr>
        <p:txBody>
          <a:bodyPr wrap="square" lIns="0" tIns="0" rIns="0" bIns="0" rtlCol="0" anchor="ctr"/>
          <a:lstStyle/>
          <a:p>
            <a:pPr indent="0" marL="0">
              <a:lnSpc>
                <a:spcPts val="1600"/>
              </a:lnSpc>
              <a:buNone/>
            </a:pPr>
            <a:r>
              <a:rPr lang="en-US" sz="1250" dirty="0">
                <a:solidFill>
                  <a:srgbClr val="6B6459"/>
                </a:solidFill>
                <a:latin typeface="Calibri" pitchFamily="34" charset="0"/>
                <a:ea typeface="Calibri" pitchFamily="34" charset="-122"/>
                <a:cs typeface="Calibri" pitchFamily="34" charset="-120"/>
              </a:rPr>
              <a:t>grains — daily, weekly, monthly</a:t>
            </a:r>
            <a:endParaRPr lang="en-US" sz="1250" dirty="0"/>
          </a:p>
        </p:txBody>
      </p:sp>
      <p:sp>
        <p:nvSpPr>
          <p:cNvPr id="17" name="Text 15"/>
          <p:cNvSpPr txBox="1"/>
          <p:nvPr/>
        </p:nvSpPr>
        <p:spPr>
          <a:xfrm>
            <a:off x="6739128" y="4937760"/>
            <a:ext cx="1143000" cy="384048"/>
          </a:xfrm>
          <a:prstGeom prst="rect">
            <a:avLst/>
          </a:prstGeom>
          <a:noFill/>
          <a:ln/>
        </p:spPr>
        <p:txBody>
          <a:bodyPr wrap="square" lIns="0" tIns="0" rIns="0" bIns="0" rtlCol="0" anchor="ctr"/>
          <a:lstStyle/>
          <a:p>
            <a:pPr algn="r" indent="0" marL="0">
              <a:buNone/>
            </a:pPr>
            <a:r>
              <a:rPr lang="en-US" sz="2000" b="1" dirty="0">
                <a:solidFill>
                  <a:srgbClr val="A32E22"/>
                </a:solidFill>
                <a:latin typeface="Courier New" pitchFamily="34" charset="0"/>
                <a:ea typeface="Courier New" pitchFamily="34" charset="-122"/>
                <a:cs typeface="Courier New" pitchFamily="34" charset="-120"/>
              </a:rPr>
              <a:t>0</a:t>
            </a:r>
            <a:endParaRPr lang="en-US" sz="2000" dirty="0"/>
          </a:p>
        </p:txBody>
      </p:sp>
      <p:sp>
        <p:nvSpPr>
          <p:cNvPr id="18" name="Text 16"/>
          <p:cNvSpPr txBox="1"/>
          <p:nvPr/>
        </p:nvSpPr>
        <p:spPr>
          <a:xfrm>
            <a:off x="8001000" y="5001768"/>
            <a:ext cx="3200400" cy="457200"/>
          </a:xfrm>
          <a:prstGeom prst="rect">
            <a:avLst/>
          </a:prstGeom>
          <a:noFill/>
          <a:ln/>
        </p:spPr>
        <p:txBody>
          <a:bodyPr wrap="square" lIns="0" tIns="0" rIns="0" bIns="0" rtlCol="0" anchor="ctr"/>
          <a:lstStyle/>
          <a:p>
            <a:pPr indent="0" marL="0">
              <a:lnSpc>
                <a:spcPts val="1600"/>
              </a:lnSpc>
              <a:buNone/>
            </a:pPr>
            <a:r>
              <a:rPr lang="en-US" sz="1250" dirty="0">
                <a:solidFill>
                  <a:srgbClr val="6B6459"/>
                </a:solidFill>
                <a:latin typeface="Calibri" pitchFamily="34" charset="0"/>
                <a:ea typeface="Calibri" pitchFamily="34" charset="-122"/>
                <a:cs typeface="Calibri" pitchFamily="34" charset="-120"/>
              </a:rPr>
              <a:t>columns for stock, price, promotion or cost</a:t>
            </a:r>
            <a:endParaRPr lang="en-US" sz="1250" dirty="0"/>
          </a:p>
        </p:txBody>
      </p:sp>
      <p:sp>
        <p:nvSpPr>
          <p:cNvPr id="19" name="Text 17"/>
          <p:cNvSpPr txBox="1"/>
          <p:nvPr/>
        </p:nvSpPr>
        <p:spPr>
          <a:xfrm>
            <a:off x="777240" y="5806440"/>
            <a:ext cx="10637215" cy="365760"/>
          </a:xfrm>
          <a:prstGeom prst="rect">
            <a:avLst/>
          </a:prstGeom>
          <a:noFill/>
          <a:ln/>
        </p:spPr>
        <p:txBody>
          <a:bodyPr wrap="square" lIns="0" tIns="0" rIns="0" bIns="0" rtlCol="0" anchor="ctr"/>
          <a:lstStyle/>
          <a:p>
            <a:pPr indent="0" marL="0">
              <a:lnSpc>
                <a:spcPts val="1620"/>
              </a:lnSpc>
              <a:buNone/>
            </a:pPr>
            <a:r>
              <a:rPr lang="en-US" sz="1200" i="1" dirty="0">
                <a:solidFill>
                  <a:srgbClr val="6B6459"/>
                </a:solidFill>
                <a:latin typeface="Calibri" pitchFamily="34" charset="0"/>
                <a:ea typeface="Calibri" pitchFamily="34" charset="-122"/>
                <a:cs typeface="Calibri" pitchFamily="34" charset="-120"/>
              </a:rPr>
              <a:t>Kaggle · Pharma Sales Data (milanzdravkovic) — a real pharmacy's point-of-sale export. That last row is the constraint the whole architecture is built around.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THE DECISION UNDERNEATH THE FORECAST</a:t>
            </a:r>
            <a:endParaRPr lang="en-US" sz="1100" dirty="0"/>
          </a:p>
        </p:txBody>
      </p:sp>
      <p:sp>
        <p:nvSpPr>
          <p:cNvPr id="3" name="Text 1"/>
          <p:cNvSpPr txBox="1"/>
          <p:nvPr/>
        </p:nvSpPr>
        <p:spPr>
          <a:xfrm>
            <a:off x="777240" y="868680"/>
            <a:ext cx="10637215" cy="777240"/>
          </a:xfrm>
          <a:prstGeom prst="rect">
            <a:avLst/>
          </a:prstGeom>
          <a:noFill/>
          <a:ln/>
        </p:spPr>
        <p:txBody>
          <a:bodyPr wrap="square" lIns="0" tIns="0" rIns="0" bIns="0" rtlCol="0" anchor="ctr"/>
          <a:lstStyle/>
          <a:p>
            <a:pPr indent="0" marL="0">
              <a:lnSpc>
                <a:spcPts val="3360"/>
              </a:lnSpc>
              <a:buNone/>
            </a:pPr>
            <a:r>
              <a:rPr lang="en-US" sz="3000" dirty="0">
                <a:solidFill>
                  <a:srgbClr val="14110D"/>
                </a:solidFill>
                <a:latin typeface="Cambria" pitchFamily="34" charset="0"/>
                <a:ea typeface="Cambria" pitchFamily="34" charset="-122"/>
                <a:cs typeface="Cambria" pitchFamily="34" charset="-120"/>
              </a:rPr>
              <a:t>Getting it wrong costs money in two directions at once.</a:t>
            </a:r>
            <a:endParaRPr lang="en-US" sz="3000" dirty="0"/>
          </a:p>
        </p:txBody>
      </p:sp>
      <p:sp>
        <p:nvSpPr>
          <p:cNvPr id="4" name="Shape 2"/>
          <p:cNvSpPr/>
          <p:nvPr/>
        </p:nvSpPr>
        <p:spPr>
          <a:xfrm>
            <a:off x="777240" y="1783080"/>
            <a:ext cx="4983480" cy="1874520"/>
          </a:xfrm>
          <a:prstGeom prst="rect">
            <a:avLst/>
          </a:prstGeom>
          <a:solidFill>
            <a:srgbClr val="FCFAF6"/>
          </a:solidFill>
          <a:ln w="12700">
            <a:solidFill>
              <a:srgbClr val="E4DFD5"/>
            </a:solidFill>
            <a:prstDash val="solid"/>
          </a:ln>
        </p:spPr>
      </p:sp>
      <p:sp>
        <p:nvSpPr>
          <p:cNvPr id="5" name="Text 3"/>
          <p:cNvSpPr txBox="1"/>
          <p:nvPr/>
        </p:nvSpPr>
        <p:spPr>
          <a:xfrm>
            <a:off x="1033272" y="1920240"/>
            <a:ext cx="822960" cy="411480"/>
          </a:xfrm>
          <a:prstGeom prst="rect">
            <a:avLst/>
          </a:prstGeom>
          <a:noFill/>
          <a:ln/>
        </p:spPr>
        <p:txBody>
          <a:bodyPr wrap="square" lIns="0" tIns="0" rIns="0" bIns="0" rtlCol="0" anchor="ctr"/>
          <a:lstStyle/>
          <a:p>
            <a:pPr indent="0" marL="0">
              <a:buNone/>
            </a:pPr>
            <a:r>
              <a:rPr lang="en-US" sz="2400" b="1" dirty="0">
                <a:solidFill>
                  <a:srgbClr val="A32E22"/>
                </a:solidFill>
                <a:latin typeface="Courier New" pitchFamily="34" charset="0"/>
                <a:ea typeface="Courier New" pitchFamily="34" charset="-122"/>
                <a:cs typeface="Courier New" pitchFamily="34" charset="-120"/>
              </a:rPr>
              <a:t>Cu</a:t>
            </a:r>
            <a:endParaRPr lang="en-US" sz="2400" dirty="0"/>
          </a:p>
        </p:txBody>
      </p:sp>
      <p:sp>
        <p:nvSpPr>
          <p:cNvPr id="6" name="Text 4"/>
          <p:cNvSpPr txBox="1"/>
          <p:nvPr/>
        </p:nvSpPr>
        <p:spPr>
          <a:xfrm>
            <a:off x="1874520" y="1975104"/>
            <a:ext cx="3657600" cy="365760"/>
          </a:xfrm>
          <a:prstGeom prst="rect">
            <a:avLst/>
          </a:prstGeom>
          <a:noFill/>
          <a:ln/>
        </p:spPr>
        <p:txBody>
          <a:bodyPr wrap="square" lIns="0" tIns="0" rIns="0" bIns="0" rtlCol="0" anchor="ctr"/>
          <a:lstStyle/>
          <a:p>
            <a:pPr indent="0" marL="0">
              <a:buNone/>
            </a:pPr>
            <a:r>
              <a:rPr lang="en-US" sz="2000" dirty="0">
                <a:solidFill>
                  <a:srgbClr val="14110D"/>
                </a:solidFill>
                <a:latin typeface="Cambria" pitchFamily="34" charset="0"/>
                <a:ea typeface="Cambria" pitchFamily="34" charset="-122"/>
                <a:cs typeface="Cambria" pitchFamily="34" charset="-120"/>
              </a:rPr>
              <a:t>Order too little</a:t>
            </a:r>
            <a:endParaRPr lang="en-US" sz="2000" dirty="0"/>
          </a:p>
        </p:txBody>
      </p:sp>
      <p:sp>
        <p:nvSpPr>
          <p:cNvPr id="7" name="Text 5"/>
          <p:cNvSpPr txBox="1"/>
          <p:nvPr/>
        </p:nvSpPr>
        <p:spPr>
          <a:xfrm>
            <a:off x="1033272" y="2432304"/>
            <a:ext cx="4480560" cy="566928"/>
          </a:xfrm>
          <a:prstGeom prst="rect">
            <a:avLst/>
          </a:prstGeom>
          <a:noFill/>
          <a:ln/>
        </p:spPr>
        <p:txBody>
          <a:bodyPr wrap="square" lIns="0" tIns="0" rIns="0" bIns="0" rtlCol="0" anchor="ctr"/>
          <a:lstStyle/>
          <a:p>
            <a:pPr indent="0" marL="0">
              <a:lnSpc>
                <a:spcPts val="1700"/>
              </a:lnSpc>
              <a:buNone/>
            </a:pPr>
            <a:r>
              <a:rPr lang="en-US" sz="1250" dirty="0">
                <a:solidFill>
                  <a:srgbClr val="3B362F"/>
                </a:solidFill>
                <a:latin typeface="Calibri" pitchFamily="34" charset="0"/>
                <a:ea typeface="Calibri" pitchFamily="34" charset="-122"/>
                <a:cs typeface="Calibri" pitchFamily="34" charset="-120"/>
              </a:rPr>
              <a:t>A patient asks for a medicine you do not have. They go to the pharmacy across the road.</a:t>
            </a:r>
            <a:endParaRPr lang="en-US" sz="1250" dirty="0"/>
          </a:p>
        </p:txBody>
      </p:sp>
      <p:sp>
        <p:nvSpPr>
          <p:cNvPr id="8" name="Text 6"/>
          <p:cNvSpPr txBox="1"/>
          <p:nvPr/>
        </p:nvSpPr>
        <p:spPr>
          <a:xfrm>
            <a:off x="1033272" y="3017520"/>
            <a:ext cx="4480560" cy="365760"/>
          </a:xfrm>
          <a:prstGeom prst="rect">
            <a:avLst/>
          </a:prstGeom>
          <a:noFill/>
          <a:ln/>
        </p:spPr>
        <p:txBody>
          <a:bodyPr wrap="square" lIns="0" tIns="0" rIns="0" bIns="0" rtlCol="0" anchor="ctr"/>
          <a:lstStyle/>
          <a:p>
            <a:pPr indent="0" marL="0">
              <a:lnSpc>
                <a:spcPts val="1600"/>
              </a:lnSpc>
              <a:buNone/>
            </a:pPr>
            <a:r>
              <a:rPr lang="en-US" sz="1200" b="1" dirty="0">
                <a:solidFill>
                  <a:srgbClr val="A32E22"/>
                </a:solidFill>
                <a:latin typeface="Calibri" pitchFamily="34" charset="0"/>
                <a:ea typeface="Calibri" pitchFamily="34" charset="-122"/>
                <a:cs typeface="Calibri" pitchFamily="34" charset="-120"/>
              </a:rPr>
              <a:t>The lost gross margin — and often the customer, permanently.</a:t>
            </a:r>
            <a:endParaRPr lang="en-US" sz="1200" dirty="0"/>
          </a:p>
        </p:txBody>
      </p:sp>
      <p:sp>
        <p:nvSpPr>
          <p:cNvPr id="9" name="Text 7"/>
          <p:cNvSpPr txBox="1"/>
          <p:nvPr/>
        </p:nvSpPr>
        <p:spPr>
          <a:xfrm>
            <a:off x="1033272" y="3364992"/>
            <a:ext cx="4480560" cy="237744"/>
          </a:xfrm>
          <a:prstGeom prst="rect">
            <a:avLst/>
          </a:prstGeom>
          <a:noFill/>
          <a:ln/>
        </p:spPr>
        <p:txBody>
          <a:bodyPr wrap="square" lIns="0" tIns="0" rIns="0" bIns="0" rtlCol="0" anchor="ctr"/>
          <a:lstStyle/>
          <a:p>
            <a:pPr indent="0" marL="0">
              <a:buNone/>
            </a:pPr>
            <a:r>
              <a:rPr lang="en-US" sz="900" dirty="0">
                <a:solidFill>
                  <a:srgbClr val="9A9287"/>
                </a:solidFill>
                <a:latin typeface="Courier New" pitchFamily="34" charset="0"/>
                <a:ea typeface="Courier New" pitchFamily="34" charset="-122"/>
                <a:cs typeface="Courier New" pitchFamily="34" charset="-120"/>
              </a:rPr>
              <a:t>In our settings: the unit margin.</a:t>
            </a:r>
            <a:endParaRPr lang="en-US" sz="900" dirty="0"/>
          </a:p>
        </p:txBody>
      </p:sp>
      <p:sp>
        <p:nvSpPr>
          <p:cNvPr id="10" name="Shape 8"/>
          <p:cNvSpPr/>
          <p:nvPr/>
        </p:nvSpPr>
        <p:spPr>
          <a:xfrm>
            <a:off x="6446520" y="1783080"/>
            <a:ext cx="4983480" cy="1874520"/>
          </a:xfrm>
          <a:prstGeom prst="rect">
            <a:avLst/>
          </a:prstGeom>
          <a:solidFill>
            <a:srgbClr val="FCFAF6"/>
          </a:solidFill>
          <a:ln w="12700">
            <a:solidFill>
              <a:srgbClr val="E4DFD5"/>
            </a:solidFill>
            <a:prstDash val="solid"/>
          </a:ln>
        </p:spPr>
      </p:sp>
      <p:sp>
        <p:nvSpPr>
          <p:cNvPr id="11" name="Text 9"/>
          <p:cNvSpPr txBox="1"/>
          <p:nvPr/>
        </p:nvSpPr>
        <p:spPr>
          <a:xfrm>
            <a:off x="6702552" y="1920240"/>
            <a:ext cx="822960" cy="411480"/>
          </a:xfrm>
          <a:prstGeom prst="rect">
            <a:avLst/>
          </a:prstGeom>
          <a:noFill/>
          <a:ln/>
        </p:spPr>
        <p:txBody>
          <a:bodyPr wrap="square" lIns="0" tIns="0" rIns="0" bIns="0" rtlCol="0" anchor="ctr"/>
          <a:lstStyle/>
          <a:p>
            <a:pPr indent="0" marL="0">
              <a:buNone/>
            </a:pPr>
            <a:r>
              <a:rPr lang="en-US" sz="2400" b="1" dirty="0">
                <a:solidFill>
                  <a:srgbClr val="1C4E7A"/>
                </a:solidFill>
                <a:latin typeface="Courier New" pitchFamily="34" charset="0"/>
                <a:ea typeface="Courier New" pitchFamily="34" charset="-122"/>
                <a:cs typeface="Courier New" pitchFamily="34" charset="-120"/>
              </a:rPr>
              <a:t>Co</a:t>
            </a:r>
            <a:endParaRPr lang="en-US" sz="2400" dirty="0"/>
          </a:p>
        </p:txBody>
      </p:sp>
      <p:sp>
        <p:nvSpPr>
          <p:cNvPr id="12" name="Text 10"/>
          <p:cNvSpPr txBox="1"/>
          <p:nvPr/>
        </p:nvSpPr>
        <p:spPr>
          <a:xfrm>
            <a:off x="7543800" y="1975104"/>
            <a:ext cx="3657600" cy="365760"/>
          </a:xfrm>
          <a:prstGeom prst="rect">
            <a:avLst/>
          </a:prstGeom>
          <a:noFill/>
          <a:ln/>
        </p:spPr>
        <p:txBody>
          <a:bodyPr wrap="square" lIns="0" tIns="0" rIns="0" bIns="0" rtlCol="0" anchor="ctr"/>
          <a:lstStyle/>
          <a:p>
            <a:pPr indent="0" marL="0">
              <a:buNone/>
            </a:pPr>
            <a:r>
              <a:rPr lang="en-US" sz="2000" dirty="0">
                <a:solidFill>
                  <a:srgbClr val="14110D"/>
                </a:solidFill>
                <a:latin typeface="Cambria" pitchFamily="34" charset="0"/>
                <a:ea typeface="Cambria" pitchFamily="34" charset="-122"/>
                <a:cs typeface="Cambria" pitchFamily="34" charset="-120"/>
              </a:rPr>
              <a:t>Order too much</a:t>
            </a:r>
            <a:endParaRPr lang="en-US" sz="2000" dirty="0"/>
          </a:p>
        </p:txBody>
      </p:sp>
      <p:sp>
        <p:nvSpPr>
          <p:cNvPr id="13" name="Text 11"/>
          <p:cNvSpPr txBox="1"/>
          <p:nvPr/>
        </p:nvSpPr>
        <p:spPr>
          <a:xfrm>
            <a:off x="6702552" y="2432304"/>
            <a:ext cx="4480560" cy="566928"/>
          </a:xfrm>
          <a:prstGeom prst="rect">
            <a:avLst/>
          </a:prstGeom>
          <a:noFill/>
          <a:ln/>
        </p:spPr>
        <p:txBody>
          <a:bodyPr wrap="square" lIns="0" tIns="0" rIns="0" bIns="0" rtlCol="0" anchor="ctr"/>
          <a:lstStyle/>
          <a:p>
            <a:pPr indent="0" marL="0">
              <a:lnSpc>
                <a:spcPts val="1700"/>
              </a:lnSpc>
              <a:buNone/>
            </a:pPr>
            <a:r>
              <a:rPr lang="en-US" sz="1250" dirty="0">
                <a:solidFill>
                  <a:srgbClr val="3B362F"/>
                </a:solidFill>
                <a:latin typeface="Calibri" pitchFamily="34" charset="0"/>
                <a:ea typeface="Calibri" pitchFamily="34" charset="-122"/>
                <a:cs typeface="Calibri" pitchFamily="34" charset="-120"/>
              </a:rPr>
              <a:t>Cash sits on a shelf. Medicines reach their expiry date and are thrown away.</a:t>
            </a:r>
            <a:endParaRPr lang="en-US" sz="1250" dirty="0"/>
          </a:p>
        </p:txBody>
      </p:sp>
      <p:sp>
        <p:nvSpPr>
          <p:cNvPr id="14" name="Text 12"/>
          <p:cNvSpPr txBox="1"/>
          <p:nvPr/>
        </p:nvSpPr>
        <p:spPr>
          <a:xfrm>
            <a:off x="6702552" y="3017520"/>
            <a:ext cx="4480560" cy="365760"/>
          </a:xfrm>
          <a:prstGeom prst="rect">
            <a:avLst/>
          </a:prstGeom>
          <a:noFill/>
          <a:ln/>
        </p:spPr>
        <p:txBody>
          <a:bodyPr wrap="square" lIns="0" tIns="0" rIns="0" bIns="0" rtlCol="0" anchor="ctr"/>
          <a:lstStyle/>
          <a:p>
            <a:pPr indent="0" marL="0">
              <a:lnSpc>
                <a:spcPts val="1600"/>
              </a:lnSpc>
              <a:buNone/>
            </a:pPr>
            <a:r>
              <a:rPr lang="en-US" sz="1200" b="1" dirty="0">
                <a:solidFill>
                  <a:srgbClr val="1C4E7A"/>
                </a:solidFill>
                <a:latin typeface="Calibri" pitchFamily="34" charset="0"/>
                <a:ea typeface="Calibri" pitchFamily="34" charset="-122"/>
                <a:cs typeface="Calibri" pitchFamily="34" charset="-120"/>
              </a:rPr>
              <a:t>Holding cost on the capital, plus a total write-off at expiry.</a:t>
            </a:r>
            <a:endParaRPr lang="en-US" sz="1200" dirty="0"/>
          </a:p>
        </p:txBody>
      </p:sp>
      <p:sp>
        <p:nvSpPr>
          <p:cNvPr id="15" name="Text 13"/>
          <p:cNvSpPr txBox="1"/>
          <p:nvPr/>
        </p:nvSpPr>
        <p:spPr>
          <a:xfrm>
            <a:off x="6702552" y="3364992"/>
            <a:ext cx="4480560" cy="237744"/>
          </a:xfrm>
          <a:prstGeom prst="rect">
            <a:avLst/>
          </a:prstGeom>
          <a:noFill/>
          <a:ln/>
        </p:spPr>
        <p:txBody>
          <a:bodyPr wrap="square" lIns="0" tIns="0" rIns="0" bIns="0" rtlCol="0" anchor="ctr"/>
          <a:lstStyle/>
          <a:p>
            <a:pPr indent="0" marL="0">
              <a:buNone/>
            </a:pPr>
            <a:r>
              <a:rPr lang="en-US" sz="900" dirty="0">
                <a:solidFill>
                  <a:srgbClr val="9A9287"/>
                </a:solidFill>
                <a:latin typeface="Courier New" pitchFamily="34" charset="0"/>
                <a:ea typeface="Courier New" pitchFamily="34" charset="-122"/>
                <a:cs typeface="Courier New" pitchFamily="34" charset="-120"/>
              </a:rPr>
              <a:t>In our settings: 22% annual holding + 1.5% expiry risk.</a:t>
            </a:r>
            <a:endParaRPr lang="en-US" sz="900" dirty="0"/>
          </a:p>
        </p:txBody>
      </p:sp>
      <p:sp>
        <p:nvSpPr>
          <p:cNvPr id="16" name="Shape 14"/>
          <p:cNvSpPr/>
          <p:nvPr/>
        </p:nvSpPr>
        <p:spPr>
          <a:xfrm>
            <a:off x="777240" y="3785616"/>
            <a:ext cx="10637215" cy="841248"/>
          </a:xfrm>
          <a:prstGeom prst="rect">
            <a:avLst/>
          </a:prstGeom>
          <a:solidFill>
            <a:srgbClr val="EFEBE2"/>
          </a:solidFill>
          <a:ln w="12700">
            <a:solidFill>
              <a:srgbClr val="14110D"/>
            </a:solidFill>
            <a:prstDash val="solid"/>
          </a:ln>
        </p:spPr>
      </p:sp>
      <p:sp>
        <p:nvSpPr>
          <p:cNvPr id="17" name="Text 15"/>
          <p:cNvSpPr txBox="1"/>
          <p:nvPr/>
        </p:nvSpPr>
        <p:spPr>
          <a:xfrm>
            <a:off x="1097280" y="3968496"/>
            <a:ext cx="4023360" cy="457200"/>
          </a:xfrm>
          <a:prstGeom prst="rect">
            <a:avLst/>
          </a:prstGeom>
          <a:noFill/>
          <a:ln/>
        </p:spPr>
        <p:txBody>
          <a:bodyPr wrap="square" lIns="0" tIns="0" rIns="0" bIns="0" rtlCol="0" anchor="ctr"/>
          <a:lstStyle/>
          <a:p>
            <a:pPr indent="0" marL="0">
              <a:buNone/>
            </a:pPr>
            <a:r>
              <a:rPr lang="en-US" sz="2400" b="1" dirty="0">
                <a:solidFill>
                  <a:srgbClr val="14110D"/>
                </a:solidFill>
                <a:latin typeface="Courier New" pitchFamily="34" charset="0"/>
                <a:ea typeface="Courier New" pitchFamily="34" charset="-122"/>
                <a:cs typeface="Courier New" pitchFamily="34" charset="-120"/>
              </a:rPr>
              <a:t>q*  =  Cu / (Cu + Co)</a:t>
            </a:r>
            <a:endParaRPr lang="en-US" sz="2400" dirty="0"/>
          </a:p>
        </p:txBody>
      </p:sp>
      <p:sp>
        <p:nvSpPr>
          <p:cNvPr id="18" name="Text 16"/>
          <p:cNvSpPr txBox="1"/>
          <p:nvPr/>
        </p:nvSpPr>
        <p:spPr>
          <a:xfrm>
            <a:off x="5303520" y="3877056"/>
            <a:ext cx="6080760" cy="694944"/>
          </a:xfrm>
          <a:prstGeom prst="rect">
            <a:avLst/>
          </a:prstGeom>
          <a:noFill/>
          <a:ln/>
        </p:spPr>
        <p:txBody>
          <a:bodyPr wrap="square" lIns="0" tIns="0" rIns="0" bIns="0" rtlCol="0" anchor="ctr"/>
          <a:lstStyle/>
          <a:p>
            <a:pPr indent="0" marL="0">
              <a:lnSpc>
                <a:spcPts val="1500"/>
              </a:lnSpc>
              <a:buNone/>
            </a:pPr>
            <a:r>
              <a:rPr lang="en-US" sz="1150" dirty="0">
                <a:solidFill>
                  <a:srgbClr val="3B362F"/>
                </a:solidFill>
                <a:latin typeface="Calibri" pitchFamily="34" charset="0"/>
                <a:ea typeface="Calibri" pitchFamily="34" charset="-122"/>
                <a:cs typeface="Calibri" pitchFamily="34" charset="-120"/>
              </a:rPr>
              <a:t>The newsvendor fractile. A hundred years old, and exact — not an approximation and not a heuristic. If a shortage costs 3× an excess, order the quantity you exceed only one cycle in four. It is closed form, which is why the slider recomputes in the browser.</a:t>
            </a:r>
            <a:endParaRPr lang="en-US" sz="1150" dirty="0"/>
          </a:p>
        </p:txBody>
      </p:sp>
      <p:sp>
        <p:nvSpPr>
          <p:cNvPr id="19" name="Text 17"/>
          <p:cNvSpPr txBox="1"/>
          <p:nvPr/>
        </p:nvSpPr>
        <p:spPr>
          <a:xfrm>
            <a:off x="777240" y="4800600"/>
            <a:ext cx="10637215" cy="237744"/>
          </a:xfrm>
          <a:prstGeom prst="rect">
            <a:avLst/>
          </a:prstGeom>
          <a:noFill/>
          <a:ln/>
        </p:spPr>
        <p:txBody>
          <a:bodyPr wrap="square" lIns="0" tIns="0" rIns="0" bIns="0" rtlCol="0" anchor="ctr"/>
          <a:lstStyle/>
          <a:p>
            <a:pPr indent="0" marL="0">
              <a:buNone/>
            </a:pPr>
            <a:r>
              <a:rPr lang="en-US" sz="950" spc="160" kern="0" dirty="0">
                <a:solidFill>
                  <a:srgbClr val="9A9287"/>
                </a:solidFill>
                <a:latin typeface="Courier New" pitchFamily="34" charset="0"/>
                <a:ea typeface="Courier New" pitchFamily="34" charset="-122"/>
                <a:cs typeface="Courier New" pitchFamily="34" charset="-120"/>
              </a:rPr>
              <a:t>WORKED, ON PARACETAMOL — EXACTLY WHAT THE PRODUCT DOES ON THE NEXT SLIDE BUT ONE</a:t>
            </a:r>
            <a:endParaRPr lang="en-US" sz="950" dirty="0"/>
          </a:p>
        </p:txBody>
      </p:sp>
      <p:sp>
        <p:nvSpPr>
          <p:cNvPr id="20" name="Shape 18"/>
          <p:cNvSpPr/>
          <p:nvPr/>
        </p:nvSpPr>
        <p:spPr>
          <a:xfrm>
            <a:off x="777240" y="5120640"/>
            <a:ext cx="1893357" cy="1207008"/>
          </a:xfrm>
          <a:prstGeom prst="rect">
            <a:avLst/>
          </a:prstGeom>
          <a:solidFill>
            <a:srgbClr val="FCFAF6"/>
          </a:solidFill>
          <a:ln w="12700">
            <a:solidFill>
              <a:srgbClr val="E4DFD5"/>
            </a:solidFill>
            <a:prstDash val="solid"/>
          </a:ln>
        </p:spPr>
      </p:sp>
      <p:sp>
        <p:nvSpPr>
          <p:cNvPr id="21" name="Text 19"/>
          <p:cNvSpPr txBox="1"/>
          <p:nvPr/>
        </p:nvSpPr>
        <p:spPr>
          <a:xfrm>
            <a:off x="777240" y="5120640"/>
            <a:ext cx="256032" cy="201168"/>
          </a:xfrm>
          <a:prstGeom prst="rect">
            <a:avLst/>
          </a:prstGeom>
          <a:solidFill>
            <a:srgbClr val="6B6459"/>
          </a:solid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1</a:t>
            </a:r>
            <a:endParaRPr lang="en-US" sz="850" dirty="0"/>
          </a:p>
        </p:txBody>
      </p:sp>
      <p:sp>
        <p:nvSpPr>
          <p:cNvPr id="22" name="Text 20"/>
          <p:cNvSpPr txBox="1"/>
          <p:nvPr/>
        </p:nvSpPr>
        <p:spPr>
          <a:xfrm>
            <a:off x="923544" y="5358384"/>
            <a:ext cx="1600749" cy="365760"/>
          </a:xfrm>
          <a:prstGeom prst="rect">
            <a:avLst/>
          </a:prstGeom>
          <a:noFill/>
          <a:ln/>
        </p:spPr>
        <p:txBody>
          <a:bodyPr wrap="square" lIns="0" tIns="0" rIns="0" bIns="0" rtlCol="0" anchor="ctr"/>
          <a:lstStyle/>
          <a:p>
            <a:pPr indent="0" marL="0">
              <a:buNone/>
            </a:pPr>
            <a:r>
              <a:rPr lang="en-US" sz="1600" b="1" dirty="0">
                <a:solidFill>
                  <a:srgbClr val="6B6459"/>
                </a:solidFill>
                <a:latin typeface="Courier New" pitchFamily="34" charset="0"/>
                <a:ea typeface="Courier New" pitchFamily="34" charset="-122"/>
                <a:cs typeface="Courier New" pitchFamily="34" charset="-120"/>
              </a:rPr>
              <a:t>YOUR COSTS</a:t>
            </a:r>
            <a:endParaRPr lang="en-US" sz="1600" dirty="0"/>
          </a:p>
        </p:txBody>
      </p:sp>
      <p:sp>
        <p:nvSpPr>
          <p:cNvPr id="23" name="Text 21"/>
          <p:cNvSpPr txBox="1"/>
          <p:nvPr/>
        </p:nvSpPr>
        <p:spPr>
          <a:xfrm>
            <a:off x="923544" y="5742432"/>
            <a:ext cx="1600749" cy="530352"/>
          </a:xfrm>
          <a:prstGeom prst="rect">
            <a:avLst/>
          </a:prstGeom>
          <a:noFill/>
          <a:ln/>
        </p:spPr>
        <p:txBody>
          <a:bodyPr wrap="square" lIns="0" tIns="0" rIns="0" bIns="0" rtlCol="0" anchor="ctr"/>
          <a:lstStyle/>
          <a:p>
            <a:pPr indent="0" marL="0">
              <a:lnSpc>
                <a:spcPts val="1300"/>
              </a:lnSpc>
              <a:buNone/>
            </a:pPr>
            <a:r>
              <a:rPr lang="en-US" sz="1050" dirty="0">
                <a:solidFill>
                  <a:srgbClr val="6B6459"/>
                </a:solidFill>
                <a:latin typeface="Calibri" pitchFamily="34" charset="0"/>
                <a:ea typeface="Calibri" pitchFamily="34" charset="-122"/>
                <a:cs typeface="Calibri" pitchFamily="34" charset="-120"/>
              </a:rPr>
              <a:t>margin lost if short,</a:t>
            </a:r>
            <a:endParaRPr lang="en-US" sz="1050" dirty="0"/>
          </a:p>
          <a:p>
            <a:pPr indent="0" marL="0">
              <a:lnSpc>
                <a:spcPts val="1300"/>
              </a:lnSpc>
              <a:buNone/>
            </a:pPr>
            <a:r>
              <a:rPr lang="en-US" sz="1050" dirty="0">
                <a:solidFill>
                  <a:srgbClr val="6B6459"/>
                </a:solidFill>
                <a:latin typeface="Calibri" pitchFamily="34" charset="0"/>
                <a:ea typeface="Calibri" pitchFamily="34" charset="-122"/>
                <a:cs typeface="Calibri" pitchFamily="34" charset="-120"/>
              </a:rPr>
              <a:t>holding + expiry if long</a:t>
            </a:r>
            <a:endParaRPr lang="en-US" sz="1050" dirty="0"/>
          </a:p>
        </p:txBody>
      </p:sp>
      <p:sp>
        <p:nvSpPr>
          <p:cNvPr id="24" name="Text 22"/>
          <p:cNvSpPr txBox="1"/>
          <p:nvPr/>
        </p:nvSpPr>
        <p:spPr>
          <a:xfrm>
            <a:off x="2670597" y="5486400"/>
            <a:ext cx="292608" cy="274320"/>
          </a:xfrm>
          <a:prstGeom prst="rect">
            <a:avLst/>
          </a:prstGeom>
          <a:noFill/>
          <a:ln/>
        </p:spPr>
        <p:txBody>
          <a:bodyPr wrap="square" lIns="0" tIns="0" rIns="0" bIns="0" rtlCol="0" anchor="ctr"/>
          <a:lstStyle/>
          <a:p>
            <a:pPr algn="ctr" indent="0" marL="0">
              <a:buNone/>
            </a:pPr>
            <a:r>
              <a:rPr lang="en-US" sz="1300" dirty="0">
                <a:solidFill>
                  <a:srgbClr val="9A9287"/>
                </a:solidFill>
                <a:latin typeface="Calibri" pitchFamily="34" charset="0"/>
                <a:ea typeface="Calibri" pitchFamily="34" charset="-122"/>
                <a:cs typeface="Calibri" pitchFamily="34" charset="-120"/>
              </a:rPr>
              <a:t>→</a:t>
            </a:r>
            <a:endParaRPr lang="en-US" sz="1300" dirty="0"/>
          </a:p>
        </p:txBody>
      </p:sp>
      <p:sp>
        <p:nvSpPr>
          <p:cNvPr id="25" name="Shape 23"/>
          <p:cNvSpPr/>
          <p:nvPr/>
        </p:nvSpPr>
        <p:spPr>
          <a:xfrm>
            <a:off x="2963205" y="5120640"/>
            <a:ext cx="1893357" cy="1207008"/>
          </a:xfrm>
          <a:prstGeom prst="rect">
            <a:avLst/>
          </a:prstGeom>
          <a:solidFill>
            <a:srgbClr val="FCFAF6"/>
          </a:solidFill>
          <a:ln w="12700">
            <a:solidFill>
              <a:srgbClr val="E4DFD5"/>
            </a:solidFill>
            <a:prstDash val="solid"/>
          </a:ln>
        </p:spPr>
      </p:sp>
      <p:sp>
        <p:nvSpPr>
          <p:cNvPr id="26" name="Text 24"/>
          <p:cNvSpPr txBox="1"/>
          <p:nvPr/>
        </p:nvSpPr>
        <p:spPr>
          <a:xfrm>
            <a:off x="2963205" y="5120640"/>
            <a:ext cx="256032" cy="201168"/>
          </a:xfrm>
          <a:prstGeom prst="rect">
            <a:avLst/>
          </a:prstGeom>
          <a:solidFill>
            <a:srgbClr val="1F5D42"/>
          </a:solid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2</a:t>
            </a:r>
            <a:endParaRPr lang="en-US" sz="850" dirty="0"/>
          </a:p>
        </p:txBody>
      </p:sp>
      <p:sp>
        <p:nvSpPr>
          <p:cNvPr id="27" name="Text 25"/>
          <p:cNvSpPr txBox="1"/>
          <p:nvPr/>
        </p:nvSpPr>
        <p:spPr>
          <a:xfrm>
            <a:off x="3109509" y="5358384"/>
            <a:ext cx="1600749" cy="365760"/>
          </a:xfrm>
          <a:prstGeom prst="rect">
            <a:avLst/>
          </a:prstGeom>
          <a:noFill/>
          <a:ln/>
        </p:spPr>
        <p:txBody>
          <a:bodyPr wrap="square" lIns="0" tIns="0" rIns="0" bIns="0" rtlCol="0" anchor="ctr"/>
          <a:lstStyle/>
          <a:p>
            <a:pPr indent="0" marL="0">
              <a:buNone/>
            </a:pPr>
            <a:r>
              <a:rPr lang="en-US" sz="1600" b="1" dirty="0">
                <a:solidFill>
                  <a:srgbClr val="1F5D42"/>
                </a:solidFill>
                <a:latin typeface="Courier New" pitchFamily="34" charset="0"/>
                <a:ea typeface="Courier New" pitchFamily="34" charset="-122"/>
                <a:cs typeface="Courier New" pitchFamily="34" charset="-120"/>
              </a:rPr>
              <a:t>q* = 94.8%</a:t>
            </a:r>
            <a:endParaRPr lang="en-US" sz="1600" dirty="0"/>
          </a:p>
        </p:txBody>
      </p:sp>
      <p:sp>
        <p:nvSpPr>
          <p:cNvPr id="28" name="Text 26"/>
          <p:cNvSpPr txBox="1"/>
          <p:nvPr/>
        </p:nvSpPr>
        <p:spPr>
          <a:xfrm>
            <a:off x="3109509" y="5742432"/>
            <a:ext cx="1600749" cy="530352"/>
          </a:xfrm>
          <a:prstGeom prst="rect">
            <a:avLst/>
          </a:prstGeom>
          <a:noFill/>
          <a:ln/>
        </p:spPr>
        <p:txBody>
          <a:bodyPr wrap="square" lIns="0" tIns="0" rIns="0" bIns="0" rtlCol="0" anchor="ctr"/>
          <a:lstStyle/>
          <a:p>
            <a:pPr indent="0" marL="0">
              <a:lnSpc>
                <a:spcPts val="1300"/>
              </a:lnSpc>
              <a:buNone/>
            </a:pPr>
            <a:r>
              <a:rPr lang="en-US" sz="1050" dirty="0">
                <a:solidFill>
                  <a:srgbClr val="6B6459"/>
                </a:solidFill>
                <a:latin typeface="Calibri" pitchFamily="34" charset="0"/>
                <a:ea typeface="Calibri" pitchFamily="34" charset="-122"/>
                <a:cs typeface="Calibri" pitchFamily="34" charset="-120"/>
              </a:rPr>
              <a:t>the fractile those two</a:t>
            </a:r>
            <a:endParaRPr lang="en-US" sz="1050" dirty="0"/>
          </a:p>
          <a:p>
            <a:pPr indent="0" marL="0">
              <a:lnSpc>
                <a:spcPts val="1300"/>
              </a:lnSpc>
              <a:buNone/>
            </a:pPr>
            <a:r>
              <a:rPr lang="en-US" sz="1050" dirty="0">
                <a:solidFill>
                  <a:srgbClr val="6B6459"/>
                </a:solidFill>
                <a:latin typeface="Calibri" pitchFamily="34" charset="0"/>
                <a:ea typeface="Calibri" pitchFamily="34" charset="-122"/>
                <a:cs typeface="Calibri" pitchFamily="34" charset="-120"/>
              </a:rPr>
              <a:t>costs imply</a:t>
            </a:r>
            <a:endParaRPr lang="en-US" sz="1050" dirty="0"/>
          </a:p>
        </p:txBody>
      </p:sp>
      <p:sp>
        <p:nvSpPr>
          <p:cNvPr id="29" name="Text 27"/>
          <p:cNvSpPr txBox="1"/>
          <p:nvPr/>
        </p:nvSpPr>
        <p:spPr>
          <a:xfrm>
            <a:off x="4856561" y="5486400"/>
            <a:ext cx="292608" cy="274320"/>
          </a:xfrm>
          <a:prstGeom prst="rect">
            <a:avLst/>
          </a:prstGeom>
          <a:noFill/>
          <a:ln/>
        </p:spPr>
        <p:txBody>
          <a:bodyPr wrap="square" lIns="0" tIns="0" rIns="0" bIns="0" rtlCol="0" anchor="ctr"/>
          <a:lstStyle/>
          <a:p>
            <a:pPr algn="ctr" indent="0" marL="0">
              <a:buNone/>
            </a:pPr>
            <a:r>
              <a:rPr lang="en-US" sz="1300" dirty="0">
                <a:solidFill>
                  <a:srgbClr val="9A9287"/>
                </a:solidFill>
                <a:latin typeface="Calibri" pitchFamily="34" charset="0"/>
                <a:ea typeface="Calibri" pitchFamily="34" charset="-122"/>
                <a:cs typeface="Calibri" pitchFamily="34" charset="-120"/>
              </a:rPr>
              <a:t>→</a:t>
            </a:r>
            <a:endParaRPr lang="en-US" sz="1300" dirty="0"/>
          </a:p>
        </p:txBody>
      </p:sp>
      <p:sp>
        <p:nvSpPr>
          <p:cNvPr id="30" name="Shape 28"/>
          <p:cNvSpPr/>
          <p:nvPr/>
        </p:nvSpPr>
        <p:spPr>
          <a:xfrm>
            <a:off x="5149169" y="5120640"/>
            <a:ext cx="1893357" cy="1207008"/>
          </a:xfrm>
          <a:prstGeom prst="rect">
            <a:avLst/>
          </a:prstGeom>
          <a:solidFill>
            <a:srgbClr val="FCFAF6"/>
          </a:solidFill>
          <a:ln w="12700">
            <a:solidFill>
              <a:srgbClr val="E4DFD5"/>
            </a:solidFill>
            <a:prstDash val="solid"/>
          </a:ln>
        </p:spPr>
      </p:sp>
      <p:sp>
        <p:nvSpPr>
          <p:cNvPr id="31" name="Text 29"/>
          <p:cNvSpPr txBox="1"/>
          <p:nvPr/>
        </p:nvSpPr>
        <p:spPr>
          <a:xfrm>
            <a:off x="5149169" y="5120640"/>
            <a:ext cx="256032" cy="201168"/>
          </a:xfrm>
          <a:prstGeom prst="rect">
            <a:avLst/>
          </a:prstGeom>
          <a:solidFill>
            <a:srgbClr val="1C4E7A"/>
          </a:solid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3</a:t>
            </a:r>
            <a:endParaRPr lang="en-US" sz="850" dirty="0"/>
          </a:p>
        </p:txBody>
      </p:sp>
      <p:sp>
        <p:nvSpPr>
          <p:cNvPr id="32" name="Text 30"/>
          <p:cNvSpPr txBox="1"/>
          <p:nvPr/>
        </p:nvSpPr>
        <p:spPr>
          <a:xfrm>
            <a:off x="5295473" y="5358384"/>
            <a:ext cx="1600749" cy="365760"/>
          </a:xfrm>
          <a:prstGeom prst="rect">
            <a:avLst/>
          </a:prstGeom>
          <a:noFill/>
          <a:ln/>
        </p:spPr>
        <p:txBody>
          <a:bodyPr wrap="square" lIns="0" tIns="0" rIns="0" bIns="0" rtlCol="0" anchor="ctr"/>
          <a:lstStyle/>
          <a:p>
            <a:pPr indent="0" marL="0">
              <a:buNone/>
            </a:pPr>
            <a:r>
              <a:rPr lang="en-US" sz="1600" b="1" dirty="0">
                <a:solidFill>
                  <a:srgbClr val="1C4E7A"/>
                </a:solidFill>
                <a:latin typeface="Courier New" pitchFamily="34" charset="0"/>
                <a:ea typeface="Courier New" pitchFamily="34" charset="-122"/>
                <a:cs typeface="Courier New" pitchFamily="34" charset="-120"/>
              </a:rPr>
              <a:t>545 units</a:t>
            </a:r>
            <a:endParaRPr lang="en-US" sz="1600" dirty="0"/>
          </a:p>
        </p:txBody>
      </p:sp>
      <p:sp>
        <p:nvSpPr>
          <p:cNvPr id="33" name="Text 31"/>
          <p:cNvSpPr txBox="1"/>
          <p:nvPr/>
        </p:nvSpPr>
        <p:spPr>
          <a:xfrm>
            <a:off x="5295473" y="5742432"/>
            <a:ext cx="1600749" cy="530352"/>
          </a:xfrm>
          <a:prstGeom prst="rect">
            <a:avLst/>
          </a:prstGeom>
          <a:noFill/>
          <a:ln/>
        </p:spPr>
        <p:txBody>
          <a:bodyPr wrap="square" lIns="0" tIns="0" rIns="0" bIns="0" rtlCol="0" anchor="ctr"/>
          <a:lstStyle/>
          <a:p>
            <a:pPr indent="0" marL="0">
              <a:lnSpc>
                <a:spcPts val="1300"/>
              </a:lnSpc>
              <a:buNone/>
            </a:pPr>
            <a:r>
              <a:rPr lang="en-US" sz="1050" dirty="0">
                <a:solidFill>
                  <a:srgbClr val="6B6459"/>
                </a:solidFill>
                <a:latin typeface="Calibri" pitchFamily="34" charset="0"/>
                <a:ea typeface="Calibri" pitchFamily="34" charset="-122"/>
                <a:cs typeface="Calibri" pitchFamily="34" charset="-120"/>
              </a:rPr>
              <a:t>the 94.8th percentile of</a:t>
            </a:r>
            <a:endParaRPr lang="en-US" sz="1050" dirty="0"/>
          </a:p>
          <a:p>
            <a:pPr indent="0" marL="0">
              <a:lnSpc>
                <a:spcPts val="1300"/>
              </a:lnSpc>
              <a:buNone/>
            </a:pPr>
            <a:r>
              <a:rPr lang="en-US" sz="1050" dirty="0">
                <a:solidFill>
                  <a:srgbClr val="6B6459"/>
                </a:solidFill>
                <a:latin typeface="Calibri" pitchFamily="34" charset="0"/>
                <a:ea typeface="Calibri" pitchFamily="34" charset="-122"/>
                <a:cs typeface="Calibri" pitchFamily="34" charset="-120"/>
              </a:rPr>
              <a:t>demand over 11 days</a:t>
            </a:r>
            <a:endParaRPr lang="en-US" sz="1050" dirty="0"/>
          </a:p>
        </p:txBody>
      </p:sp>
      <p:sp>
        <p:nvSpPr>
          <p:cNvPr id="34" name="Text 32"/>
          <p:cNvSpPr txBox="1"/>
          <p:nvPr/>
        </p:nvSpPr>
        <p:spPr>
          <a:xfrm>
            <a:off x="7042526" y="5486400"/>
            <a:ext cx="292608" cy="274320"/>
          </a:xfrm>
          <a:prstGeom prst="rect">
            <a:avLst/>
          </a:prstGeom>
          <a:noFill/>
          <a:ln/>
        </p:spPr>
        <p:txBody>
          <a:bodyPr wrap="square" lIns="0" tIns="0" rIns="0" bIns="0" rtlCol="0" anchor="ctr"/>
          <a:lstStyle/>
          <a:p>
            <a:pPr algn="ctr" indent="0" marL="0">
              <a:buNone/>
            </a:pPr>
            <a:r>
              <a:rPr lang="en-US" sz="1300" dirty="0">
                <a:solidFill>
                  <a:srgbClr val="9A9287"/>
                </a:solidFill>
                <a:latin typeface="Calibri" pitchFamily="34" charset="0"/>
                <a:ea typeface="Calibri" pitchFamily="34" charset="-122"/>
                <a:cs typeface="Calibri" pitchFamily="34" charset="-120"/>
              </a:rPr>
              <a:t>→</a:t>
            </a:r>
            <a:endParaRPr lang="en-US" sz="1300" dirty="0"/>
          </a:p>
        </p:txBody>
      </p:sp>
      <p:sp>
        <p:nvSpPr>
          <p:cNvPr id="35" name="Shape 33"/>
          <p:cNvSpPr/>
          <p:nvPr/>
        </p:nvSpPr>
        <p:spPr>
          <a:xfrm>
            <a:off x="7335134" y="5120640"/>
            <a:ext cx="1893357" cy="1207008"/>
          </a:xfrm>
          <a:prstGeom prst="rect">
            <a:avLst/>
          </a:prstGeom>
          <a:solidFill>
            <a:srgbClr val="FCFAF6"/>
          </a:solidFill>
          <a:ln w="12700">
            <a:solidFill>
              <a:srgbClr val="E4DFD5"/>
            </a:solidFill>
            <a:prstDash val="solid"/>
          </a:ln>
        </p:spPr>
      </p:sp>
      <p:sp>
        <p:nvSpPr>
          <p:cNvPr id="36" name="Text 34"/>
          <p:cNvSpPr txBox="1"/>
          <p:nvPr/>
        </p:nvSpPr>
        <p:spPr>
          <a:xfrm>
            <a:off x="7335134" y="5120640"/>
            <a:ext cx="256032" cy="201168"/>
          </a:xfrm>
          <a:prstGeom prst="rect">
            <a:avLst/>
          </a:prstGeom>
          <a:solidFill>
            <a:srgbClr val="6B6459"/>
          </a:solid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4</a:t>
            </a:r>
            <a:endParaRPr lang="en-US" sz="850" dirty="0"/>
          </a:p>
        </p:txBody>
      </p:sp>
      <p:sp>
        <p:nvSpPr>
          <p:cNvPr id="37" name="Text 35"/>
          <p:cNvSpPr txBox="1"/>
          <p:nvPr/>
        </p:nvSpPr>
        <p:spPr>
          <a:xfrm>
            <a:off x="7481438" y="5358384"/>
            <a:ext cx="1600749" cy="365760"/>
          </a:xfrm>
          <a:prstGeom prst="rect">
            <a:avLst/>
          </a:prstGeom>
          <a:noFill/>
          <a:ln/>
        </p:spPr>
        <p:txBody>
          <a:bodyPr wrap="square" lIns="0" tIns="0" rIns="0" bIns="0" rtlCol="0" anchor="ctr"/>
          <a:lstStyle/>
          <a:p>
            <a:pPr indent="0" marL="0">
              <a:buNone/>
            </a:pPr>
            <a:r>
              <a:rPr lang="en-US" sz="1600" b="1" dirty="0">
                <a:solidFill>
                  <a:srgbClr val="6B6459"/>
                </a:solidFill>
                <a:latin typeface="Courier New" pitchFamily="34" charset="0"/>
                <a:ea typeface="Courier New" pitchFamily="34" charset="-122"/>
                <a:cs typeface="Courier New" pitchFamily="34" charset="-120"/>
              </a:rPr>
              <a:t>− 310 on hand</a:t>
            </a:r>
            <a:endParaRPr lang="en-US" sz="1600" dirty="0"/>
          </a:p>
        </p:txBody>
      </p:sp>
      <p:sp>
        <p:nvSpPr>
          <p:cNvPr id="38" name="Text 36"/>
          <p:cNvSpPr txBox="1"/>
          <p:nvPr/>
        </p:nvSpPr>
        <p:spPr>
          <a:xfrm>
            <a:off x="7481438" y="5742432"/>
            <a:ext cx="1600749" cy="530352"/>
          </a:xfrm>
          <a:prstGeom prst="rect">
            <a:avLst/>
          </a:prstGeom>
          <a:noFill/>
          <a:ln/>
        </p:spPr>
        <p:txBody>
          <a:bodyPr wrap="square" lIns="0" tIns="0" rIns="0" bIns="0" rtlCol="0" anchor="ctr"/>
          <a:lstStyle/>
          <a:p>
            <a:pPr indent="0" marL="0">
              <a:lnSpc>
                <a:spcPts val="1300"/>
              </a:lnSpc>
              <a:buNone/>
            </a:pPr>
            <a:r>
              <a:rPr lang="en-US" sz="1050" dirty="0">
                <a:solidFill>
                  <a:srgbClr val="6B6459"/>
                </a:solidFill>
                <a:latin typeface="Calibri" pitchFamily="34" charset="0"/>
                <a:ea typeface="Calibri" pitchFamily="34" charset="-122"/>
                <a:cs typeface="Calibri" pitchFamily="34" charset="-120"/>
              </a:rPr>
              <a:t>the live shelf position,</a:t>
            </a:r>
            <a:endParaRPr lang="en-US" sz="1050" dirty="0"/>
          </a:p>
          <a:p>
            <a:pPr indent="0" marL="0">
              <a:lnSpc>
                <a:spcPts val="1300"/>
              </a:lnSpc>
              <a:buNone/>
            </a:pPr>
            <a:r>
              <a:rPr lang="en-US" sz="1050" dirty="0">
                <a:solidFill>
                  <a:srgbClr val="6B6459"/>
                </a:solidFill>
                <a:latin typeface="Calibri" pitchFamily="34" charset="0"/>
                <a:ea typeface="Calibri" pitchFamily="34" charset="-122"/>
                <a:cs typeface="Calibri" pitchFamily="34" charset="-120"/>
              </a:rPr>
              <a:t>from the ledger</a:t>
            </a:r>
            <a:endParaRPr lang="en-US" sz="1050" dirty="0"/>
          </a:p>
        </p:txBody>
      </p:sp>
      <p:sp>
        <p:nvSpPr>
          <p:cNvPr id="39" name="Text 37"/>
          <p:cNvSpPr txBox="1"/>
          <p:nvPr/>
        </p:nvSpPr>
        <p:spPr>
          <a:xfrm>
            <a:off x="9228491" y="5486400"/>
            <a:ext cx="292608" cy="274320"/>
          </a:xfrm>
          <a:prstGeom prst="rect">
            <a:avLst/>
          </a:prstGeom>
          <a:noFill/>
          <a:ln/>
        </p:spPr>
        <p:txBody>
          <a:bodyPr wrap="square" lIns="0" tIns="0" rIns="0" bIns="0" rtlCol="0" anchor="ctr"/>
          <a:lstStyle/>
          <a:p>
            <a:pPr algn="ctr" indent="0" marL="0">
              <a:buNone/>
            </a:pPr>
            <a:r>
              <a:rPr lang="en-US" sz="1300" dirty="0">
                <a:solidFill>
                  <a:srgbClr val="9A9287"/>
                </a:solidFill>
                <a:latin typeface="Calibri" pitchFamily="34" charset="0"/>
                <a:ea typeface="Calibri" pitchFamily="34" charset="-122"/>
                <a:cs typeface="Calibri" pitchFamily="34" charset="-120"/>
              </a:rPr>
              <a:t>→</a:t>
            </a:r>
            <a:endParaRPr lang="en-US" sz="1300" dirty="0"/>
          </a:p>
        </p:txBody>
      </p:sp>
      <p:sp>
        <p:nvSpPr>
          <p:cNvPr id="40" name="Shape 38"/>
          <p:cNvSpPr/>
          <p:nvPr/>
        </p:nvSpPr>
        <p:spPr>
          <a:xfrm>
            <a:off x="9521099" y="5120640"/>
            <a:ext cx="1893357" cy="1207008"/>
          </a:xfrm>
          <a:prstGeom prst="rect">
            <a:avLst/>
          </a:prstGeom>
          <a:solidFill>
            <a:srgbClr val="FCFAF6"/>
          </a:solidFill>
          <a:ln w="12700">
            <a:solidFill>
              <a:srgbClr val="E4DFD5"/>
            </a:solidFill>
            <a:prstDash val="solid"/>
          </a:ln>
        </p:spPr>
      </p:sp>
      <p:sp>
        <p:nvSpPr>
          <p:cNvPr id="41" name="Text 39"/>
          <p:cNvSpPr txBox="1"/>
          <p:nvPr/>
        </p:nvSpPr>
        <p:spPr>
          <a:xfrm>
            <a:off x="9521099" y="5120640"/>
            <a:ext cx="256032" cy="201168"/>
          </a:xfrm>
          <a:prstGeom prst="rect">
            <a:avLst/>
          </a:prstGeom>
          <a:solidFill>
            <a:srgbClr val="A32E22"/>
          </a:solid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5</a:t>
            </a:r>
            <a:endParaRPr lang="en-US" sz="850" dirty="0"/>
          </a:p>
        </p:txBody>
      </p:sp>
      <p:sp>
        <p:nvSpPr>
          <p:cNvPr id="42" name="Text 40"/>
          <p:cNvSpPr txBox="1"/>
          <p:nvPr/>
        </p:nvSpPr>
        <p:spPr>
          <a:xfrm>
            <a:off x="9667403" y="5358384"/>
            <a:ext cx="1600749" cy="365760"/>
          </a:xfrm>
          <a:prstGeom prst="rect">
            <a:avLst/>
          </a:prstGeom>
          <a:noFill/>
          <a:ln/>
        </p:spPr>
        <p:txBody>
          <a:bodyPr wrap="square" lIns="0" tIns="0" rIns="0" bIns="0" rtlCol="0" anchor="ctr"/>
          <a:lstStyle/>
          <a:p>
            <a:pPr indent="0" marL="0">
              <a:buNone/>
            </a:pPr>
            <a:r>
              <a:rPr lang="en-US" sz="1600" b="1" dirty="0">
                <a:solidFill>
                  <a:srgbClr val="A32E22"/>
                </a:solidFill>
                <a:latin typeface="Courier New" pitchFamily="34" charset="0"/>
                <a:ea typeface="Courier New" pitchFamily="34" charset="-122"/>
                <a:cs typeface="Courier New" pitchFamily="34" charset="-120"/>
              </a:rPr>
              <a:t>240 units</a:t>
            </a:r>
            <a:endParaRPr lang="en-US" sz="1600" dirty="0"/>
          </a:p>
        </p:txBody>
      </p:sp>
      <p:sp>
        <p:nvSpPr>
          <p:cNvPr id="43" name="Text 41"/>
          <p:cNvSpPr txBox="1"/>
          <p:nvPr/>
        </p:nvSpPr>
        <p:spPr>
          <a:xfrm>
            <a:off x="9667403" y="5742432"/>
            <a:ext cx="1600749" cy="530352"/>
          </a:xfrm>
          <a:prstGeom prst="rect">
            <a:avLst/>
          </a:prstGeom>
          <a:noFill/>
          <a:ln/>
        </p:spPr>
        <p:txBody>
          <a:bodyPr wrap="square" lIns="0" tIns="0" rIns="0" bIns="0" rtlCol="0" anchor="ctr"/>
          <a:lstStyle/>
          <a:p>
            <a:pPr indent="0" marL="0">
              <a:lnSpc>
                <a:spcPts val="1300"/>
              </a:lnSpc>
              <a:buNone/>
            </a:pPr>
            <a:r>
              <a:rPr lang="en-US" sz="1050" dirty="0">
                <a:solidFill>
                  <a:srgbClr val="6B6459"/>
                </a:solidFill>
                <a:latin typeface="Calibri" pitchFamily="34" charset="0"/>
                <a:ea typeface="Calibri" pitchFamily="34" charset="-122"/>
                <a:cs typeface="Calibri" pitchFamily="34" charset="-120"/>
              </a:rPr>
              <a:t>235 rounded up to 24</a:t>
            </a:r>
            <a:endParaRPr lang="en-US" sz="1050" dirty="0"/>
          </a:p>
          <a:p>
            <a:pPr indent="0" marL="0">
              <a:lnSpc>
                <a:spcPts val="1300"/>
              </a:lnSpc>
              <a:buNone/>
            </a:pPr>
            <a:r>
              <a:rPr lang="en-US" sz="1050" dirty="0">
                <a:solidFill>
                  <a:srgbClr val="6B6459"/>
                </a:solidFill>
                <a:latin typeface="Calibri" pitchFamily="34" charset="0"/>
                <a:ea typeface="Calibri" pitchFamily="34" charset="-122"/>
                <a:cs typeface="Calibri" pitchFamily="34" charset="-120"/>
              </a:rPr>
              <a:t>whole packs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WHO THIS IS FOR</a:t>
            </a:r>
            <a:endParaRPr lang="en-US" sz="1100" dirty="0"/>
          </a:p>
        </p:txBody>
      </p:sp>
      <p:sp>
        <p:nvSpPr>
          <p:cNvPr id="3" name="Text 1"/>
          <p:cNvSpPr txBox="1"/>
          <p:nvPr/>
        </p:nvSpPr>
        <p:spPr>
          <a:xfrm>
            <a:off x="777240" y="868680"/>
            <a:ext cx="10637215" cy="1600200"/>
          </a:xfrm>
          <a:prstGeom prst="rect">
            <a:avLst/>
          </a:prstGeom>
          <a:noFill/>
          <a:ln/>
        </p:spPr>
        <p:txBody>
          <a:bodyPr wrap="square" lIns="0" tIns="0" rIns="0" bIns="0" rtlCol="0" anchor="ctr"/>
          <a:lstStyle/>
          <a:p>
            <a:pPr indent="0" marL="0">
              <a:lnSpc>
                <a:spcPts val="3808"/>
              </a:lnSpc>
              <a:buNone/>
            </a:pPr>
            <a:r>
              <a:rPr lang="en-US" sz="3400" dirty="0">
                <a:solidFill>
                  <a:srgbClr val="14110D"/>
                </a:solidFill>
                <a:latin typeface="Cambria" pitchFamily="34" charset="0"/>
                <a:ea typeface="Cambria" pitchFamily="34" charset="-122"/>
                <a:cs typeface="Cambria" pitchFamily="34" charset="-120"/>
              </a:rPr>
              <a:t>Three people open it, and each one</a:t>
            </a:r>
            <a:endParaRPr lang="en-US" sz="3400" dirty="0"/>
          </a:p>
          <a:p>
            <a:pPr indent="0" marL="0">
              <a:lnSpc>
                <a:spcPts val="3808"/>
              </a:lnSpc>
              <a:buNone/>
            </a:pPr>
            <a:r>
              <a:rPr lang="en-US" sz="3400" dirty="0">
                <a:solidFill>
                  <a:srgbClr val="14110D"/>
                </a:solidFill>
                <a:latin typeface="Cambria" pitchFamily="34" charset="0"/>
                <a:ea typeface="Cambria" pitchFamily="34" charset="-122"/>
                <a:cs typeface="Cambria" pitchFamily="34" charset="-120"/>
              </a:rPr>
              <a:t>opens a different screen.</a:t>
            </a:r>
            <a:endParaRPr lang="en-US" sz="3400" dirty="0"/>
          </a:p>
        </p:txBody>
      </p:sp>
      <p:sp>
        <p:nvSpPr>
          <p:cNvPr id="4" name="Shape 2"/>
          <p:cNvSpPr/>
          <p:nvPr/>
        </p:nvSpPr>
        <p:spPr>
          <a:xfrm>
            <a:off x="777240" y="2514600"/>
            <a:ext cx="3291840" cy="3246120"/>
          </a:xfrm>
          <a:prstGeom prst="rect">
            <a:avLst/>
          </a:prstGeom>
          <a:solidFill>
            <a:srgbClr val="FCFAF6"/>
          </a:solidFill>
          <a:ln w="12700">
            <a:solidFill>
              <a:srgbClr val="E4DFD5"/>
            </a:solidFill>
            <a:prstDash val="solid"/>
          </a:ln>
        </p:spPr>
      </p:sp>
      <p:sp>
        <p:nvSpPr>
          <p:cNvPr id="5" name="Shape 3"/>
          <p:cNvSpPr/>
          <p:nvPr/>
        </p:nvSpPr>
        <p:spPr>
          <a:xfrm>
            <a:off x="777240" y="2514600"/>
            <a:ext cx="3291840" cy="50292"/>
          </a:xfrm>
          <a:prstGeom prst="rect">
            <a:avLst/>
          </a:prstGeom>
          <a:solidFill>
            <a:srgbClr val="A32E22"/>
          </a:solidFill>
          <a:ln w="12700">
            <a:solidFill>
              <a:srgbClr val="A32E22"/>
            </a:solidFill>
            <a:prstDash val="solid"/>
          </a:ln>
        </p:spPr>
      </p:sp>
      <p:sp>
        <p:nvSpPr>
          <p:cNvPr id="6" name="Text 4"/>
          <p:cNvSpPr txBox="1"/>
          <p:nvPr/>
        </p:nvSpPr>
        <p:spPr>
          <a:xfrm>
            <a:off x="1033272" y="2743200"/>
            <a:ext cx="2788920" cy="411480"/>
          </a:xfrm>
          <a:prstGeom prst="rect">
            <a:avLst/>
          </a:prstGeom>
          <a:noFill/>
          <a:ln/>
        </p:spPr>
        <p:txBody>
          <a:bodyPr wrap="square" lIns="0" tIns="0" rIns="0" bIns="0" rtlCol="0" anchor="ctr"/>
          <a:lstStyle/>
          <a:p>
            <a:pPr indent="0" marL="0">
              <a:buNone/>
            </a:pPr>
            <a:r>
              <a:rPr lang="en-US" sz="1900" dirty="0">
                <a:solidFill>
                  <a:srgbClr val="14110D"/>
                </a:solidFill>
                <a:latin typeface="Cambria" pitchFamily="34" charset="0"/>
                <a:ea typeface="Cambria" pitchFamily="34" charset="-122"/>
                <a:cs typeface="Cambria" pitchFamily="34" charset="-120"/>
              </a:rPr>
              <a:t>The purchasing buyer</a:t>
            </a:r>
            <a:endParaRPr lang="en-US" sz="1900" dirty="0"/>
          </a:p>
        </p:txBody>
      </p:sp>
      <p:sp>
        <p:nvSpPr>
          <p:cNvPr id="7" name="Text 5"/>
          <p:cNvSpPr txBox="1"/>
          <p:nvPr/>
        </p:nvSpPr>
        <p:spPr>
          <a:xfrm>
            <a:off x="1033272" y="3182112"/>
            <a:ext cx="2788920" cy="256032"/>
          </a:xfrm>
          <a:prstGeom prst="rect">
            <a:avLst/>
          </a:prstGeom>
          <a:noFill/>
          <a:ln/>
        </p:spPr>
        <p:txBody>
          <a:bodyPr wrap="square" lIns="0" tIns="0" rIns="0" bIns="0" rtlCol="0" anchor="ctr"/>
          <a:lstStyle/>
          <a:p>
            <a:pPr indent="0" marL="0">
              <a:buNone/>
            </a:pPr>
            <a:r>
              <a:rPr lang="en-US" sz="900" spc="140" kern="0" dirty="0">
                <a:solidFill>
                  <a:srgbClr val="9A9287"/>
                </a:solidFill>
                <a:latin typeface="Courier New" pitchFamily="34" charset="0"/>
                <a:ea typeface="Courier New" pitchFamily="34" charset="-122"/>
                <a:cs typeface="Courier New" pitchFamily="34" charset="-120"/>
              </a:rPr>
              <a:t>MONDAY MORNING · TEN MINUTES</a:t>
            </a:r>
            <a:endParaRPr lang="en-US" sz="900" dirty="0"/>
          </a:p>
        </p:txBody>
      </p:sp>
      <p:sp>
        <p:nvSpPr>
          <p:cNvPr id="8" name="Text 6"/>
          <p:cNvSpPr txBox="1"/>
          <p:nvPr/>
        </p:nvSpPr>
        <p:spPr>
          <a:xfrm>
            <a:off x="1033272" y="3529584"/>
            <a:ext cx="2788920" cy="713232"/>
          </a:xfrm>
          <a:prstGeom prst="rect">
            <a:avLst/>
          </a:prstGeom>
          <a:noFill/>
          <a:ln/>
        </p:spPr>
        <p:txBody>
          <a:bodyPr wrap="square" lIns="0" tIns="0" rIns="0" bIns="0" rtlCol="0" anchor="ctr"/>
          <a:lstStyle/>
          <a:p>
            <a:pPr indent="0" marL="0">
              <a:lnSpc>
                <a:spcPts val="2100"/>
              </a:lnSpc>
              <a:buNone/>
            </a:pPr>
            <a:r>
              <a:rPr lang="en-US" sz="1600" i="1" dirty="0">
                <a:solidFill>
                  <a:srgbClr val="A32E22"/>
                </a:solidFill>
                <a:latin typeface="Cambria" pitchFamily="34" charset="0"/>
                <a:ea typeface="Cambria" pitchFamily="34" charset="-122"/>
                <a:cs typeface="Cambria" pitchFamily="34" charset="-120"/>
              </a:rPr>
              <a:t>“What do I order this week?”</a:t>
            </a:r>
            <a:endParaRPr lang="en-US" sz="1600" dirty="0"/>
          </a:p>
        </p:txBody>
      </p:sp>
      <p:sp>
        <p:nvSpPr>
          <p:cNvPr id="9" name="Text 7"/>
          <p:cNvSpPr txBox="1"/>
          <p:nvPr/>
        </p:nvSpPr>
        <p:spPr>
          <a:xfrm>
            <a:off x="1033272" y="4315968"/>
            <a:ext cx="2788920" cy="960120"/>
          </a:xfrm>
          <a:prstGeom prst="rect">
            <a:avLst/>
          </a:prstGeom>
          <a:noFill/>
          <a:ln/>
        </p:spPr>
        <p:txBody>
          <a:bodyPr wrap="square" lIns="0" tIns="0" rIns="0" bIns="0" rtlCol="0" anchor="ctr"/>
          <a:lstStyle/>
          <a:p>
            <a:pPr indent="0" marL="0">
              <a:lnSpc>
                <a:spcPts val="1600"/>
              </a:lnSpc>
              <a:buNone/>
            </a:pPr>
            <a:r>
              <a:rPr lang="en-US" sz="1200" dirty="0">
                <a:solidFill>
                  <a:srgbClr val="3B362F"/>
                </a:solidFill>
                <a:latin typeface="Calibri" pitchFamily="34" charset="0"/>
                <a:ea typeface="Calibri" pitchFamily="34" charset="-122"/>
                <a:cs typeface="Calibri" pitchFamily="34" charset="-120"/>
              </a:rPr>
              <a:t>A quantity, in packs, with the money at risk if they ignore it. Not a chart.</a:t>
            </a:r>
            <a:endParaRPr lang="en-US" sz="1200" dirty="0"/>
          </a:p>
        </p:txBody>
      </p:sp>
      <p:sp>
        <p:nvSpPr>
          <p:cNvPr id="10" name="Text 8"/>
          <p:cNvSpPr txBox="1"/>
          <p:nvPr/>
        </p:nvSpPr>
        <p:spPr>
          <a:xfrm>
            <a:off x="1033272" y="5349240"/>
            <a:ext cx="2788920" cy="274320"/>
          </a:xfrm>
          <a:prstGeom prst="rect">
            <a:avLst/>
          </a:prstGeom>
          <a:noFill/>
          <a:ln/>
        </p:spPr>
        <p:txBody>
          <a:bodyPr wrap="square" lIns="0" tIns="0" rIns="0" bIns="0" rtlCol="0" anchor="ctr"/>
          <a:lstStyle/>
          <a:p>
            <a:pPr indent="0" marL="0">
              <a:buNone/>
            </a:pPr>
            <a:r>
              <a:rPr lang="en-US" sz="1100" dirty="0">
                <a:solidFill>
                  <a:srgbClr val="6B6459"/>
                </a:solidFill>
                <a:latin typeface="Courier New" pitchFamily="34" charset="0"/>
                <a:ea typeface="Courier New" pitchFamily="34" charset="-122"/>
                <a:cs typeface="Courier New" pitchFamily="34" charset="-120"/>
              </a:rPr>
              <a:t>Decisions → Order</a:t>
            </a:r>
            <a:endParaRPr lang="en-US" sz="1100" dirty="0"/>
          </a:p>
        </p:txBody>
      </p:sp>
      <p:sp>
        <p:nvSpPr>
          <p:cNvPr id="11" name="Shape 9"/>
          <p:cNvSpPr/>
          <p:nvPr/>
        </p:nvSpPr>
        <p:spPr>
          <a:xfrm>
            <a:off x="4389120" y="2514600"/>
            <a:ext cx="3291840" cy="3246120"/>
          </a:xfrm>
          <a:prstGeom prst="rect">
            <a:avLst/>
          </a:prstGeom>
          <a:solidFill>
            <a:srgbClr val="FCFAF6"/>
          </a:solidFill>
          <a:ln w="12700">
            <a:solidFill>
              <a:srgbClr val="E4DFD5"/>
            </a:solidFill>
            <a:prstDash val="solid"/>
          </a:ln>
        </p:spPr>
      </p:sp>
      <p:sp>
        <p:nvSpPr>
          <p:cNvPr id="12" name="Shape 10"/>
          <p:cNvSpPr/>
          <p:nvPr/>
        </p:nvSpPr>
        <p:spPr>
          <a:xfrm>
            <a:off x="4389120" y="2514600"/>
            <a:ext cx="3291840" cy="50292"/>
          </a:xfrm>
          <a:prstGeom prst="rect">
            <a:avLst/>
          </a:prstGeom>
          <a:solidFill>
            <a:srgbClr val="1C4E7A"/>
          </a:solidFill>
          <a:ln w="12700">
            <a:solidFill>
              <a:srgbClr val="1C4E7A"/>
            </a:solidFill>
            <a:prstDash val="solid"/>
          </a:ln>
        </p:spPr>
      </p:sp>
      <p:sp>
        <p:nvSpPr>
          <p:cNvPr id="13" name="Text 11"/>
          <p:cNvSpPr txBox="1"/>
          <p:nvPr/>
        </p:nvSpPr>
        <p:spPr>
          <a:xfrm>
            <a:off x="4645152" y="2743200"/>
            <a:ext cx="2788920" cy="411480"/>
          </a:xfrm>
          <a:prstGeom prst="rect">
            <a:avLst/>
          </a:prstGeom>
          <a:noFill/>
          <a:ln/>
        </p:spPr>
        <p:txBody>
          <a:bodyPr wrap="square" lIns="0" tIns="0" rIns="0" bIns="0" rtlCol="0" anchor="ctr"/>
          <a:lstStyle/>
          <a:p>
            <a:pPr indent="0" marL="0">
              <a:buNone/>
            </a:pPr>
            <a:r>
              <a:rPr lang="en-US" sz="1900" dirty="0">
                <a:solidFill>
                  <a:srgbClr val="14110D"/>
                </a:solidFill>
                <a:latin typeface="Cambria" pitchFamily="34" charset="0"/>
                <a:ea typeface="Cambria" pitchFamily="34" charset="-122"/>
                <a:cs typeface="Cambria" pitchFamily="34" charset="-120"/>
              </a:rPr>
              <a:t>The pharmacy owner</a:t>
            </a:r>
            <a:endParaRPr lang="en-US" sz="1900" dirty="0"/>
          </a:p>
        </p:txBody>
      </p:sp>
      <p:sp>
        <p:nvSpPr>
          <p:cNvPr id="14" name="Text 12"/>
          <p:cNvSpPr txBox="1"/>
          <p:nvPr/>
        </p:nvSpPr>
        <p:spPr>
          <a:xfrm>
            <a:off x="4645152" y="3182112"/>
            <a:ext cx="2788920" cy="256032"/>
          </a:xfrm>
          <a:prstGeom prst="rect">
            <a:avLst/>
          </a:prstGeom>
          <a:noFill/>
          <a:ln/>
        </p:spPr>
        <p:txBody>
          <a:bodyPr wrap="square" lIns="0" tIns="0" rIns="0" bIns="0" rtlCol="0" anchor="ctr"/>
          <a:lstStyle/>
          <a:p>
            <a:pPr indent="0" marL="0">
              <a:buNone/>
            </a:pPr>
            <a:r>
              <a:rPr lang="en-US" sz="900" spc="140" kern="0" dirty="0">
                <a:solidFill>
                  <a:srgbClr val="9A9287"/>
                </a:solidFill>
                <a:latin typeface="Courier New" pitchFamily="34" charset="0"/>
                <a:ea typeface="Courier New" pitchFamily="34" charset="-122"/>
                <a:cs typeface="Courier New" pitchFamily="34" charset="-120"/>
              </a:rPr>
              <a:t>END OF MONTH</a:t>
            </a:r>
            <a:endParaRPr lang="en-US" sz="900" dirty="0"/>
          </a:p>
        </p:txBody>
      </p:sp>
      <p:sp>
        <p:nvSpPr>
          <p:cNvPr id="15" name="Text 13"/>
          <p:cNvSpPr txBox="1"/>
          <p:nvPr/>
        </p:nvSpPr>
        <p:spPr>
          <a:xfrm>
            <a:off x="4645152" y="3529584"/>
            <a:ext cx="2788920" cy="713232"/>
          </a:xfrm>
          <a:prstGeom prst="rect">
            <a:avLst/>
          </a:prstGeom>
          <a:noFill/>
          <a:ln/>
        </p:spPr>
        <p:txBody>
          <a:bodyPr wrap="square" lIns="0" tIns="0" rIns="0" bIns="0" rtlCol="0" anchor="ctr"/>
          <a:lstStyle/>
          <a:p>
            <a:pPr indent="0" marL="0">
              <a:lnSpc>
                <a:spcPts val="2100"/>
              </a:lnSpc>
              <a:buNone/>
            </a:pPr>
            <a:r>
              <a:rPr lang="en-US" sz="1600" i="1" dirty="0">
                <a:solidFill>
                  <a:srgbClr val="1C4E7A"/>
                </a:solidFill>
                <a:latin typeface="Cambria" pitchFamily="34" charset="0"/>
                <a:ea typeface="Cambria" pitchFamily="34" charset="-122"/>
                <a:cs typeface="Cambria" pitchFamily="34" charset="-120"/>
              </a:rPr>
              <a:t>“Is my capital in the right stock?”</a:t>
            </a:r>
            <a:endParaRPr lang="en-US" sz="1600" dirty="0"/>
          </a:p>
        </p:txBody>
      </p:sp>
      <p:sp>
        <p:nvSpPr>
          <p:cNvPr id="16" name="Text 14"/>
          <p:cNvSpPr txBox="1"/>
          <p:nvPr/>
        </p:nvSpPr>
        <p:spPr>
          <a:xfrm>
            <a:off x="4645152" y="4315968"/>
            <a:ext cx="2788920" cy="960120"/>
          </a:xfrm>
          <a:prstGeom prst="rect">
            <a:avLst/>
          </a:prstGeom>
          <a:noFill/>
          <a:ln/>
        </p:spPr>
        <p:txBody>
          <a:bodyPr wrap="square" lIns="0" tIns="0" rIns="0" bIns="0" rtlCol="0" anchor="ctr"/>
          <a:lstStyle/>
          <a:p>
            <a:pPr indent="0" marL="0">
              <a:lnSpc>
                <a:spcPts val="1600"/>
              </a:lnSpc>
              <a:buNone/>
            </a:pPr>
            <a:r>
              <a:rPr lang="en-US" sz="1200" dirty="0">
                <a:solidFill>
                  <a:srgbClr val="3B362F"/>
                </a:solidFill>
                <a:latin typeface="Calibri" pitchFamily="34" charset="0"/>
                <a:ea typeface="Calibri" pitchFamily="34" charset="-122"/>
                <a:cs typeface="Calibri" pitchFamily="34" charset="-120"/>
              </a:rPr>
              <a:t>The cost of the current policy against the alternative, over real days, in rupees.</a:t>
            </a:r>
            <a:endParaRPr lang="en-US" sz="1200" dirty="0"/>
          </a:p>
        </p:txBody>
      </p:sp>
      <p:sp>
        <p:nvSpPr>
          <p:cNvPr id="17" name="Text 15"/>
          <p:cNvSpPr txBox="1"/>
          <p:nvPr/>
        </p:nvSpPr>
        <p:spPr>
          <a:xfrm>
            <a:off x="4645152" y="5349240"/>
            <a:ext cx="2788920" cy="274320"/>
          </a:xfrm>
          <a:prstGeom prst="rect">
            <a:avLst/>
          </a:prstGeom>
          <a:noFill/>
          <a:ln/>
        </p:spPr>
        <p:txBody>
          <a:bodyPr wrap="square" lIns="0" tIns="0" rIns="0" bIns="0" rtlCol="0" anchor="ctr"/>
          <a:lstStyle/>
          <a:p>
            <a:pPr indent="0" marL="0">
              <a:buNone/>
            </a:pPr>
            <a:r>
              <a:rPr lang="en-US" sz="1100" dirty="0">
                <a:solidFill>
                  <a:srgbClr val="6B6459"/>
                </a:solidFill>
                <a:latin typeface="Courier New" pitchFamily="34" charset="0"/>
                <a:ea typeface="Courier New" pitchFamily="34" charset="-122"/>
                <a:cs typeface="Courier New" pitchFamily="34" charset="-120"/>
              </a:rPr>
              <a:t>Replay → the business case</a:t>
            </a:r>
            <a:endParaRPr lang="en-US" sz="1100" dirty="0"/>
          </a:p>
        </p:txBody>
      </p:sp>
      <p:sp>
        <p:nvSpPr>
          <p:cNvPr id="18" name="Shape 16"/>
          <p:cNvSpPr/>
          <p:nvPr/>
        </p:nvSpPr>
        <p:spPr>
          <a:xfrm>
            <a:off x="8001000" y="2514600"/>
            <a:ext cx="3291840" cy="3246120"/>
          </a:xfrm>
          <a:prstGeom prst="rect">
            <a:avLst/>
          </a:prstGeom>
          <a:solidFill>
            <a:srgbClr val="FCFAF6"/>
          </a:solidFill>
          <a:ln w="12700">
            <a:solidFill>
              <a:srgbClr val="E4DFD5"/>
            </a:solidFill>
            <a:prstDash val="solid"/>
          </a:ln>
        </p:spPr>
      </p:sp>
      <p:sp>
        <p:nvSpPr>
          <p:cNvPr id="19" name="Shape 17"/>
          <p:cNvSpPr/>
          <p:nvPr/>
        </p:nvSpPr>
        <p:spPr>
          <a:xfrm>
            <a:off x="8001000" y="2514600"/>
            <a:ext cx="3291840" cy="50292"/>
          </a:xfrm>
          <a:prstGeom prst="rect">
            <a:avLst/>
          </a:prstGeom>
          <a:solidFill>
            <a:srgbClr val="1F5D42"/>
          </a:solidFill>
          <a:ln w="12700">
            <a:solidFill>
              <a:srgbClr val="1F5D42"/>
            </a:solidFill>
            <a:prstDash val="solid"/>
          </a:ln>
        </p:spPr>
      </p:sp>
      <p:sp>
        <p:nvSpPr>
          <p:cNvPr id="20" name="Text 18"/>
          <p:cNvSpPr txBox="1"/>
          <p:nvPr/>
        </p:nvSpPr>
        <p:spPr>
          <a:xfrm>
            <a:off x="8257032" y="2743200"/>
            <a:ext cx="2788920" cy="411480"/>
          </a:xfrm>
          <a:prstGeom prst="rect">
            <a:avLst/>
          </a:prstGeom>
          <a:noFill/>
          <a:ln/>
        </p:spPr>
        <p:txBody>
          <a:bodyPr wrap="square" lIns="0" tIns="0" rIns="0" bIns="0" rtlCol="0" anchor="ctr"/>
          <a:lstStyle/>
          <a:p>
            <a:pPr indent="0" marL="0">
              <a:buNone/>
            </a:pPr>
            <a:r>
              <a:rPr lang="en-US" sz="1900" dirty="0">
                <a:solidFill>
                  <a:srgbClr val="14110D"/>
                </a:solidFill>
                <a:latin typeface="Cambria" pitchFamily="34" charset="0"/>
                <a:ea typeface="Cambria" pitchFamily="34" charset="-122"/>
                <a:cs typeface="Cambria" pitchFamily="34" charset="-120"/>
              </a:rPr>
              <a:t>Whoever signs it off</a:t>
            </a:r>
            <a:endParaRPr lang="en-US" sz="1900" dirty="0"/>
          </a:p>
        </p:txBody>
      </p:sp>
      <p:sp>
        <p:nvSpPr>
          <p:cNvPr id="21" name="Text 19"/>
          <p:cNvSpPr txBox="1"/>
          <p:nvPr/>
        </p:nvSpPr>
        <p:spPr>
          <a:xfrm>
            <a:off x="8257032" y="3182112"/>
            <a:ext cx="2788920" cy="256032"/>
          </a:xfrm>
          <a:prstGeom prst="rect">
            <a:avLst/>
          </a:prstGeom>
          <a:noFill/>
          <a:ln/>
        </p:spPr>
        <p:txBody>
          <a:bodyPr wrap="square" lIns="0" tIns="0" rIns="0" bIns="0" rtlCol="0" anchor="ctr"/>
          <a:lstStyle/>
          <a:p>
            <a:pPr indent="0" marL="0">
              <a:buNone/>
            </a:pPr>
            <a:r>
              <a:rPr lang="en-US" sz="900" spc="140" kern="0" dirty="0">
                <a:solidFill>
                  <a:srgbClr val="9A9287"/>
                </a:solidFill>
                <a:latin typeface="Courier New" pitchFamily="34" charset="0"/>
                <a:ea typeface="Courier New" pitchFamily="34" charset="-122"/>
                <a:cs typeface="Courier New" pitchFamily="34" charset="-120"/>
              </a:rPr>
              <a:t>BEFORE IT GOES LIVE</a:t>
            </a:r>
            <a:endParaRPr lang="en-US" sz="900" dirty="0"/>
          </a:p>
        </p:txBody>
      </p:sp>
      <p:sp>
        <p:nvSpPr>
          <p:cNvPr id="22" name="Text 20"/>
          <p:cNvSpPr txBox="1"/>
          <p:nvPr/>
        </p:nvSpPr>
        <p:spPr>
          <a:xfrm>
            <a:off x="8257032" y="3529584"/>
            <a:ext cx="2788920" cy="713232"/>
          </a:xfrm>
          <a:prstGeom prst="rect">
            <a:avLst/>
          </a:prstGeom>
          <a:noFill/>
          <a:ln/>
        </p:spPr>
        <p:txBody>
          <a:bodyPr wrap="square" lIns="0" tIns="0" rIns="0" bIns="0" rtlCol="0" anchor="ctr"/>
          <a:lstStyle/>
          <a:p>
            <a:pPr indent="0" marL="0">
              <a:lnSpc>
                <a:spcPts val="2100"/>
              </a:lnSpc>
              <a:buNone/>
            </a:pPr>
            <a:r>
              <a:rPr lang="en-US" sz="1600" i="1" dirty="0">
                <a:solidFill>
                  <a:srgbClr val="1F5D42"/>
                </a:solidFill>
                <a:latin typeface="Cambria" pitchFamily="34" charset="0"/>
                <a:ea typeface="Cambria" pitchFamily="34" charset="-122"/>
                <a:cs typeface="Cambria" pitchFamily="34" charset="-120"/>
              </a:rPr>
              <a:t>“Why should I trust this number?”</a:t>
            </a:r>
            <a:endParaRPr lang="en-US" sz="1600" dirty="0"/>
          </a:p>
        </p:txBody>
      </p:sp>
      <p:sp>
        <p:nvSpPr>
          <p:cNvPr id="23" name="Text 21"/>
          <p:cNvSpPr txBox="1"/>
          <p:nvPr/>
        </p:nvSpPr>
        <p:spPr>
          <a:xfrm>
            <a:off x="8257032" y="4315968"/>
            <a:ext cx="2788920" cy="960120"/>
          </a:xfrm>
          <a:prstGeom prst="rect">
            <a:avLst/>
          </a:prstGeom>
          <a:noFill/>
          <a:ln/>
        </p:spPr>
        <p:txBody>
          <a:bodyPr wrap="square" lIns="0" tIns="0" rIns="0" bIns="0" rtlCol="0" anchor="ctr"/>
          <a:lstStyle/>
          <a:p>
            <a:pPr indent="0" marL="0">
              <a:lnSpc>
                <a:spcPts val="1600"/>
              </a:lnSpc>
              <a:buNone/>
            </a:pPr>
            <a:r>
              <a:rPr lang="en-US" sz="1200" dirty="0">
                <a:solidFill>
                  <a:srgbClr val="3B362F"/>
                </a:solidFill>
                <a:latin typeface="Calibri" pitchFamily="34" charset="0"/>
                <a:ea typeface="Calibri" pitchFamily="34" charset="-122"/>
                <a:cs typeface="Calibri" pitchFamily="34" charset="-120"/>
              </a:rPr>
              <a:t>Attribution in units, calibration measured against outcomes, and the series where it loses.</a:t>
            </a:r>
            <a:endParaRPr lang="en-US" sz="1200" dirty="0"/>
          </a:p>
        </p:txBody>
      </p:sp>
      <p:sp>
        <p:nvSpPr>
          <p:cNvPr id="24" name="Text 22"/>
          <p:cNvSpPr txBox="1"/>
          <p:nvPr/>
        </p:nvSpPr>
        <p:spPr>
          <a:xfrm>
            <a:off x="8257032" y="5349240"/>
            <a:ext cx="2788920" cy="274320"/>
          </a:xfrm>
          <a:prstGeom prst="rect">
            <a:avLst/>
          </a:prstGeom>
          <a:noFill/>
          <a:ln/>
        </p:spPr>
        <p:txBody>
          <a:bodyPr wrap="square" lIns="0" tIns="0" rIns="0" bIns="0" rtlCol="0" anchor="ctr"/>
          <a:lstStyle/>
          <a:p>
            <a:pPr indent="0" marL="0">
              <a:buNone/>
            </a:pPr>
            <a:r>
              <a:rPr lang="en-US" sz="1100" dirty="0">
                <a:solidFill>
                  <a:srgbClr val="6B6459"/>
                </a:solidFill>
                <a:latin typeface="Courier New" pitchFamily="34" charset="0"/>
                <a:ea typeface="Courier New" pitchFamily="34" charset="-122"/>
                <a:cs typeface="Courier New" pitchFamily="34" charset="-120"/>
              </a:rPr>
              <a:t>Why → Evidence</a:t>
            </a:r>
            <a:endParaRPr lang="en-US" sz="1100" dirty="0"/>
          </a:p>
        </p:txBody>
      </p:sp>
      <p:sp>
        <p:nvSpPr>
          <p:cNvPr id="25" name="Text 23"/>
          <p:cNvSpPr txBox="1"/>
          <p:nvPr/>
        </p:nvSpPr>
        <p:spPr>
          <a:xfrm>
            <a:off x="777240" y="5943600"/>
            <a:ext cx="10637215" cy="365760"/>
          </a:xfrm>
          <a:prstGeom prst="rect">
            <a:avLst/>
          </a:prstGeom>
          <a:noFill/>
          <a:ln/>
        </p:spPr>
        <p:txBody>
          <a:bodyPr wrap="square" lIns="0" tIns="0" rIns="0" bIns="0" rtlCol="0" anchor="ctr"/>
          <a:lstStyle/>
          <a:p>
            <a:pPr indent="0" marL="0">
              <a:lnSpc>
                <a:spcPts val="1620"/>
              </a:lnSpc>
              <a:buNone/>
            </a:pPr>
            <a:r>
              <a:rPr lang="en-US" sz="1200" i="1" dirty="0">
                <a:solidFill>
                  <a:srgbClr val="6B6459"/>
                </a:solidFill>
                <a:latin typeface="Calibri" pitchFamily="34" charset="0"/>
                <a:ea typeface="Calibri" pitchFamily="34" charset="-122"/>
                <a:cs typeface="Calibri" pitchFamily="34" charset="-120"/>
              </a:rPr>
              <a:t>Seven screens, but nobody has to visit all seven. The navigation is ordered the way the questions actually arrive: decide, order, forecast, why, replay, evidence, settings.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THE PRODUCT · WHAT THE BUYER SEES FIRST</a:t>
            </a:r>
            <a:endParaRPr lang="en-US" sz="1100" dirty="0"/>
          </a:p>
        </p:txBody>
      </p:sp>
      <p:sp>
        <p:nvSpPr>
          <p:cNvPr id="3" name="Text 1"/>
          <p:cNvSpPr txBox="1"/>
          <p:nvPr/>
        </p:nvSpPr>
        <p:spPr>
          <a:xfrm>
            <a:off x="777240" y="786384"/>
            <a:ext cx="10637215" cy="502920"/>
          </a:xfrm>
          <a:prstGeom prst="rect">
            <a:avLst/>
          </a:prstGeom>
          <a:noFill/>
          <a:ln/>
        </p:spPr>
        <p:txBody>
          <a:bodyPr wrap="square" lIns="0" tIns="0" rIns="0" bIns="0" rtlCol="0" anchor="ctr"/>
          <a:lstStyle/>
          <a:p>
            <a:pPr indent="0" marL="0">
              <a:buNone/>
            </a:pPr>
            <a:r>
              <a:rPr lang="en-US" sz="3200" dirty="0">
                <a:solidFill>
                  <a:srgbClr val="14110D"/>
                </a:solidFill>
                <a:latin typeface="Cambria" pitchFamily="34" charset="0"/>
                <a:ea typeface="Cambria" pitchFamily="34" charset="-122"/>
                <a:cs typeface="Cambria" pitchFamily="34" charset="-120"/>
              </a:rPr>
              <a:t>It opens on the decision, not on a chart.</a:t>
            </a:r>
            <a:endParaRPr lang="en-US" sz="3200" dirty="0"/>
          </a:p>
        </p:txBody>
      </p:sp>
      <p:sp>
        <p:nvSpPr>
          <p:cNvPr id="4" name="Shape 2"/>
          <p:cNvSpPr/>
          <p:nvPr/>
        </p:nvSpPr>
        <p:spPr>
          <a:xfrm>
            <a:off x="731520" y="1417320"/>
            <a:ext cx="7726680" cy="4928616"/>
          </a:xfrm>
          <a:prstGeom prst="rect">
            <a:avLst/>
          </a:prstGeom>
          <a:solidFill>
            <a:srgbClr val="EFEBE2"/>
          </a:solidFill>
          <a:ln w="15875">
            <a:solidFill>
              <a:srgbClr val="14110D"/>
            </a:solidFill>
            <a:prstDash val="solid"/>
          </a:ln>
        </p:spPr>
      </p:sp>
      <p:pic>
        <p:nvPicPr>
          <p:cNvPr id="5" name="Image 0" descr="C:\Users\ASUS\Desktop\CS\Projects\pharmapulse\deck\img\dashboard_hero.png">    </p:cNvPr>
          <p:cNvPicPr>
            <a:picLocks noChangeAspect="1"/>
          </p:cNvPicPr>
          <p:nvPr/>
        </p:nvPicPr>
        <p:blipFill>
          <a:blip r:embed="rId1"/>
          <a:stretch>
            <a:fillRect/>
          </a:stretch>
        </p:blipFill>
        <p:spPr>
          <a:xfrm>
            <a:off x="777240" y="1463040"/>
            <a:ext cx="7635240" cy="4837176"/>
          </a:xfrm>
          <a:prstGeom prst="rect">
            <a:avLst/>
          </a:prstGeom>
        </p:spPr>
      </p:pic>
      <p:sp>
        <p:nvSpPr>
          <p:cNvPr id="6" name="Text 3"/>
          <p:cNvSpPr txBox="1"/>
          <p:nvPr/>
        </p:nvSpPr>
        <p:spPr>
          <a:xfrm>
            <a:off x="8732520" y="1572768"/>
            <a:ext cx="2697480" cy="320040"/>
          </a:xfrm>
          <a:prstGeom prst="rect">
            <a:avLst/>
          </a:prstGeom>
          <a:noFill/>
          <a:ln/>
        </p:spPr>
        <p:txBody>
          <a:bodyPr wrap="square" lIns="0" tIns="0" rIns="0" bIns="0" rtlCol="0" anchor="ctr"/>
          <a:lstStyle/>
          <a:p>
            <a:pPr indent="0" marL="0">
              <a:buNone/>
            </a:pPr>
            <a:r>
              <a:rPr lang="en-US" sz="1400" b="1" dirty="0">
                <a:solidFill>
                  <a:srgbClr val="A32E22"/>
                </a:solidFill>
                <a:latin typeface="Calibri" pitchFamily="34" charset="0"/>
                <a:ea typeface="Calibri" pitchFamily="34" charset="-122"/>
                <a:cs typeface="Calibri" pitchFamily="34" charset="-120"/>
              </a:rPr>
              <a:t>Ranked by money</a:t>
            </a:r>
            <a:endParaRPr lang="en-US" sz="1400" dirty="0"/>
          </a:p>
        </p:txBody>
      </p:sp>
      <p:sp>
        <p:nvSpPr>
          <p:cNvPr id="7" name="Text 4"/>
          <p:cNvSpPr txBox="1"/>
          <p:nvPr/>
        </p:nvSpPr>
        <p:spPr>
          <a:xfrm>
            <a:off x="8732520" y="1920240"/>
            <a:ext cx="2697480" cy="960120"/>
          </a:xfrm>
          <a:prstGeom prst="rect">
            <a:avLst/>
          </a:prstGeom>
          <a:noFill/>
          <a:ln/>
        </p:spPr>
        <p:txBody>
          <a:bodyPr wrap="square" lIns="0" tIns="0" rIns="0" bIns="0" rtlCol="0" anchor="ctr"/>
          <a:lstStyle/>
          <a:p>
            <a:pPr indent="0" marL="0">
              <a:lnSpc>
                <a:spcPts val="1600"/>
              </a:lnSpc>
              <a:buNone/>
            </a:pPr>
            <a:r>
              <a:rPr lang="en-US" sz="1200" dirty="0">
                <a:solidFill>
                  <a:srgbClr val="6B6459"/>
                </a:solidFill>
                <a:latin typeface="Calibri" pitchFamily="34" charset="0"/>
                <a:ea typeface="Calibri" pitchFamily="34" charset="-122"/>
                <a:cs typeface="Calibri" pitchFamily="34" charset="-120"/>
              </a:rPr>
              <a:t>₹276 at 34% likely is ranked above ₹163 at 99%. Probability is not the ranking a buyer needs — exposure is.</a:t>
            </a:r>
            <a:endParaRPr lang="en-US" sz="1200" dirty="0"/>
          </a:p>
        </p:txBody>
      </p:sp>
      <p:sp>
        <p:nvSpPr>
          <p:cNvPr id="8" name="Text 5"/>
          <p:cNvSpPr txBox="1"/>
          <p:nvPr/>
        </p:nvSpPr>
        <p:spPr>
          <a:xfrm>
            <a:off x="8732520" y="3108960"/>
            <a:ext cx="2697480" cy="320040"/>
          </a:xfrm>
          <a:prstGeom prst="rect">
            <a:avLst/>
          </a:prstGeom>
          <a:noFill/>
          <a:ln/>
        </p:spPr>
        <p:txBody>
          <a:bodyPr wrap="square" lIns="0" tIns="0" rIns="0" bIns="0" rtlCol="0" anchor="ctr"/>
          <a:lstStyle/>
          <a:p>
            <a:pPr indent="0" marL="0">
              <a:buNone/>
            </a:pPr>
            <a:r>
              <a:rPr lang="en-US" sz="1400" b="1" dirty="0">
                <a:solidFill>
                  <a:srgbClr val="1F5D42"/>
                </a:solidFill>
                <a:latin typeface="Calibri" pitchFamily="34" charset="0"/>
                <a:ea typeface="Calibri" pitchFamily="34" charset="-122"/>
                <a:cs typeface="Calibri" pitchFamily="34" charset="-120"/>
              </a:rPr>
              <a:t>One click to the fix</a:t>
            </a:r>
            <a:endParaRPr lang="en-US" sz="1400" dirty="0"/>
          </a:p>
        </p:txBody>
      </p:sp>
      <p:sp>
        <p:nvSpPr>
          <p:cNvPr id="9" name="Text 6"/>
          <p:cNvSpPr txBox="1"/>
          <p:nvPr/>
        </p:nvSpPr>
        <p:spPr>
          <a:xfrm>
            <a:off x="8732520" y="3456432"/>
            <a:ext cx="2697480" cy="960120"/>
          </a:xfrm>
          <a:prstGeom prst="rect">
            <a:avLst/>
          </a:prstGeom>
          <a:noFill/>
          <a:ln/>
        </p:spPr>
        <p:txBody>
          <a:bodyPr wrap="square" lIns="0" tIns="0" rIns="0" bIns="0" rtlCol="0" anchor="ctr"/>
          <a:lstStyle/>
          <a:p>
            <a:pPr indent="0" marL="0">
              <a:lnSpc>
                <a:spcPts val="1600"/>
              </a:lnSpc>
              <a:buNone/>
            </a:pPr>
            <a:r>
              <a:rPr lang="en-US" sz="1200" dirty="0">
                <a:solidFill>
                  <a:srgbClr val="6B6459"/>
                </a:solidFill>
                <a:latin typeface="Calibri" pitchFamily="34" charset="0"/>
                <a:ea typeface="Calibri" pitchFamily="34" charset="-122"/>
                <a:cs typeface="Calibri" pitchFamily="34" charset="-120"/>
              </a:rPr>
              <a:t>Every row links straight to the order that resolves it — there is no hunting.</a:t>
            </a:r>
            <a:endParaRPr lang="en-US" sz="1200" dirty="0"/>
          </a:p>
        </p:txBody>
      </p:sp>
      <p:sp>
        <p:nvSpPr>
          <p:cNvPr id="10" name="Text 7"/>
          <p:cNvSpPr txBox="1"/>
          <p:nvPr/>
        </p:nvSpPr>
        <p:spPr>
          <a:xfrm>
            <a:off x="8732520" y="4645152"/>
            <a:ext cx="2697480" cy="320040"/>
          </a:xfrm>
          <a:prstGeom prst="rect">
            <a:avLst/>
          </a:prstGeom>
          <a:noFill/>
          <a:ln/>
        </p:spPr>
        <p:txBody>
          <a:bodyPr wrap="square" lIns="0" tIns="0" rIns="0" bIns="0" rtlCol="0" anchor="ctr"/>
          <a:lstStyle/>
          <a:p>
            <a:pPr indent="0" marL="0">
              <a:buNone/>
            </a:pPr>
            <a:r>
              <a:rPr lang="en-US" sz="1400" b="1" dirty="0">
                <a:solidFill>
                  <a:srgbClr val="1C4E7A"/>
                </a:solidFill>
                <a:latin typeface="Calibri" pitchFamily="34" charset="0"/>
                <a:ea typeface="Calibri" pitchFamily="34" charset="-122"/>
                <a:cs typeface="Calibri" pitchFamily="34" charset="-120"/>
              </a:rPr>
              <a:t>Live, not nightly</a:t>
            </a:r>
            <a:endParaRPr lang="en-US" sz="1400" dirty="0"/>
          </a:p>
        </p:txBody>
      </p:sp>
      <p:sp>
        <p:nvSpPr>
          <p:cNvPr id="11" name="Text 8"/>
          <p:cNvSpPr txBox="1"/>
          <p:nvPr/>
        </p:nvSpPr>
        <p:spPr>
          <a:xfrm>
            <a:off x="8732520" y="4992624"/>
            <a:ext cx="2697480" cy="960120"/>
          </a:xfrm>
          <a:prstGeom prst="rect">
            <a:avLst/>
          </a:prstGeom>
          <a:noFill/>
          <a:ln/>
        </p:spPr>
        <p:txBody>
          <a:bodyPr wrap="square" lIns="0" tIns="0" rIns="0" bIns="0" rtlCol="0" anchor="ctr"/>
          <a:lstStyle/>
          <a:p>
            <a:pPr indent="0" marL="0">
              <a:lnSpc>
                <a:spcPts val="1600"/>
              </a:lnSpc>
              <a:buNone/>
            </a:pPr>
            <a:r>
              <a:rPr lang="en-US" sz="1200" dirty="0">
                <a:solidFill>
                  <a:srgbClr val="6B6459"/>
                </a:solidFill>
                <a:latin typeface="Calibri" pitchFamily="34" charset="0"/>
                <a:ea typeface="Calibri" pitchFamily="34" charset="-122"/>
                <a:cs typeface="Calibri" pitchFamily="34" charset="-120"/>
              </a:rPr>
              <a:t>Position = seeded opening stock + every ledger movement since. Accept an order and the shelf actually moves.</a:t>
            </a:r>
            <a:endParaRPr lang="en-US" sz="1200" dirty="0"/>
          </a:p>
        </p:txBody>
      </p:sp>
      <p:sp>
        <p:nvSpPr>
          <p:cNvPr id="12" name="Text 9"/>
          <p:cNvSpPr txBox="1"/>
          <p:nvPr/>
        </p:nvSpPr>
        <p:spPr>
          <a:xfrm>
            <a:off x="8732520" y="6053328"/>
            <a:ext cx="2697480" cy="256032"/>
          </a:xfrm>
          <a:prstGeom prst="rect">
            <a:avLst/>
          </a:prstGeom>
          <a:noFill/>
          <a:ln/>
        </p:spPr>
        <p:txBody>
          <a:bodyPr wrap="square" lIns="0" tIns="0" rIns="0" bIns="0" rtlCol="0" anchor="ctr"/>
          <a:lstStyle/>
          <a:p>
            <a:pPr indent="0" marL="0">
              <a:buNone/>
            </a:pPr>
            <a:r>
              <a:rPr lang="en-US" sz="950" spc="140" kern="0" dirty="0">
                <a:solidFill>
                  <a:srgbClr val="9A9287"/>
                </a:solidFill>
                <a:latin typeface="Courier New" pitchFamily="34" charset="0"/>
                <a:ea typeface="Courier New" pitchFamily="34" charset="-122"/>
                <a:cs typeface="Courier New" pitchFamily="34" charset="-120"/>
              </a:rPr>
              <a:t>live screenshot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THE PRODUCT · THE SCREEN THE WHOLE SYSTEM EXISTS FOR</a:t>
            </a:r>
            <a:endParaRPr lang="en-US" sz="1100" dirty="0"/>
          </a:p>
        </p:txBody>
      </p:sp>
      <p:sp>
        <p:nvSpPr>
          <p:cNvPr id="3" name="Text 1"/>
          <p:cNvSpPr txBox="1"/>
          <p:nvPr/>
        </p:nvSpPr>
        <p:spPr>
          <a:xfrm>
            <a:off x="777240" y="786384"/>
            <a:ext cx="10637215" cy="502920"/>
          </a:xfrm>
          <a:prstGeom prst="rect">
            <a:avLst/>
          </a:prstGeom>
          <a:noFill/>
          <a:ln/>
        </p:spPr>
        <p:txBody>
          <a:bodyPr wrap="square" lIns="0" tIns="0" rIns="0" bIns="0" rtlCol="0" anchor="ctr"/>
          <a:lstStyle/>
          <a:p>
            <a:pPr indent="0" marL="0">
              <a:buNone/>
            </a:pPr>
            <a:r>
              <a:rPr lang="en-US" sz="3000" dirty="0">
                <a:solidFill>
                  <a:srgbClr val="14110D"/>
                </a:solidFill>
                <a:latin typeface="Cambria" pitchFamily="34" charset="0"/>
                <a:ea typeface="Cambria" pitchFamily="34" charset="-122"/>
                <a:cs typeface="Cambria" pitchFamily="34" charset="-120"/>
              </a:rPr>
              <a:t>The slider is the cost ratio. Drag it, the order moves.</a:t>
            </a:r>
            <a:endParaRPr lang="en-US" sz="3000" dirty="0"/>
          </a:p>
        </p:txBody>
      </p:sp>
      <p:sp>
        <p:nvSpPr>
          <p:cNvPr id="4" name="Shape 2"/>
          <p:cNvSpPr/>
          <p:nvPr/>
        </p:nvSpPr>
        <p:spPr>
          <a:xfrm>
            <a:off x="731520" y="1371600"/>
            <a:ext cx="6922008" cy="5010912"/>
          </a:xfrm>
          <a:prstGeom prst="rect">
            <a:avLst/>
          </a:prstGeom>
          <a:solidFill>
            <a:srgbClr val="EFEBE2"/>
          </a:solidFill>
          <a:ln w="15875">
            <a:solidFill>
              <a:srgbClr val="14110D"/>
            </a:solidFill>
            <a:prstDash val="solid"/>
          </a:ln>
        </p:spPr>
      </p:sp>
      <p:pic>
        <p:nvPicPr>
          <p:cNvPr id="5" name="Image 0" descr="C:\Users\ASUS\Desktop\CS\Projects\pharmapulse\deck\img\orders.png">    </p:cNvPr>
          <p:cNvPicPr>
            <a:picLocks noChangeAspect="1"/>
          </p:cNvPicPr>
          <p:nvPr/>
        </p:nvPicPr>
        <p:blipFill>
          <a:blip r:embed="rId1"/>
          <a:stretch>
            <a:fillRect/>
          </a:stretch>
        </p:blipFill>
        <p:spPr>
          <a:xfrm>
            <a:off x="777240" y="1417320"/>
            <a:ext cx="6830568" cy="4919472"/>
          </a:xfrm>
          <a:prstGeom prst="rect">
            <a:avLst/>
          </a:prstGeom>
        </p:spPr>
      </p:pic>
      <p:sp>
        <p:nvSpPr>
          <p:cNvPr id="6" name="Text 3"/>
          <p:cNvSpPr txBox="1"/>
          <p:nvPr/>
        </p:nvSpPr>
        <p:spPr>
          <a:xfrm>
            <a:off x="8046720" y="1572768"/>
            <a:ext cx="3383280" cy="320040"/>
          </a:xfrm>
          <a:prstGeom prst="rect">
            <a:avLst/>
          </a:prstGeom>
          <a:noFill/>
          <a:ln/>
        </p:spPr>
        <p:txBody>
          <a:bodyPr wrap="square" lIns="0" tIns="0" rIns="0" bIns="0" rtlCol="0" anchor="ctr"/>
          <a:lstStyle/>
          <a:p>
            <a:pPr indent="0" marL="0">
              <a:buNone/>
            </a:pPr>
            <a:r>
              <a:rPr lang="en-US" sz="1350" b="1" dirty="0">
                <a:solidFill>
                  <a:srgbClr val="1F5D42"/>
                </a:solidFill>
                <a:latin typeface="Calibri" pitchFamily="34" charset="0"/>
                <a:ea typeface="Calibri" pitchFamily="34" charset="-122"/>
                <a:cs typeface="Calibri" pitchFamily="34" charset="-120"/>
              </a:rPr>
              <a:t>The quantile, made physical</a:t>
            </a:r>
            <a:endParaRPr lang="en-US" sz="1350" dirty="0"/>
          </a:p>
        </p:txBody>
      </p:sp>
      <p:sp>
        <p:nvSpPr>
          <p:cNvPr id="7" name="Text 4"/>
          <p:cNvSpPr txBox="1"/>
          <p:nvPr/>
        </p:nvSpPr>
        <p:spPr>
          <a:xfrm>
            <a:off x="8046720" y="1920240"/>
            <a:ext cx="3383280" cy="1005840"/>
          </a:xfrm>
          <a:prstGeom prst="rect">
            <a:avLst/>
          </a:prstGeom>
          <a:noFill/>
          <a:ln/>
        </p:spPr>
        <p:txBody>
          <a:bodyPr wrap="square" lIns="0" tIns="0" rIns="0" bIns="0" rtlCol="0" anchor="ctr"/>
          <a:lstStyle/>
          <a:p>
            <a:pPr indent="0" marL="0">
              <a:lnSpc>
                <a:spcPts val="1600"/>
              </a:lnSpc>
              <a:buNone/>
            </a:pPr>
            <a:r>
              <a:rPr lang="en-US" sz="1200" dirty="0">
                <a:solidFill>
                  <a:srgbClr val="6B6459"/>
                </a:solidFill>
                <a:latin typeface="Calibri" pitchFamily="34" charset="0"/>
                <a:ea typeface="Calibri" pitchFamily="34" charset="-122"/>
                <a:cs typeface="Calibri" pitchFamily="34" charset="-120"/>
              </a:rPr>
              <a:t>Service level, stockout risk, cost this cycle and the distance from optimal — all recomputed as you drag.</a:t>
            </a:r>
            <a:endParaRPr lang="en-US" sz="1200" dirty="0"/>
          </a:p>
        </p:txBody>
      </p:sp>
      <p:sp>
        <p:nvSpPr>
          <p:cNvPr id="8" name="Text 5"/>
          <p:cNvSpPr txBox="1"/>
          <p:nvPr/>
        </p:nvSpPr>
        <p:spPr>
          <a:xfrm>
            <a:off x="8046720" y="3145536"/>
            <a:ext cx="3383280" cy="320040"/>
          </a:xfrm>
          <a:prstGeom prst="rect">
            <a:avLst/>
          </a:prstGeom>
          <a:noFill/>
          <a:ln/>
        </p:spPr>
        <p:txBody>
          <a:bodyPr wrap="square" lIns="0" tIns="0" rIns="0" bIns="0" rtlCol="0" anchor="ctr"/>
          <a:lstStyle/>
          <a:p>
            <a:pPr indent="0" marL="0">
              <a:buNone/>
            </a:pPr>
            <a:r>
              <a:rPr lang="en-US" sz="1350" b="1" dirty="0">
                <a:solidFill>
                  <a:srgbClr val="3B362F"/>
                </a:solidFill>
                <a:latin typeface="Calibri" pitchFamily="34" charset="0"/>
                <a:ea typeface="Calibri" pitchFamily="34" charset="-122"/>
                <a:cs typeface="Calibri" pitchFamily="34" charset="-120"/>
              </a:rPr>
              <a:t>±1 pack, priced</a:t>
            </a:r>
            <a:endParaRPr lang="en-US" sz="1350" dirty="0"/>
          </a:p>
        </p:txBody>
      </p:sp>
      <p:sp>
        <p:nvSpPr>
          <p:cNvPr id="9" name="Text 6"/>
          <p:cNvSpPr txBox="1"/>
          <p:nvPr/>
        </p:nvSpPr>
        <p:spPr>
          <a:xfrm>
            <a:off x="8046720" y="3493008"/>
            <a:ext cx="3383280" cy="1005840"/>
          </a:xfrm>
          <a:prstGeom prst="rect">
            <a:avLst/>
          </a:prstGeom>
          <a:noFill/>
          <a:ln/>
        </p:spPr>
        <p:txBody>
          <a:bodyPr wrap="square" lIns="0" tIns="0" rIns="0" bIns="0" rtlCol="0" anchor="ctr"/>
          <a:lstStyle/>
          <a:p>
            <a:pPr indent="0" marL="0">
              <a:lnSpc>
                <a:spcPts val="1600"/>
              </a:lnSpc>
              <a:buNone/>
            </a:pPr>
            <a:r>
              <a:rPr lang="en-US" sz="1200" dirty="0">
                <a:solidFill>
                  <a:srgbClr val="6B6459"/>
                </a:solidFill>
                <a:latin typeface="Calibri" pitchFamily="34" charset="0"/>
                <a:ea typeface="Calibri" pitchFamily="34" charset="-122"/>
                <a:cs typeface="Calibri" pitchFamily="34" charset="-120"/>
              </a:rPr>
              <a:t>One pack fewer and one pack more, each with what it costs. That is a sensitivity a buyer can argue with.</a:t>
            </a:r>
            <a:endParaRPr lang="en-US" sz="1200" dirty="0"/>
          </a:p>
        </p:txBody>
      </p:sp>
      <p:sp>
        <p:nvSpPr>
          <p:cNvPr id="10" name="Text 7"/>
          <p:cNvSpPr txBox="1"/>
          <p:nvPr/>
        </p:nvSpPr>
        <p:spPr>
          <a:xfrm>
            <a:off x="8046720" y="4718304"/>
            <a:ext cx="3383280" cy="320040"/>
          </a:xfrm>
          <a:prstGeom prst="rect">
            <a:avLst/>
          </a:prstGeom>
          <a:noFill/>
          <a:ln/>
        </p:spPr>
        <p:txBody>
          <a:bodyPr wrap="square" lIns="0" tIns="0" rIns="0" bIns="0" rtlCol="0" anchor="ctr"/>
          <a:lstStyle/>
          <a:p>
            <a:pPr indent="0" marL="0">
              <a:buNone/>
            </a:pPr>
            <a:r>
              <a:rPr lang="en-US" sz="1350" b="1" dirty="0">
                <a:solidFill>
                  <a:srgbClr val="1C4E7A"/>
                </a:solidFill>
                <a:latin typeface="Calibri" pitchFamily="34" charset="0"/>
                <a:ea typeface="Calibri" pitchFamily="34" charset="-122"/>
                <a:cs typeface="Calibri" pitchFamily="34" charset="-120"/>
              </a:rPr>
              <a:t>The position is auditable</a:t>
            </a:r>
            <a:endParaRPr lang="en-US" sz="1350" dirty="0"/>
          </a:p>
        </p:txBody>
      </p:sp>
      <p:sp>
        <p:nvSpPr>
          <p:cNvPr id="11" name="Text 8"/>
          <p:cNvSpPr txBox="1"/>
          <p:nvPr/>
        </p:nvSpPr>
        <p:spPr>
          <a:xfrm>
            <a:off x="8046720" y="5065776"/>
            <a:ext cx="3383280" cy="1005840"/>
          </a:xfrm>
          <a:prstGeom prst="rect">
            <a:avLst/>
          </a:prstGeom>
          <a:noFill/>
          <a:ln/>
        </p:spPr>
        <p:txBody>
          <a:bodyPr wrap="square" lIns="0" tIns="0" rIns="0" bIns="0" rtlCol="0" anchor="ctr"/>
          <a:lstStyle/>
          <a:p>
            <a:pPr indent="0" marL="0">
              <a:lnSpc>
                <a:spcPts val="1600"/>
              </a:lnSpc>
              <a:buNone/>
            </a:pPr>
            <a:r>
              <a:rPr lang="en-US" sz="1200" dirty="0">
                <a:solidFill>
                  <a:srgbClr val="6B6459"/>
                </a:solidFill>
                <a:latin typeface="Calibri" pitchFamily="34" charset="0"/>
                <a:ea typeface="Calibri" pitchFamily="34" charset="-122"/>
                <a:cs typeface="Calibri" pitchFamily="34" charset="-120"/>
              </a:rPr>
              <a:t>Opening stock, then every receipt and sale, summing to the number on the shelf.</a:t>
            </a:r>
            <a:endParaRPr lang="en-US" sz="1200" dirty="0"/>
          </a:p>
        </p:txBody>
      </p:sp>
      <p:sp>
        <p:nvSpPr>
          <p:cNvPr id="12" name="Text 9"/>
          <p:cNvSpPr txBox="1"/>
          <p:nvPr/>
        </p:nvSpPr>
        <p:spPr>
          <a:xfrm>
            <a:off x="8046720" y="6108192"/>
            <a:ext cx="3383280" cy="256032"/>
          </a:xfrm>
          <a:prstGeom prst="rect">
            <a:avLst/>
          </a:prstGeom>
          <a:noFill/>
          <a:ln/>
        </p:spPr>
        <p:txBody>
          <a:bodyPr wrap="square" lIns="0" tIns="0" rIns="0" bIns="0" rtlCol="0" anchor="ctr"/>
          <a:lstStyle/>
          <a:p>
            <a:pPr indent="0" marL="0">
              <a:buNone/>
            </a:pPr>
            <a:r>
              <a:rPr lang="en-US" sz="950" spc="140" kern="0" dirty="0">
                <a:solidFill>
                  <a:srgbClr val="9A9287"/>
                </a:solidFill>
                <a:latin typeface="Courier New" pitchFamily="34" charset="0"/>
                <a:ea typeface="Courier New" pitchFamily="34" charset="-122"/>
                <a:cs typeface="Courier New" pitchFamily="34" charset="-120"/>
              </a:rPr>
              <a:t>zero network calls while dragging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THE PRODUCT · ALL OF IT</a:t>
            </a:r>
            <a:endParaRPr lang="en-US" sz="1100" dirty="0"/>
          </a:p>
        </p:txBody>
      </p:sp>
      <p:sp>
        <p:nvSpPr>
          <p:cNvPr id="3" name="Text 1"/>
          <p:cNvSpPr txBox="1"/>
          <p:nvPr/>
        </p:nvSpPr>
        <p:spPr>
          <a:xfrm>
            <a:off x="777240" y="749808"/>
            <a:ext cx="10637215" cy="457200"/>
          </a:xfrm>
          <a:prstGeom prst="rect">
            <a:avLst/>
          </a:prstGeom>
          <a:noFill/>
          <a:ln/>
        </p:spPr>
        <p:txBody>
          <a:bodyPr wrap="square" lIns="0" tIns="0" rIns="0" bIns="0" rtlCol="0" anchor="ctr"/>
          <a:lstStyle/>
          <a:p>
            <a:pPr indent="0" marL="0">
              <a:buNone/>
            </a:pPr>
            <a:r>
              <a:rPr lang="en-US" sz="2700" dirty="0">
                <a:solidFill>
                  <a:srgbClr val="14110D"/>
                </a:solidFill>
                <a:latin typeface="Cambria" pitchFamily="34" charset="0"/>
                <a:ea typeface="Cambria" pitchFamily="34" charset="-122"/>
                <a:cs typeface="Cambria" pitchFamily="34" charset="-120"/>
              </a:rPr>
              <a:t>Seven screens, in the order the questions arrive.</a:t>
            </a:r>
            <a:endParaRPr lang="en-US" sz="2700" dirty="0"/>
          </a:p>
        </p:txBody>
      </p:sp>
      <p:sp>
        <p:nvSpPr>
          <p:cNvPr id="4" name="Shape 2"/>
          <p:cNvSpPr/>
          <p:nvPr/>
        </p:nvSpPr>
        <p:spPr>
          <a:xfrm>
            <a:off x="731520" y="1325880"/>
            <a:ext cx="2626614" cy="1675924"/>
          </a:xfrm>
          <a:prstGeom prst="rect">
            <a:avLst/>
          </a:prstGeom>
          <a:solidFill>
            <a:srgbClr val="EFEBE2"/>
          </a:solidFill>
          <a:ln w="15875">
            <a:solidFill>
              <a:srgbClr val="14110D"/>
            </a:solidFill>
            <a:prstDash val="solid"/>
          </a:ln>
        </p:spPr>
      </p:sp>
      <p:pic>
        <p:nvPicPr>
          <p:cNvPr id="5" name="Image 0" descr="C:\Users\ASUS\Desktop\CS\Projects\pharmapulse\deck\img\thumb_dashboard.png">    </p:cNvPr>
          <p:cNvPicPr>
            <a:picLocks noChangeAspect="1"/>
          </p:cNvPicPr>
          <p:nvPr/>
        </p:nvPicPr>
        <p:blipFill>
          <a:blip r:embed="rId1"/>
          <a:stretch>
            <a:fillRect/>
          </a:stretch>
        </p:blipFill>
        <p:spPr>
          <a:xfrm>
            <a:off x="777240" y="1371600"/>
            <a:ext cx="2535174" cy="1584484"/>
          </a:xfrm>
          <a:prstGeom prst="rect">
            <a:avLst/>
          </a:prstGeom>
        </p:spPr>
      </p:pic>
      <p:sp>
        <p:nvSpPr>
          <p:cNvPr id="6" name="Text 3"/>
          <p:cNvSpPr txBox="1"/>
          <p:nvPr/>
        </p:nvSpPr>
        <p:spPr>
          <a:xfrm>
            <a:off x="777240" y="3047524"/>
            <a:ext cx="2535174" cy="237744"/>
          </a:xfrm>
          <a:prstGeom prst="rect">
            <a:avLst/>
          </a:prstGeom>
          <a:noFill/>
          <a:ln/>
        </p:spPr>
        <p:txBody>
          <a:bodyPr wrap="square" lIns="0" tIns="0" rIns="0" bIns="0" rtlCol="0" anchor="ctr"/>
          <a:lstStyle/>
          <a:p>
            <a:pPr indent="0" marL="0">
              <a:buNone/>
            </a:pPr>
            <a:r>
              <a:rPr lang="en-US" sz="1200" b="1" dirty="0">
                <a:solidFill>
                  <a:srgbClr val="A32E22"/>
                </a:solidFill>
                <a:latin typeface="Calibri" pitchFamily="34" charset="0"/>
                <a:ea typeface="Calibri" pitchFamily="34" charset="-122"/>
                <a:cs typeface="Calibri" pitchFamily="34" charset="-120"/>
              </a:rPr>
              <a:t>01  Decisions</a:t>
            </a:r>
            <a:endParaRPr lang="en-US" sz="1200" dirty="0"/>
          </a:p>
        </p:txBody>
      </p:sp>
      <p:sp>
        <p:nvSpPr>
          <p:cNvPr id="7" name="Text 4"/>
          <p:cNvSpPr txBox="1"/>
          <p:nvPr/>
        </p:nvSpPr>
        <p:spPr>
          <a:xfrm>
            <a:off x="777240" y="3266980"/>
            <a:ext cx="2535174" cy="365760"/>
          </a:xfrm>
          <a:prstGeom prst="rect">
            <a:avLst/>
          </a:prstGeom>
          <a:noFill/>
          <a:ln/>
        </p:spPr>
        <p:txBody>
          <a:bodyPr wrap="square" lIns="0" tIns="0" rIns="0" bIns="0" rtlCol="0" anchor="ctr"/>
          <a:lstStyle/>
          <a:p>
            <a:pPr indent="0" marL="0">
              <a:lnSpc>
                <a:spcPts val="1300"/>
              </a:lnSpc>
              <a:buNone/>
            </a:pPr>
            <a:r>
              <a:rPr lang="en-US" sz="1000" dirty="0">
                <a:solidFill>
                  <a:srgbClr val="6B6459"/>
                </a:solidFill>
                <a:latin typeface="Calibri" pitchFamily="34" charset="0"/>
                <a:ea typeface="Calibri" pitchFamily="34" charset="-122"/>
                <a:cs typeface="Calibri" pitchFamily="34" charset="-120"/>
              </a:rPr>
              <a:t>What needs my decision today?</a:t>
            </a:r>
            <a:endParaRPr lang="en-US" sz="1000" dirty="0"/>
          </a:p>
        </p:txBody>
      </p:sp>
      <p:sp>
        <p:nvSpPr>
          <p:cNvPr id="8" name="Shape 5"/>
          <p:cNvSpPr/>
          <p:nvPr/>
        </p:nvSpPr>
        <p:spPr>
          <a:xfrm>
            <a:off x="3431286" y="1325880"/>
            <a:ext cx="2626614" cy="1675924"/>
          </a:xfrm>
          <a:prstGeom prst="rect">
            <a:avLst/>
          </a:prstGeom>
          <a:solidFill>
            <a:srgbClr val="EFEBE2"/>
          </a:solidFill>
          <a:ln w="15875">
            <a:solidFill>
              <a:srgbClr val="14110D"/>
            </a:solidFill>
            <a:prstDash val="solid"/>
          </a:ln>
        </p:spPr>
      </p:sp>
      <p:pic>
        <p:nvPicPr>
          <p:cNvPr id="9" name="Image 1" descr="C:\Users\ASUS\Desktop\CS\Projects\pharmapulse\deck\img\thumb_orders.png">    </p:cNvPr>
          <p:cNvPicPr>
            <a:picLocks noChangeAspect="1"/>
          </p:cNvPicPr>
          <p:nvPr/>
        </p:nvPicPr>
        <p:blipFill>
          <a:blip r:embed="rId2"/>
          <a:stretch>
            <a:fillRect/>
          </a:stretch>
        </p:blipFill>
        <p:spPr>
          <a:xfrm>
            <a:off x="3477006" y="1371600"/>
            <a:ext cx="2535174" cy="1584484"/>
          </a:xfrm>
          <a:prstGeom prst="rect">
            <a:avLst/>
          </a:prstGeom>
        </p:spPr>
      </p:pic>
      <p:sp>
        <p:nvSpPr>
          <p:cNvPr id="10" name="Text 6"/>
          <p:cNvSpPr txBox="1"/>
          <p:nvPr/>
        </p:nvSpPr>
        <p:spPr>
          <a:xfrm>
            <a:off x="3477006" y="3047524"/>
            <a:ext cx="2535174" cy="237744"/>
          </a:xfrm>
          <a:prstGeom prst="rect">
            <a:avLst/>
          </a:prstGeom>
          <a:noFill/>
          <a:ln/>
        </p:spPr>
        <p:txBody>
          <a:bodyPr wrap="square" lIns="0" tIns="0" rIns="0" bIns="0" rtlCol="0" anchor="ctr"/>
          <a:lstStyle/>
          <a:p>
            <a:pPr indent="0" marL="0">
              <a:buNone/>
            </a:pPr>
            <a:r>
              <a:rPr lang="en-US" sz="1200" b="1" dirty="0">
                <a:solidFill>
                  <a:srgbClr val="1F5D42"/>
                </a:solidFill>
                <a:latin typeface="Calibri" pitchFamily="34" charset="0"/>
                <a:ea typeface="Calibri" pitchFamily="34" charset="-122"/>
                <a:cs typeface="Calibri" pitchFamily="34" charset="-120"/>
              </a:rPr>
              <a:t>02  Order</a:t>
            </a:r>
            <a:endParaRPr lang="en-US" sz="1200" dirty="0"/>
          </a:p>
        </p:txBody>
      </p:sp>
      <p:sp>
        <p:nvSpPr>
          <p:cNvPr id="11" name="Text 7"/>
          <p:cNvSpPr txBox="1"/>
          <p:nvPr/>
        </p:nvSpPr>
        <p:spPr>
          <a:xfrm>
            <a:off x="3477006" y="3266980"/>
            <a:ext cx="2535174" cy="365760"/>
          </a:xfrm>
          <a:prstGeom prst="rect">
            <a:avLst/>
          </a:prstGeom>
          <a:noFill/>
          <a:ln/>
        </p:spPr>
        <p:txBody>
          <a:bodyPr wrap="square" lIns="0" tIns="0" rIns="0" bIns="0" rtlCol="0" anchor="ctr"/>
          <a:lstStyle/>
          <a:p>
            <a:pPr indent="0" marL="0">
              <a:lnSpc>
                <a:spcPts val="1300"/>
              </a:lnSpc>
              <a:buNone/>
            </a:pPr>
            <a:r>
              <a:rPr lang="en-US" sz="1000" dirty="0">
                <a:solidFill>
                  <a:srgbClr val="6B6459"/>
                </a:solidFill>
                <a:latin typeface="Calibri" pitchFamily="34" charset="0"/>
                <a:ea typeface="Calibri" pitchFamily="34" charset="-122"/>
                <a:cs typeface="Calibri" pitchFamily="34" charset="-120"/>
              </a:rPr>
              <a:t>What do I actually buy?</a:t>
            </a:r>
            <a:endParaRPr lang="en-US" sz="1000" dirty="0"/>
          </a:p>
        </p:txBody>
      </p:sp>
      <p:sp>
        <p:nvSpPr>
          <p:cNvPr id="12" name="Shape 8"/>
          <p:cNvSpPr/>
          <p:nvPr/>
        </p:nvSpPr>
        <p:spPr>
          <a:xfrm>
            <a:off x="6131052" y="1325880"/>
            <a:ext cx="2626614" cy="1675924"/>
          </a:xfrm>
          <a:prstGeom prst="rect">
            <a:avLst/>
          </a:prstGeom>
          <a:solidFill>
            <a:srgbClr val="EFEBE2"/>
          </a:solidFill>
          <a:ln w="15875">
            <a:solidFill>
              <a:srgbClr val="14110D"/>
            </a:solidFill>
            <a:prstDash val="solid"/>
          </a:ln>
        </p:spPr>
      </p:sp>
      <p:pic>
        <p:nvPicPr>
          <p:cNvPr id="13" name="Image 2" descr="C:\Users\ASUS\Desktop\CS\Projects\pharmapulse\deck\img\thumb_forecast.png">    </p:cNvPr>
          <p:cNvPicPr>
            <a:picLocks noChangeAspect="1"/>
          </p:cNvPicPr>
          <p:nvPr/>
        </p:nvPicPr>
        <p:blipFill>
          <a:blip r:embed="rId3"/>
          <a:stretch>
            <a:fillRect/>
          </a:stretch>
        </p:blipFill>
        <p:spPr>
          <a:xfrm>
            <a:off x="6176772" y="1371600"/>
            <a:ext cx="2535174" cy="1584484"/>
          </a:xfrm>
          <a:prstGeom prst="rect">
            <a:avLst/>
          </a:prstGeom>
        </p:spPr>
      </p:pic>
      <p:sp>
        <p:nvSpPr>
          <p:cNvPr id="14" name="Text 9"/>
          <p:cNvSpPr txBox="1"/>
          <p:nvPr/>
        </p:nvSpPr>
        <p:spPr>
          <a:xfrm>
            <a:off x="6176772" y="3047524"/>
            <a:ext cx="2535174" cy="237744"/>
          </a:xfrm>
          <a:prstGeom prst="rect">
            <a:avLst/>
          </a:prstGeom>
          <a:noFill/>
          <a:ln/>
        </p:spPr>
        <p:txBody>
          <a:bodyPr wrap="square" lIns="0" tIns="0" rIns="0" bIns="0" rtlCol="0" anchor="ctr"/>
          <a:lstStyle/>
          <a:p>
            <a:pPr indent="0" marL="0">
              <a:buNone/>
            </a:pPr>
            <a:r>
              <a:rPr lang="en-US" sz="1200" b="1" dirty="0">
                <a:solidFill>
                  <a:srgbClr val="1C4E7A"/>
                </a:solidFill>
                <a:latin typeface="Calibri" pitchFamily="34" charset="0"/>
                <a:ea typeface="Calibri" pitchFamily="34" charset="-122"/>
                <a:cs typeface="Calibri" pitchFamily="34" charset="-120"/>
              </a:rPr>
              <a:t>03  Forecast</a:t>
            </a:r>
            <a:endParaRPr lang="en-US" sz="1200" dirty="0"/>
          </a:p>
        </p:txBody>
      </p:sp>
      <p:sp>
        <p:nvSpPr>
          <p:cNvPr id="15" name="Text 10"/>
          <p:cNvSpPr txBox="1"/>
          <p:nvPr/>
        </p:nvSpPr>
        <p:spPr>
          <a:xfrm>
            <a:off x="6176772" y="3266980"/>
            <a:ext cx="2535174" cy="365760"/>
          </a:xfrm>
          <a:prstGeom prst="rect">
            <a:avLst/>
          </a:prstGeom>
          <a:noFill/>
          <a:ln/>
        </p:spPr>
        <p:txBody>
          <a:bodyPr wrap="square" lIns="0" tIns="0" rIns="0" bIns="0" rtlCol="0" anchor="ctr"/>
          <a:lstStyle/>
          <a:p>
            <a:pPr indent="0" marL="0">
              <a:lnSpc>
                <a:spcPts val="1300"/>
              </a:lnSpc>
              <a:buNone/>
            </a:pPr>
            <a:r>
              <a:rPr lang="en-US" sz="1000" dirty="0">
                <a:solidFill>
                  <a:srgbClr val="6B6459"/>
                </a:solidFill>
                <a:latin typeface="Calibri" pitchFamily="34" charset="0"/>
                <a:ea typeface="Calibri" pitchFamily="34" charset="-122"/>
                <a:cs typeface="Calibri" pitchFamily="34" charset="-120"/>
              </a:rPr>
              <a:t>What will sell, and how sure are we?</a:t>
            </a:r>
            <a:endParaRPr lang="en-US" sz="1000" dirty="0"/>
          </a:p>
        </p:txBody>
      </p:sp>
      <p:sp>
        <p:nvSpPr>
          <p:cNvPr id="16" name="Shape 11"/>
          <p:cNvSpPr/>
          <p:nvPr/>
        </p:nvSpPr>
        <p:spPr>
          <a:xfrm>
            <a:off x="8830818" y="1325880"/>
            <a:ext cx="2626614" cy="1675924"/>
          </a:xfrm>
          <a:prstGeom prst="rect">
            <a:avLst/>
          </a:prstGeom>
          <a:solidFill>
            <a:srgbClr val="EFEBE2"/>
          </a:solidFill>
          <a:ln w="15875">
            <a:solidFill>
              <a:srgbClr val="14110D"/>
            </a:solidFill>
            <a:prstDash val="solid"/>
          </a:ln>
        </p:spPr>
      </p:sp>
      <p:pic>
        <p:nvPicPr>
          <p:cNvPr id="17" name="Image 3" descr="C:\Users\ASUS\Desktop\CS\Projects\pharmapulse\deck\img\thumb_why.png">    </p:cNvPr>
          <p:cNvPicPr>
            <a:picLocks noChangeAspect="1"/>
          </p:cNvPicPr>
          <p:nvPr/>
        </p:nvPicPr>
        <p:blipFill>
          <a:blip r:embed="rId4"/>
          <a:stretch>
            <a:fillRect/>
          </a:stretch>
        </p:blipFill>
        <p:spPr>
          <a:xfrm>
            <a:off x="8876538" y="1371600"/>
            <a:ext cx="2535174" cy="1584484"/>
          </a:xfrm>
          <a:prstGeom prst="rect">
            <a:avLst/>
          </a:prstGeom>
        </p:spPr>
      </p:pic>
      <p:sp>
        <p:nvSpPr>
          <p:cNvPr id="18" name="Text 12"/>
          <p:cNvSpPr txBox="1"/>
          <p:nvPr/>
        </p:nvSpPr>
        <p:spPr>
          <a:xfrm>
            <a:off x="8876538" y="3047524"/>
            <a:ext cx="2535174" cy="237744"/>
          </a:xfrm>
          <a:prstGeom prst="rect">
            <a:avLst/>
          </a:prstGeom>
          <a:noFill/>
          <a:ln/>
        </p:spPr>
        <p:txBody>
          <a:bodyPr wrap="square" lIns="0" tIns="0" rIns="0" bIns="0" rtlCol="0" anchor="ctr"/>
          <a:lstStyle/>
          <a:p>
            <a:pPr indent="0" marL="0">
              <a:buNone/>
            </a:pPr>
            <a:r>
              <a:rPr lang="en-US" sz="1200" b="1" dirty="0">
                <a:solidFill>
                  <a:srgbClr val="1C4E7A"/>
                </a:solidFill>
                <a:latin typeface="Calibri" pitchFamily="34" charset="0"/>
                <a:ea typeface="Calibri" pitchFamily="34" charset="-122"/>
                <a:cs typeface="Calibri" pitchFamily="34" charset="-120"/>
              </a:rPr>
              <a:t>04  Why</a:t>
            </a:r>
            <a:endParaRPr lang="en-US" sz="1200" dirty="0"/>
          </a:p>
        </p:txBody>
      </p:sp>
      <p:sp>
        <p:nvSpPr>
          <p:cNvPr id="19" name="Text 13"/>
          <p:cNvSpPr txBox="1"/>
          <p:nvPr/>
        </p:nvSpPr>
        <p:spPr>
          <a:xfrm>
            <a:off x="8876538" y="3266980"/>
            <a:ext cx="2535174" cy="365760"/>
          </a:xfrm>
          <a:prstGeom prst="rect">
            <a:avLst/>
          </a:prstGeom>
          <a:noFill/>
          <a:ln/>
        </p:spPr>
        <p:txBody>
          <a:bodyPr wrap="square" lIns="0" tIns="0" rIns="0" bIns="0" rtlCol="0" anchor="ctr"/>
          <a:lstStyle/>
          <a:p>
            <a:pPr indent="0" marL="0">
              <a:lnSpc>
                <a:spcPts val="1300"/>
              </a:lnSpc>
              <a:buNone/>
            </a:pPr>
            <a:r>
              <a:rPr lang="en-US" sz="1000" dirty="0">
                <a:solidFill>
                  <a:srgbClr val="6B6459"/>
                </a:solidFill>
                <a:latin typeface="Calibri" pitchFamily="34" charset="0"/>
                <a:ea typeface="Calibri" pitchFamily="34" charset="-122"/>
                <a:cs typeface="Calibri" pitchFamily="34" charset="-120"/>
              </a:rPr>
              <a:t>Where did that number come from?</a:t>
            </a:r>
            <a:endParaRPr lang="en-US" sz="1000" dirty="0"/>
          </a:p>
        </p:txBody>
      </p:sp>
      <p:sp>
        <p:nvSpPr>
          <p:cNvPr id="20" name="Shape 14"/>
          <p:cNvSpPr/>
          <p:nvPr/>
        </p:nvSpPr>
        <p:spPr>
          <a:xfrm>
            <a:off x="2083003" y="3566160"/>
            <a:ext cx="2626614" cy="1675924"/>
          </a:xfrm>
          <a:prstGeom prst="rect">
            <a:avLst/>
          </a:prstGeom>
          <a:solidFill>
            <a:srgbClr val="EFEBE2"/>
          </a:solidFill>
          <a:ln w="15875">
            <a:solidFill>
              <a:srgbClr val="14110D"/>
            </a:solidFill>
            <a:prstDash val="solid"/>
          </a:ln>
        </p:spPr>
      </p:sp>
      <p:pic>
        <p:nvPicPr>
          <p:cNvPr id="21" name="Image 4" descr="C:\Users\ASUS\Desktop\CS\Projects\pharmapulse\deck\img\thumb_liveops.png">    </p:cNvPr>
          <p:cNvPicPr>
            <a:picLocks noChangeAspect="1"/>
          </p:cNvPicPr>
          <p:nvPr/>
        </p:nvPicPr>
        <p:blipFill>
          <a:blip r:embed="rId5"/>
          <a:stretch>
            <a:fillRect/>
          </a:stretch>
        </p:blipFill>
        <p:spPr>
          <a:xfrm>
            <a:off x="2128723" y="3611880"/>
            <a:ext cx="2535174" cy="1584484"/>
          </a:xfrm>
          <a:prstGeom prst="rect">
            <a:avLst/>
          </a:prstGeom>
        </p:spPr>
      </p:pic>
      <p:sp>
        <p:nvSpPr>
          <p:cNvPr id="22" name="Text 15"/>
          <p:cNvSpPr txBox="1"/>
          <p:nvPr/>
        </p:nvSpPr>
        <p:spPr>
          <a:xfrm>
            <a:off x="2128723" y="5287804"/>
            <a:ext cx="2535174" cy="237744"/>
          </a:xfrm>
          <a:prstGeom prst="rect">
            <a:avLst/>
          </a:prstGeom>
          <a:noFill/>
          <a:ln/>
        </p:spPr>
        <p:txBody>
          <a:bodyPr wrap="square" lIns="0" tIns="0" rIns="0" bIns="0" rtlCol="0" anchor="ctr"/>
          <a:lstStyle/>
          <a:p>
            <a:pPr indent="0" marL="0">
              <a:buNone/>
            </a:pPr>
            <a:r>
              <a:rPr lang="en-US" sz="1200" b="1" dirty="0">
                <a:solidFill>
                  <a:srgbClr val="8A6410"/>
                </a:solidFill>
                <a:latin typeface="Calibri" pitchFamily="34" charset="0"/>
                <a:ea typeface="Calibri" pitchFamily="34" charset="-122"/>
                <a:cs typeface="Calibri" pitchFamily="34" charset="-120"/>
              </a:rPr>
              <a:t>05  Replay</a:t>
            </a:r>
            <a:endParaRPr lang="en-US" sz="1200" dirty="0"/>
          </a:p>
        </p:txBody>
      </p:sp>
      <p:sp>
        <p:nvSpPr>
          <p:cNvPr id="23" name="Text 16"/>
          <p:cNvSpPr txBox="1"/>
          <p:nvPr/>
        </p:nvSpPr>
        <p:spPr>
          <a:xfrm>
            <a:off x="2128723" y="5507260"/>
            <a:ext cx="2535174" cy="365760"/>
          </a:xfrm>
          <a:prstGeom prst="rect">
            <a:avLst/>
          </a:prstGeom>
          <a:noFill/>
          <a:ln/>
        </p:spPr>
        <p:txBody>
          <a:bodyPr wrap="square" lIns="0" tIns="0" rIns="0" bIns="0" rtlCol="0" anchor="ctr"/>
          <a:lstStyle/>
          <a:p>
            <a:pPr indent="0" marL="0">
              <a:lnSpc>
                <a:spcPts val="1300"/>
              </a:lnSpc>
              <a:buNone/>
            </a:pPr>
            <a:r>
              <a:rPr lang="en-US" sz="1000" dirty="0">
                <a:solidFill>
                  <a:srgbClr val="6B6459"/>
                </a:solidFill>
                <a:latin typeface="Calibri" pitchFamily="34" charset="0"/>
                <a:ea typeface="Calibri" pitchFamily="34" charset="-122"/>
                <a:cs typeface="Calibri" pitchFamily="34" charset="-120"/>
              </a:rPr>
              <a:t>What would it have been worth?</a:t>
            </a:r>
            <a:endParaRPr lang="en-US" sz="1000" dirty="0"/>
          </a:p>
        </p:txBody>
      </p:sp>
      <p:sp>
        <p:nvSpPr>
          <p:cNvPr id="24" name="Shape 17"/>
          <p:cNvSpPr/>
          <p:nvPr/>
        </p:nvSpPr>
        <p:spPr>
          <a:xfrm>
            <a:off x="4782769" y="3566160"/>
            <a:ext cx="2626614" cy="1675924"/>
          </a:xfrm>
          <a:prstGeom prst="rect">
            <a:avLst/>
          </a:prstGeom>
          <a:solidFill>
            <a:srgbClr val="EFEBE2"/>
          </a:solidFill>
          <a:ln w="15875">
            <a:solidFill>
              <a:srgbClr val="14110D"/>
            </a:solidFill>
            <a:prstDash val="solid"/>
          </a:ln>
        </p:spPr>
      </p:sp>
      <p:pic>
        <p:nvPicPr>
          <p:cNvPr id="25" name="Image 5" descr="C:\Users\ASUS\Desktop\CS\Projects\pharmapulse\deck\img\thumb_ops.png">    </p:cNvPr>
          <p:cNvPicPr>
            <a:picLocks noChangeAspect="1"/>
          </p:cNvPicPr>
          <p:nvPr/>
        </p:nvPicPr>
        <p:blipFill>
          <a:blip r:embed="rId6"/>
          <a:stretch>
            <a:fillRect/>
          </a:stretch>
        </p:blipFill>
        <p:spPr>
          <a:xfrm>
            <a:off x="4828489" y="3611880"/>
            <a:ext cx="2535174" cy="1584484"/>
          </a:xfrm>
          <a:prstGeom prst="rect">
            <a:avLst/>
          </a:prstGeom>
        </p:spPr>
      </p:pic>
      <p:sp>
        <p:nvSpPr>
          <p:cNvPr id="26" name="Text 18"/>
          <p:cNvSpPr txBox="1"/>
          <p:nvPr/>
        </p:nvSpPr>
        <p:spPr>
          <a:xfrm>
            <a:off x="4828489" y="5287804"/>
            <a:ext cx="2535174" cy="237744"/>
          </a:xfrm>
          <a:prstGeom prst="rect">
            <a:avLst/>
          </a:prstGeom>
          <a:noFill/>
          <a:ln/>
        </p:spPr>
        <p:txBody>
          <a:bodyPr wrap="square" lIns="0" tIns="0" rIns="0" bIns="0" rtlCol="0" anchor="ctr"/>
          <a:lstStyle/>
          <a:p>
            <a:pPr indent="0" marL="0">
              <a:buNone/>
            </a:pPr>
            <a:r>
              <a:rPr lang="en-US" sz="1200" b="1" dirty="0">
                <a:solidFill>
                  <a:srgbClr val="1F5D42"/>
                </a:solidFill>
                <a:latin typeface="Calibri" pitchFamily="34" charset="0"/>
                <a:ea typeface="Calibri" pitchFamily="34" charset="-122"/>
                <a:cs typeface="Calibri" pitchFamily="34" charset="-120"/>
              </a:rPr>
              <a:t>06  Evidence</a:t>
            </a:r>
            <a:endParaRPr lang="en-US" sz="1200" dirty="0"/>
          </a:p>
        </p:txBody>
      </p:sp>
      <p:sp>
        <p:nvSpPr>
          <p:cNvPr id="27" name="Text 19"/>
          <p:cNvSpPr txBox="1"/>
          <p:nvPr/>
        </p:nvSpPr>
        <p:spPr>
          <a:xfrm>
            <a:off x="4828489" y="5507260"/>
            <a:ext cx="2535174" cy="365760"/>
          </a:xfrm>
          <a:prstGeom prst="rect">
            <a:avLst/>
          </a:prstGeom>
          <a:noFill/>
          <a:ln/>
        </p:spPr>
        <p:txBody>
          <a:bodyPr wrap="square" lIns="0" tIns="0" rIns="0" bIns="0" rtlCol="0" anchor="ctr"/>
          <a:lstStyle/>
          <a:p>
            <a:pPr indent="0" marL="0">
              <a:lnSpc>
                <a:spcPts val="1300"/>
              </a:lnSpc>
              <a:buNone/>
            </a:pPr>
            <a:r>
              <a:rPr lang="en-US" sz="1000" dirty="0">
                <a:solidFill>
                  <a:srgbClr val="6B6459"/>
                </a:solidFill>
                <a:latin typeface="Calibri" pitchFamily="34" charset="0"/>
                <a:ea typeface="Calibri" pitchFamily="34" charset="-122"/>
                <a:cs typeface="Calibri" pitchFamily="34" charset="-120"/>
              </a:rPr>
              <a:t>Prove the accuracy claims.</a:t>
            </a:r>
            <a:endParaRPr lang="en-US" sz="1000" dirty="0"/>
          </a:p>
        </p:txBody>
      </p:sp>
      <p:sp>
        <p:nvSpPr>
          <p:cNvPr id="28" name="Shape 20"/>
          <p:cNvSpPr/>
          <p:nvPr/>
        </p:nvSpPr>
        <p:spPr>
          <a:xfrm>
            <a:off x="7482535" y="3566160"/>
            <a:ext cx="2626614" cy="1675924"/>
          </a:xfrm>
          <a:prstGeom prst="rect">
            <a:avLst/>
          </a:prstGeom>
          <a:solidFill>
            <a:srgbClr val="EFEBE2"/>
          </a:solidFill>
          <a:ln w="15875">
            <a:solidFill>
              <a:srgbClr val="14110D"/>
            </a:solidFill>
            <a:prstDash val="solid"/>
          </a:ln>
        </p:spPr>
      </p:sp>
      <p:pic>
        <p:nvPicPr>
          <p:cNvPr id="29" name="Image 6" descr="C:\Users\ASUS\Desktop\CS\Projects\pharmapulse\deck\img\thumb_settings.png">    </p:cNvPr>
          <p:cNvPicPr>
            <a:picLocks noChangeAspect="1"/>
          </p:cNvPicPr>
          <p:nvPr/>
        </p:nvPicPr>
        <p:blipFill>
          <a:blip r:embed="rId7"/>
          <a:stretch>
            <a:fillRect/>
          </a:stretch>
        </p:blipFill>
        <p:spPr>
          <a:xfrm>
            <a:off x="7528255" y="3611880"/>
            <a:ext cx="2535174" cy="1584484"/>
          </a:xfrm>
          <a:prstGeom prst="rect">
            <a:avLst/>
          </a:prstGeom>
        </p:spPr>
      </p:pic>
      <p:sp>
        <p:nvSpPr>
          <p:cNvPr id="30" name="Text 21"/>
          <p:cNvSpPr txBox="1"/>
          <p:nvPr/>
        </p:nvSpPr>
        <p:spPr>
          <a:xfrm>
            <a:off x="7528255" y="5287804"/>
            <a:ext cx="2535174" cy="237744"/>
          </a:xfrm>
          <a:prstGeom prst="rect">
            <a:avLst/>
          </a:prstGeom>
          <a:noFill/>
          <a:ln/>
        </p:spPr>
        <p:txBody>
          <a:bodyPr wrap="square" lIns="0" tIns="0" rIns="0" bIns="0" rtlCol="0" anchor="ctr"/>
          <a:lstStyle/>
          <a:p>
            <a:pPr indent="0" marL="0">
              <a:buNone/>
            </a:pPr>
            <a:r>
              <a:rPr lang="en-US" sz="1200" b="1" dirty="0">
                <a:solidFill>
                  <a:srgbClr val="6B6459"/>
                </a:solidFill>
                <a:latin typeface="Calibri" pitchFamily="34" charset="0"/>
                <a:ea typeface="Calibri" pitchFamily="34" charset="-122"/>
                <a:cs typeface="Calibri" pitchFamily="34" charset="-120"/>
              </a:rPr>
              <a:t>07  Settings</a:t>
            </a:r>
            <a:endParaRPr lang="en-US" sz="1200" dirty="0"/>
          </a:p>
        </p:txBody>
      </p:sp>
      <p:sp>
        <p:nvSpPr>
          <p:cNvPr id="31" name="Text 22"/>
          <p:cNvSpPr txBox="1"/>
          <p:nvPr/>
        </p:nvSpPr>
        <p:spPr>
          <a:xfrm>
            <a:off x="7528255" y="5507260"/>
            <a:ext cx="2535174" cy="365760"/>
          </a:xfrm>
          <a:prstGeom prst="rect">
            <a:avLst/>
          </a:prstGeom>
          <a:noFill/>
          <a:ln/>
        </p:spPr>
        <p:txBody>
          <a:bodyPr wrap="square" lIns="0" tIns="0" rIns="0" bIns="0" rtlCol="0" anchor="ctr"/>
          <a:lstStyle/>
          <a:p>
            <a:pPr indent="0" marL="0">
              <a:lnSpc>
                <a:spcPts val="1300"/>
              </a:lnSpc>
              <a:buNone/>
            </a:pPr>
            <a:r>
              <a:rPr lang="en-US" sz="1000" dirty="0">
                <a:solidFill>
                  <a:srgbClr val="6B6459"/>
                </a:solidFill>
                <a:latin typeface="Calibri" pitchFamily="34" charset="0"/>
                <a:ea typeface="Calibri" pitchFamily="34" charset="-122"/>
                <a:cs typeface="Calibri" pitchFamily="34" charset="-120"/>
              </a:rPr>
              <a:t>These are my shop's numbers.</a:t>
            </a:r>
            <a:endParaRPr lang="en-US" sz="1000" dirty="0"/>
          </a:p>
        </p:txBody>
      </p:sp>
      <p:sp>
        <p:nvSpPr>
          <p:cNvPr id="32" name="Text 23"/>
          <p:cNvSpPr txBox="1"/>
          <p:nvPr/>
        </p:nvSpPr>
        <p:spPr>
          <a:xfrm>
            <a:off x="777240" y="5897880"/>
            <a:ext cx="10637215" cy="320040"/>
          </a:xfrm>
          <a:prstGeom prst="rect">
            <a:avLst/>
          </a:prstGeom>
          <a:noFill/>
          <a:ln/>
        </p:spPr>
        <p:txBody>
          <a:bodyPr wrap="square" lIns="0" tIns="0" rIns="0" bIns="0" rtlCol="0" anchor="ctr"/>
          <a:lstStyle/>
          <a:p>
            <a:pPr indent="0" marL="0">
              <a:lnSpc>
                <a:spcPts val="1620"/>
              </a:lnSpc>
              <a:buNone/>
            </a:pPr>
            <a:r>
              <a:rPr lang="en-US" sz="1200" i="1" dirty="0">
                <a:solidFill>
                  <a:srgbClr val="6B6459"/>
                </a:solidFill>
                <a:latin typeface="Calibri" pitchFamily="34" charset="0"/>
                <a:ea typeface="Calibri" pitchFamily="34" charset="-122"/>
                <a:cs typeface="Calibri" pitchFamily="34" charset="-120"/>
              </a:rPr>
              <a:t>Nobody has to visit all seven. A buyer lives in the first two; the other five exist so that somebody will let them.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ARCHITECTURE · EVERY COMPONENT, AND WHERE IT LIVES</a:t>
            </a:r>
            <a:endParaRPr lang="en-US" sz="1100" dirty="0"/>
          </a:p>
        </p:txBody>
      </p:sp>
      <p:sp>
        <p:nvSpPr>
          <p:cNvPr id="3" name="Text 1"/>
          <p:cNvSpPr txBox="1"/>
          <p:nvPr/>
        </p:nvSpPr>
        <p:spPr>
          <a:xfrm>
            <a:off x="777240" y="704088"/>
            <a:ext cx="10637215" cy="347472"/>
          </a:xfrm>
          <a:prstGeom prst="rect">
            <a:avLst/>
          </a:prstGeom>
          <a:noFill/>
          <a:ln/>
        </p:spPr>
        <p:txBody>
          <a:bodyPr wrap="square" lIns="0" tIns="0" rIns="0" bIns="0" rtlCol="0" anchor="ctr"/>
          <a:lstStyle/>
          <a:p>
            <a:pPr indent="0" marL="0">
              <a:buNone/>
            </a:pPr>
            <a:r>
              <a:rPr lang="en-US" sz="2500" dirty="0">
                <a:solidFill>
                  <a:srgbClr val="14110D"/>
                </a:solidFill>
                <a:latin typeface="Cambria" pitchFamily="34" charset="0"/>
                <a:ea typeface="Cambria" pitchFamily="34" charset="-122"/>
                <a:cs typeface="Cambria" pitchFamily="34" charset="-120"/>
              </a:rPr>
              <a:t>The system as built — not as designed.</a:t>
            </a:r>
            <a:endParaRPr lang="en-US" sz="2500" dirty="0"/>
          </a:p>
        </p:txBody>
      </p:sp>
      <p:sp>
        <p:nvSpPr>
          <p:cNvPr id="4" name="Text 2"/>
          <p:cNvSpPr txBox="1"/>
          <p:nvPr/>
        </p:nvSpPr>
        <p:spPr>
          <a:xfrm>
            <a:off x="457200" y="1097280"/>
            <a:ext cx="1389888" cy="201168"/>
          </a:xfrm>
          <a:prstGeom prst="rect">
            <a:avLst/>
          </a:prstGeom>
          <a:noFill/>
          <a:ln/>
        </p:spPr>
        <p:txBody>
          <a:bodyPr wrap="square" lIns="0" tIns="0" rIns="0" bIns="0" rtlCol="0" anchor="ctr"/>
          <a:lstStyle/>
          <a:p>
            <a:pPr indent="0" marL="0">
              <a:buNone/>
            </a:pPr>
            <a:r>
              <a:rPr lang="en-US" sz="850" spc="140" kern="0" dirty="0">
                <a:solidFill>
                  <a:srgbClr val="9A9287"/>
                </a:solidFill>
                <a:latin typeface="Courier New" pitchFamily="34" charset="0"/>
                <a:ea typeface="Courier New" pitchFamily="34" charset="-122"/>
                <a:cs typeface="Courier New" pitchFamily="34" charset="-120"/>
              </a:rPr>
              <a:t>LAYER 1</a:t>
            </a:r>
            <a:endParaRPr lang="en-US" sz="850" dirty="0"/>
          </a:p>
        </p:txBody>
      </p:sp>
      <p:sp>
        <p:nvSpPr>
          <p:cNvPr id="5" name="Text 3"/>
          <p:cNvSpPr txBox="1"/>
          <p:nvPr/>
        </p:nvSpPr>
        <p:spPr>
          <a:xfrm>
            <a:off x="457200" y="1298448"/>
            <a:ext cx="1389888" cy="274320"/>
          </a:xfrm>
          <a:prstGeom prst="rect">
            <a:avLst/>
          </a:prstGeom>
          <a:noFill/>
          <a:ln/>
        </p:spPr>
        <p:txBody>
          <a:bodyPr wrap="square" lIns="0" tIns="0" rIns="0" bIns="0" rtlCol="0" anchor="ctr"/>
          <a:lstStyle/>
          <a:p>
            <a:pPr indent="0" marL="0">
              <a:buNone/>
            </a:pPr>
            <a:r>
              <a:rPr lang="en-US" sz="1400" b="1" dirty="0">
                <a:solidFill>
                  <a:srgbClr val="6B6459"/>
                </a:solidFill>
                <a:latin typeface="Calibri" pitchFamily="34" charset="0"/>
                <a:ea typeface="Calibri" pitchFamily="34" charset="-122"/>
                <a:cs typeface="Calibri" pitchFamily="34" charset="-120"/>
              </a:rPr>
              <a:t>DATA</a:t>
            </a:r>
            <a:endParaRPr lang="en-US" sz="1400" dirty="0"/>
          </a:p>
        </p:txBody>
      </p:sp>
      <p:sp>
        <p:nvSpPr>
          <p:cNvPr id="6" name="Text 4"/>
          <p:cNvSpPr txBox="1"/>
          <p:nvPr/>
        </p:nvSpPr>
        <p:spPr>
          <a:xfrm>
            <a:off x="457200" y="1581912"/>
            <a:ext cx="1389888" cy="201168"/>
          </a:xfrm>
          <a:prstGeom prst="rect">
            <a:avLst/>
          </a:prstGeom>
          <a:noFill/>
          <a:ln/>
        </p:spPr>
        <p:txBody>
          <a:bodyPr wrap="square" lIns="0" tIns="0" rIns="0" bIns="0" rtlCol="0" anchor="ctr"/>
          <a:lstStyle/>
          <a:p>
            <a:pPr indent="0" marL="0">
              <a:buNone/>
            </a:pPr>
            <a:r>
              <a:rPr lang="en-US" sz="900" dirty="0">
                <a:solidFill>
                  <a:srgbClr val="9A9287"/>
                </a:solidFill>
                <a:latin typeface="Courier New" pitchFamily="34" charset="0"/>
                <a:ea typeface="Courier New" pitchFamily="34" charset="-122"/>
                <a:cs typeface="Courier New" pitchFamily="34" charset="-120"/>
              </a:rPr>
              <a:t>pipelines/</a:t>
            </a:r>
            <a:endParaRPr lang="en-US" sz="900" dirty="0"/>
          </a:p>
        </p:txBody>
      </p:sp>
      <p:sp>
        <p:nvSpPr>
          <p:cNvPr id="7" name="Shape 5"/>
          <p:cNvSpPr/>
          <p:nvPr/>
        </p:nvSpPr>
        <p:spPr>
          <a:xfrm>
            <a:off x="1938528" y="1078992"/>
            <a:ext cx="1885493" cy="969264"/>
          </a:xfrm>
          <a:prstGeom prst="rect">
            <a:avLst/>
          </a:prstGeom>
          <a:solidFill>
            <a:srgbClr val="FCFAF6"/>
          </a:solidFill>
          <a:ln w="12700">
            <a:solidFill>
              <a:srgbClr val="E4DFD5"/>
            </a:solidFill>
            <a:prstDash val="solid"/>
          </a:ln>
        </p:spPr>
      </p:sp>
      <p:sp>
        <p:nvSpPr>
          <p:cNvPr id="8" name="Shape 6"/>
          <p:cNvSpPr/>
          <p:nvPr/>
        </p:nvSpPr>
        <p:spPr>
          <a:xfrm>
            <a:off x="1938528" y="1078992"/>
            <a:ext cx="310896" cy="219456"/>
          </a:xfrm>
          <a:prstGeom prst="rect">
            <a:avLst/>
          </a:prstGeom>
          <a:solidFill>
            <a:srgbClr val="6B6459"/>
          </a:solidFill>
          <a:ln w="12700">
            <a:solidFill>
              <a:srgbClr val="6B6459"/>
            </a:solidFill>
            <a:prstDash val="solid"/>
          </a:ln>
        </p:spPr>
      </p:sp>
      <p:sp>
        <p:nvSpPr>
          <p:cNvPr id="9" name="Text 7"/>
          <p:cNvSpPr txBox="1"/>
          <p:nvPr/>
        </p:nvSpPr>
        <p:spPr>
          <a:xfrm>
            <a:off x="1938528" y="1083564"/>
            <a:ext cx="310896" cy="210312"/>
          </a:xfrm>
          <a:prstGeom prst="rect">
            <a:avLst/>
          </a:prstGeom>
          <a:no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1.1</a:t>
            </a:r>
            <a:endParaRPr lang="en-US" sz="850" dirty="0"/>
          </a:p>
        </p:txBody>
      </p:sp>
      <p:sp>
        <p:nvSpPr>
          <p:cNvPr id="10" name="Text 8"/>
          <p:cNvSpPr txBox="1"/>
          <p:nvPr/>
        </p:nvSpPr>
        <p:spPr>
          <a:xfrm>
            <a:off x="2322576" y="1097280"/>
            <a:ext cx="1428293" cy="219456"/>
          </a:xfrm>
          <a:prstGeom prst="rect">
            <a:avLst/>
          </a:prstGeom>
          <a:noFill/>
          <a:ln/>
        </p:spPr>
        <p:txBody>
          <a:bodyPr wrap="square" lIns="0" tIns="0" rIns="0" bIns="0" rtlCol="0" anchor="ctr"/>
          <a:lstStyle/>
          <a:p>
            <a:pPr indent="0" marL="0">
              <a:buNone/>
            </a:pPr>
            <a:r>
              <a:rPr lang="en-US" sz="1100" b="1" dirty="0">
                <a:solidFill>
                  <a:srgbClr val="14110D"/>
                </a:solidFill>
                <a:latin typeface="Calibri" pitchFamily="34" charset="0"/>
                <a:ea typeface="Calibri" pitchFamily="34" charset="-122"/>
                <a:cs typeface="Calibri" pitchFamily="34" charset="-120"/>
              </a:rPr>
              <a:t>Ingester</a:t>
            </a:r>
            <a:endParaRPr lang="en-US" sz="1100" dirty="0"/>
          </a:p>
        </p:txBody>
      </p:sp>
      <p:sp>
        <p:nvSpPr>
          <p:cNvPr id="11" name="Text 9"/>
          <p:cNvSpPr txBox="1"/>
          <p:nvPr/>
        </p:nvSpPr>
        <p:spPr>
          <a:xfrm>
            <a:off x="2020824" y="1344168"/>
            <a:ext cx="1720901" cy="658368"/>
          </a:xfrm>
          <a:prstGeom prst="rect">
            <a:avLst/>
          </a:prstGeom>
          <a:noFill/>
          <a:ln/>
        </p:spPr>
        <p:txBody>
          <a:bodyPr wrap="square" lIns="0" tIns="0" rIns="0" bIns="0" rtlCol="0" anchor="ctr"/>
          <a:lstStyle/>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daily file only</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append-only, idempotent</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SHA-256 snapshot id</a:t>
            </a:r>
            <a:endParaRPr lang="en-US" sz="850" dirty="0"/>
          </a:p>
        </p:txBody>
      </p:sp>
      <p:sp>
        <p:nvSpPr>
          <p:cNvPr id="12" name="Shape 10"/>
          <p:cNvSpPr/>
          <p:nvPr/>
        </p:nvSpPr>
        <p:spPr>
          <a:xfrm>
            <a:off x="3915461" y="1078992"/>
            <a:ext cx="1885493" cy="969264"/>
          </a:xfrm>
          <a:prstGeom prst="rect">
            <a:avLst/>
          </a:prstGeom>
          <a:solidFill>
            <a:srgbClr val="FCFAF6"/>
          </a:solidFill>
          <a:ln w="12700">
            <a:solidFill>
              <a:srgbClr val="E4DFD5"/>
            </a:solidFill>
            <a:prstDash val="solid"/>
          </a:ln>
        </p:spPr>
      </p:sp>
      <p:sp>
        <p:nvSpPr>
          <p:cNvPr id="13" name="Shape 11"/>
          <p:cNvSpPr/>
          <p:nvPr/>
        </p:nvSpPr>
        <p:spPr>
          <a:xfrm>
            <a:off x="3915461" y="1078992"/>
            <a:ext cx="310896" cy="219456"/>
          </a:xfrm>
          <a:prstGeom prst="rect">
            <a:avLst/>
          </a:prstGeom>
          <a:solidFill>
            <a:srgbClr val="6B6459"/>
          </a:solidFill>
          <a:ln w="12700">
            <a:solidFill>
              <a:srgbClr val="6B6459"/>
            </a:solidFill>
            <a:prstDash val="solid"/>
          </a:ln>
        </p:spPr>
      </p:sp>
      <p:sp>
        <p:nvSpPr>
          <p:cNvPr id="14" name="Text 12"/>
          <p:cNvSpPr txBox="1"/>
          <p:nvPr/>
        </p:nvSpPr>
        <p:spPr>
          <a:xfrm>
            <a:off x="3915461" y="1083564"/>
            <a:ext cx="310896" cy="210312"/>
          </a:xfrm>
          <a:prstGeom prst="rect">
            <a:avLst/>
          </a:prstGeom>
          <a:no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1.2</a:t>
            </a:r>
            <a:endParaRPr lang="en-US" sz="850" dirty="0"/>
          </a:p>
        </p:txBody>
      </p:sp>
      <p:sp>
        <p:nvSpPr>
          <p:cNvPr id="15" name="Text 13"/>
          <p:cNvSpPr txBox="1"/>
          <p:nvPr/>
        </p:nvSpPr>
        <p:spPr>
          <a:xfrm>
            <a:off x="4299509" y="1097280"/>
            <a:ext cx="1428293" cy="219456"/>
          </a:xfrm>
          <a:prstGeom prst="rect">
            <a:avLst/>
          </a:prstGeom>
          <a:noFill/>
          <a:ln/>
        </p:spPr>
        <p:txBody>
          <a:bodyPr wrap="square" lIns="0" tIns="0" rIns="0" bIns="0" rtlCol="0" anchor="ctr"/>
          <a:lstStyle/>
          <a:p>
            <a:pPr indent="0" marL="0">
              <a:buNone/>
            </a:pPr>
            <a:r>
              <a:rPr lang="en-US" sz="1100" b="1" dirty="0">
                <a:solidFill>
                  <a:srgbClr val="14110D"/>
                </a:solidFill>
                <a:latin typeface="Calibri" pitchFamily="34" charset="0"/>
                <a:ea typeface="Calibri" pitchFamily="34" charset="-122"/>
                <a:cs typeface="Calibri" pitchFamily="34" charset="-120"/>
              </a:rPr>
              <a:t>Validator</a:t>
            </a:r>
            <a:endParaRPr lang="en-US" sz="1100" dirty="0"/>
          </a:p>
        </p:txBody>
      </p:sp>
      <p:sp>
        <p:nvSpPr>
          <p:cNvPr id="16" name="Text 14"/>
          <p:cNvSpPr txBox="1"/>
          <p:nvPr/>
        </p:nvSpPr>
        <p:spPr>
          <a:xfrm>
            <a:off x="3997757" y="1344168"/>
            <a:ext cx="1720901" cy="658368"/>
          </a:xfrm>
          <a:prstGeom prst="rect">
            <a:avLst/>
          </a:prstGeom>
          <a:noFill/>
          <a:ln/>
        </p:spPr>
        <p:txBody>
          <a:bodyPr wrap="square" lIns="0" tIns="0" rIns="0" bIns="0" rtlCol="0" anchor="ctr"/>
          <a:lstStyle/>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9 quality gates</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day/week/month must agree</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raises, never warns</a:t>
            </a:r>
            <a:endParaRPr lang="en-US" sz="850" dirty="0"/>
          </a:p>
        </p:txBody>
      </p:sp>
      <p:sp>
        <p:nvSpPr>
          <p:cNvPr id="17" name="Shape 15"/>
          <p:cNvSpPr/>
          <p:nvPr/>
        </p:nvSpPr>
        <p:spPr>
          <a:xfrm>
            <a:off x="5892394" y="1078992"/>
            <a:ext cx="1885493" cy="969264"/>
          </a:xfrm>
          <a:prstGeom prst="rect">
            <a:avLst/>
          </a:prstGeom>
          <a:solidFill>
            <a:srgbClr val="FCFAF6"/>
          </a:solidFill>
          <a:ln w="12700">
            <a:solidFill>
              <a:srgbClr val="E4DFD5"/>
            </a:solidFill>
            <a:prstDash val="solid"/>
          </a:ln>
        </p:spPr>
      </p:sp>
      <p:sp>
        <p:nvSpPr>
          <p:cNvPr id="18" name="Shape 16"/>
          <p:cNvSpPr/>
          <p:nvPr/>
        </p:nvSpPr>
        <p:spPr>
          <a:xfrm>
            <a:off x="5892394" y="1078992"/>
            <a:ext cx="310896" cy="219456"/>
          </a:xfrm>
          <a:prstGeom prst="rect">
            <a:avLst/>
          </a:prstGeom>
          <a:solidFill>
            <a:srgbClr val="6B6459"/>
          </a:solidFill>
          <a:ln w="12700">
            <a:solidFill>
              <a:srgbClr val="6B6459"/>
            </a:solidFill>
            <a:prstDash val="solid"/>
          </a:ln>
        </p:spPr>
      </p:sp>
      <p:sp>
        <p:nvSpPr>
          <p:cNvPr id="19" name="Text 17"/>
          <p:cNvSpPr txBox="1"/>
          <p:nvPr/>
        </p:nvSpPr>
        <p:spPr>
          <a:xfrm>
            <a:off x="5892394" y="1083564"/>
            <a:ext cx="310896" cy="210312"/>
          </a:xfrm>
          <a:prstGeom prst="rect">
            <a:avLst/>
          </a:prstGeom>
          <a:no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1.3</a:t>
            </a:r>
            <a:endParaRPr lang="en-US" sz="850" dirty="0"/>
          </a:p>
        </p:txBody>
      </p:sp>
      <p:sp>
        <p:nvSpPr>
          <p:cNvPr id="20" name="Text 18"/>
          <p:cNvSpPr txBox="1"/>
          <p:nvPr/>
        </p:nvSpPr>
        <p:spPr>
          <a:xfrm>
            <a:off x="6276442" y="1097280"/>
            <a:ext cx="1428293" cy="219456"/>
          </a:xfrm>
          <a:prstGeom prst="rect">
            <a:avLst/>
          </a:prstGeom>
          <a:noFill/>
          <a:ln/>
        </p:spPr>
        <p:txBody>
          <a:bodyPr wrap="square" lIns="0" tIns="0" rIns="0" bIns="0" rtlCol="0" anchor="ctr"/>
          <a:lstStyle/>
          <a:p>
            <a:pPr indent="0" marL="0">
              <a:buNone/>
            </a:pPr>
            <a:r>
              <a:rPr lang="en-US" sz="1100" b="1" dirty="0">
                <a:solidFill>
                  <a:srgbClr val="14110D"/>
                </a:solidFill>
                <a:latin typeface="Calibri" pitchFamily="34" charset="0"/>
                <a:ea typeface="Calibri" pitchFamily="34" charset="-122"/>
                <a:cs typeface="Calibri" pitchFamily="34" charset="-120"/>
              </a:rPr>
              <a:t>Cleaner</a:t>
            </a:r>
            <a:endParaRPr lang="en-US" sz="1100" dirty="0"/>
          </a:p>
        </p:txBody>
      </p:sp>
      <p:sp>
        <p:nvSpPr>
          <p:cNvPr id="21" name="Text 19"/>
          <p:cNvSpPr txBox="1"/>
          <p:nvPr/>
        </p:nvSpPr>
        <p:spPr>
          <a:xfrm>
            <a:off x="5974690" y="1344168"/>
            <a:ext cx="1720901" cy="658368"/>
          </a:xfrm>
          <a:prstGeom prst="rect">
            <a:avLst/>
          </a:prstGeom>
          <a:noFill/>
          <a:ln/>
        </p:spPr>
        <p:txBody>
          <a:bodyPr wrap="square" lIns="0" tIns="0" rIns="0" bIns="0" rtlCol="0" anchor="ctr"/>
          <a:lstStyle/>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26 closure days masked</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outliers flagged, not cut</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partial periods flagged</a:t>
            </a:r>
            <a:endParaRPr lang="en-US" sz="850" dirty="0"/>
          </a:p>
        </p:txBody>
      </p:sp>
      <p:sp>
        <p:nvSpPr>
          <p:cNvPr id="22" name="Shape 20"/>
          <p:cNvSpPr/>
          <p:nvPr/>
        </p:nvSpPr>
        <p:spPr>
          <a:xfrm>
            <a:off x="7869326" y="1078992"/>
            <a:ext cx="1885493" cy="969264"/>
          </a:xfrm>
          <a:prstGeom prst="rect">
            <a:avLst/>
          </a:prstGeom>
          <a:solidFill>
            <a:srgbClr val="FCFAF6"/>
          </a:solidFill>
          <a:ln w="12700">
            <a:solidFill>
              <a:srgbClr val="E4DFD5"/>
            </a:solidFill>
            <a:prstDash val="solid"/>
          </a:ln>
        </p:spPr>
      </p:sp>
      <p:sp>
        <p:nvSpPr>
          <p:cNvPr id="23" name="Shape 21"/>
          <p:cNvSpPr/>
          <p:nvPr/>
        </p:nvSpPr>
        <p:spPr>
          <a:xfrm>
            <a:off x="7869326" y="1078992"/>
            <a:ext cx="310896" cy="219456"/>
          </a:xfrm>
          <a:prstGeom prst="rect">
            <a:avLst/>
          </a:prstGeom>
          <a:solidFill>
            <a:srgbClr val="6B6459"/>
          </a:solidFill>
          <a:ln w="12700">
            <a:solidFill>
              <a:srgbClr val="6B6459"/>
            </a:solidFill>
            <a:prstDash val="solid"/>
          </a:ln>
        </p:spPr>
      </p:sp>
      <p:sp>
        <p:nvSpPr>
          <p:cNvPr id="24" name="Text 22"/>
          <p:cNvSpPr txBox="1"/>
          <p:nvPr/>
        </p:nvSpPr>
        <p:spPr>
          <a:xfrm>
            <a:off x="7869326" y="1083564"/>
            <a:ext cx="310896" cy="210312"/>
          </a:xfrm>
          <a:prstGeom prst="rect">
            <a:avLst/>
          </a:prstGeom>
          <a:no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1.4</a:t>
            </a:r>
            <a:endParaRPr lang="en-US" sz="850" dirty="0"/>
          </a:p>
        </p:txBody>
      </p:sp>
      <p:sp>
        <p:nvSpPr>
          <p:cNvPr id="25" name="Text 23"/>
          <p:cNvSpPr txBox="1"/>
          <p:nvPr/>
        </p:nvSpPr>
        <p:spPr>
          <a:xfrm>
            <a:off x="8253374" y="1097280"/>
            <a:ext cx="1428293" cy="219456"/>
          </a:xfrm>
          <a:prstGeom prst="rect">
            <a:avLst/>
          </a:prstGeom>
          <a:noFill/>
          <a:ln/>
        </p:spPr>
        <p:txBody>
          <a:bodyPr wrap="square" lIns="0" tIns="0" rIns="0" bIns="0" rtlCol="0" anchor="ctr"/>
          <a:lstStyle/>
          <a:p>
            <a:pPr indent="0" marL="0">
              <a:buNone/>
            </a:pPr>
            <a:r>
              <a:rPr lang="en-US" sz="1100" b="1" dirty="0">
                <a:solidFill>
                  <a:srgbClr val="14110D"/>
                </a:solidFill>
                <a:latin typeface="Calibri" pitchFamily="34" charset="0"/>
                <a:ea typeface="Calibri" pitchFamily="34" charset="-122"/>
                <a:cs typeface="Calibri" pitchFamily="34" charset="-120"/>
              </a:rPr>
              <a:t>Feature Builder</a:t>
            </a:r>
            <a:endParaRPr lang="en-US" sz="1100" dirty="0"/>
          </a:p>
        </p:txBody>
      </p:sp>
      <p:sp>
        <p:nvSpPr>
          <p:cNvPr id="26" name="Text 24"/>
          <p:cNvSpPr txBox="1"/>
          <p:nvPr/>
        </p:nvSpPr>
        <p:spPr>
          <a:xfrm>
            <a:off x="7951622" y="1344168"/>
            <a:ext cx="1720901" cy="658368"/>
          </a:xfrm>
          <a:prstGeom prst="rect">
            <a:avLst/>
          </a:prstGeom>
          <a:noFill/>
          <a:ln/>
        </p:spPr>
        <p:txBody>
          <a:bodyPr wrap="square" lIns="0" tIns="0" rIns="0" bIns="0" rtlCol="0" anchor="ctr"/>
          <a:lstStyle/>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lags and rolling means</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calendar and holidays</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truncate, then compute</a:t>
            </a:r>
            <a:endParaRPr lang="en-US" sz="850" dirty="0"/>
          </a:p>
        </p:txBody>
      </p:sp>
      <p:sp>
        <p:nvSpPr>
          <p:cNvPr id="27" name="Shape 25"/>
          <p:cNvSpPr/>
          <p:nvPr/>
        </p:nvSpPr>
        <p:spPr>
          <a:xfrm>
            <a:off x="9846259" y="1078992"/>
            <a:ext cx="1885493" cy="969264"/>
          </a:xfrm>
          <a:prstGeom prst="rect">
            <a:avLst/>
          </a:prstGeom>
          <a:solidFill>
            <a:srgbClr val="FCFAF6"/>
          </a:solidFill>
          <a:ln w="12700">
            <a:solidFill>
              <a:srgbClr val="E4DFD5"/>
            </a:solidFill>
            <a:prstDash val="solid"/>
          </a:ln>
        </p:spPr>
      </p:sp>
      <p:sp>
        <p:nvSpPr>
          <p:cNvPr id="28" name="Shape 26"/>
          <p:cNvSpPr/>
          <p:nvPr/>
        </p:nvSpPr>
        <p:spPr>
          <a:xfrm>
            <a:off x="9846259" y="1078992"/>
            <a:ext cx="310896" cy="219456"/>
          </a:xfrm>
          <a:prstGeom prst="rect">
            <a:avLst/>
          </a:prstGeom>
          <a:solidFill>
            <a:srgbClr val="6B6459"/>
          </a:solidFill>
          <a:ln w="12700">
            <a:solidFill>
              <a:srgbClr val="6B6459"/>
            </a:solidFill>
            <a:prstDash val="solid"/>
          </a:ln>
        </p:spPr>
      </p:sp>
      <p:sp>
        <p:nvSpPr>
          <p:cNvPr id="29" name="Text 27"/>
          <p:cNvSpPr txBox="1"/>
          <p:nvPr/>
        </p:nvSpPr>
        <p:spPr>
          <a:xfrm>
            <a:off x="9846259" y="1083564"/>
            <a:ext cx="310896" cy="210312"/>
          </a:xfrm>
          <a:prstGeom prst="rect">
            <a:avLst/>
          </a:prstGeom>
          <a:no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1.5</a:t>
            </a:r>
            <a:endParaRPr lang="en-US" sz="850" dirty="0"/>
          </a:p>
        </p:txBody>
      </p:sp>
      <p:sp>
        <p:nvSpPr>
          <p:cNvPr id="30" name="Text 28"/>
          <p:cNvSpPr txBox="1"/>
          <p:nvPr/>
        </p:nvSpPr>
        <p:spPr>
          <a:xfrm>
            <a:off x="10230307" y="1097280"/>
            <a:ext cx="1428293" cy="219456"/>
          </a:xfrm>
          <a:prstGeom prst="rect">
            <a:avLst/>
          </a:prstGeom>
          <a:noFill/>
          <a:ln/>
        </p:spPr>
        <p:txBody>
          <a:bodyPr wrap="square" lIns="0" tIns="0" rIns="0" bIns="0" rtlCol="0" anchor="ctr"/>
          <a:lstStyle/>
          <a:p>
            <a:pPr indent="0" marL="0">
              <a:buNone/>
            </a:pPr>
            <a:r>
              <a:rPr lang="en-US" sz="1100" b="1" dirty="0">
                <a:solidFill>
                  <a:srgbClr val="14110D"/>
                </a:solidFill>
                <a:latin typeface="Calibri" pitchFamily="34" charset="0"/>
                <a:ea typeface="Calibri" pitchFamily="34" charset="-122"/>
                <a:cs typeface="Calibri" pitchFamily="34" charset="-120"/>
              </a:rPr>
              <a:t>Gold Store</a:t>
            </a:r>
            <a:endParaRPr lang="en-US" sz="1100" dirty="0"/>
          </a:p>
        </p:txBody>
      </p:sp>
      <p:sp>
        <p:nvSpPr>
          <p:cNvPr id="31" name="Text 29"/>
          <p:cNvSpPr txBox="1"/>
          <p:nvPr/>
        </p:nvSpPr>
        <p:spPr>
          <a:xfrm>
            <a:off x="9928555" y="1344168"/>
            <a:ext cx="1720901" cy="658368"/>
          </a:xfrm>
          <a:prstGeom prst="rect">
            <a:avLst/>
          </a:prstGeom>
          <a:noFill/>
          <a:ln/>
        </p:spPr>
        <p:txBody>
          <a:bodyPr wrap="square" lIns="0" tIns="0" rIns="0" bIns="0" rtlCol="0" anchor="ctr"/>
          <a:lstStyle/>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Parquet + DuckDB</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3 grains from the daily</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origin lane on every row</a:t>
            </a:r>
            <a:endParaRPr lang="en-US" sz="850" dirty="0"/>
          </a:p>
        </p:txBody>
      </p:sp>
      <p:sp>
        <p:nvSpPr>
          <p:cNvPr id="32" name="Text 30"/>
          <p:cNvSpPr txBox="1"/>
          <p:nvPr/>
        </p:nvSpPr>
        <p:spPr>
          <a:xfrm>
            <a:off x="457200" y="2231136"/>
            <a:ext cx="1389888" cy="201168"/>
          </a:xfrm>
          <a:prstGeom prst="rect">
            <a:avLst/>
          </a:prstGeom>
          <a:noFill/>
          <a:ln/>
        </p:spPr>
        <p:txBody>
          <a:bodyPr wrap="square" lIns="0" tIns="0" rIns="0" bIns="0" rtlCol="0" anchor="ctr"/>
          <a:lstStyle/>
          <a:p>
            <a:pPr indent="0" marL="0">
              <a:buNone/>
            </a:pPr>
            <a:r>
              <a:rPr lang="en-US" sz="850" spc="140" kern="0" dirty="0">
                <a:solidFill>
                  <a:srgbClr val="9A9287"/>
                </a:solidFill>
                <a:latin typeface="Courier New" pitchFamily="34" charset="0"/>
                <a:ea typeface="Courier New" pitchFamily="34" charset="-122"/>
                <a:cs typeface="Courier New" pitchFamily="34" charset="-120"/>
              </a:rPr>
              <a:t>LAYER 2</a:t>
            </a:r>
            <a:endParaRPr lang="en-US" sz="850" dirty="0"/>
          </a:p>
        </p:txBody>
      </p:sp>
      <p:sp>
        <p:nvSpPr>
          <p:cNvPr id="33" name="Text 31"/>
          <p:cNvSpPr txBox="1"/>
          <p:nvPr/>
        </p:nvSpPr>
        <p:spPr>
          <a:xfrm>
            <a:off x="457200" y="2432304"/>
            <a:ext cx="1389888" cy="274320"/>
          </a:xfrm>
          <a:prstGeom prst="rect">
            <a:avLst/>
          </a:prstGeom>
          <a:noFill/>
          <a:ln/>
        </p:spPr>
        <p:txBody>
          <a:bodyPr wrap="square" lIns="0" tIns="0" rIns="0" bIns="0" rtlCol="0" anchor="ctr"/>
          <a:lstStyle/>
          <a:p>
            <a:pPr indent="0" marL="0">
              <a:buNone/>
            </a:pPr>
            <a:r>
              <a:rPr lang="en-US" sz="1400" b="1" dirty="0">
                <a:solidFill>
                  <a:srgbClr val="1F5D42"/>
                </a:solidFill>
                <a:latin typeface="Calibri" pitchFamily="34" charset="0"/>
                <a:ea typeface="Calibri" pitchFamily="34" charset="-122"/>
                <a:cs typeface="Calibri" pitchFamily="34" charset="-120"/>
              </a:rPr>
              <a:t>FORECAST</a:t>
            </a:r>
            <a:endParaRPr lang="en-US" sz="1400" dirty="0"/>
          </a:p>
        </p:txBody>
      </p:sp>
      <p:sp>
        <p:nvSpPr>
          <p:cNvPr id="34" name="Text 32"/>
          <p:cNvSpPr txBox="1"/>
          <p:nvPr/>
        </p:nvSpPr>
        <p:spPr>
          <a:xfrm>
            <a:off x="457200" y="2715768"/>
            <a:ext cx="1389888" cy="201168"/>
          </a:xfrm>
          <a:prstGeom prst="rect">
            <a:avLst/>
          </a:prstGeom>
          <a:noFill/>
          <a:ln/>
        </p:spPr>
        <p:txBody>
          <a:bodyPr wrap="square" lIns="0" tIns="0" rIns="0" bIns="0" rtlCol="0" anchor="ctr"/>
          <a:lstStyle/>
          <a:p>
            <a:pPr indent="0" marL="0">
              <a:buNone/>
            </a:pPr>
            <a:r>
              <a:rPr lang="en-US" sz="900" dirty="0">
                <a:solidFill>
                  <a:srgbClr val="9A9287"/>
                </a:solidFill>
                <a:latin typeface="Courier New" pitchFamily="34" charset="0"/>
                <a:ea typeface="Courier New" pitchFamily="34" charset="-122"/>
                <a:cs typeface="Courier New" pitchFamily="34" charset="-120"/>
              </a:rPr>
              <a:t>core/</a:t>
            </a:r>
            <a:endParaRPr lang="en-US" sz="900" dirty="0"/>
          </a:p>
        </p:txBody>
      </p:sp>
      <p:sp>
        <p:nvSpPr>
          <p:cNvPr id="35" name="Shape 33"/>
          <p:cNvSpPr/>
          <p:nvPr/>
        </p:nvSpPr>
        <p:spPr>
          <a:xfrm>
            <a:off x="1938528" y="2212848"/>
            <a:ext cx="1556004" cy="969264"/>
          </a:xfrm>
          <a:prstGeom prst="rect">
            <a:avLst/>
          </a:prstGeom>
          <a:solidFill>
            <a:srgbClr val="FCFAF6"/>
          </a:solidFill>
          <a:ln w="12700">
            <a:solidFill>
              <a:srgbClr val="E4DFD5"/>
            </a:solidFill>
            <a:prstDash val="solid"/>
          </a:ln>
        </p:spPr>
      </p:sp>
      <p:sp>
        <p:nvSpPr>
          <p:cNvPr id="36" name="Shape 34"/>
          <p:cNvSpPr/>
          <p:nvPr/>
        </p:nvSpPr>
        <p:spPr>
          <a:xfrm>
            <a:off x="1938528" y="2212848"/>
            <a:ext cx="310896" cy="219456"/>
          </a:xfrm>
          <a:prstGeom prst="rect">
            <a:avLst/>
          </a:prstGeom>
          <a:solidFill>
            <a:srgbClr val="1F5D42"/>
          </a:solidFill>
          <a:ln w="12700">
            <a:solidFill>
              <a:srgbClr val="1F5D42"/>
            </a:solidFill>
            <a:prstDash val="solid"/>
          </a:ln>
        </p:spPr>
      </p:sp>
      <p:sp>
        <p:nvSpPr>
          <p:cNvPr id="37" name="Text 35"/>
          <p:cNvSpPr txBox="1"/>
          <p:nvPr/>
        </p:nvSpPr>
        <p:spPr>
          <a:xfrm>
            <a:off x="1938528" y="2217420"/>
            <a:ext cx="310896" cy="210312"/>
          </a:xfrm>
          <a:prstGeom prst="rect">
            <a:avLst/>
          </a:prstGeom>
          <a:no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2.1</a:t>
            </a:r>
            <a:endParaRPr lang="en-US" sz="850" dirty="0"/>
          </a:p>
        </p:txBody>
      </p:sp>
      <p:sp>
        <p:nvSpPr>
          <p:cNvPr id="38" name="Text 36"/>
          <p:cNvSpPr txBox="1"/>
          <p:nvPr/>
        </p:nvSpPr>
        <p:spPr>
          <a:xfrm>
            <a:off x="2322576" y="2231136"/>
            <a:ext cx="1098804" cy="219456"/>
          </a:xfrm>
          <a:prstGeom prst="rect">
            <a:avLst/>
          </a:prstGeom>
          <a:noFill/>
          <a:ln/>
        </p:spPr>
        <p:txBody>
          <a:bodyPr wrap="square" lIns="0" tIns="0" rIns="0" bIns="0" rtlCol="0" anchor="ctr"/>
          <a:lstStyle/>
          <a:p>
            <a:pPr indent="0" marL="0">
              <a:buNone/>
            </a:pPr>
            <a:r>
              <a:rPr lang="en-US" sz="1100" b="1" dirty="0">
                <a:solidFill>
                  <a:srgbClr val="14110D"/>
                </a:solidFill>
                <a:latin typeface="Calibri" pitchFamily="34" charset="0"/>
                <a:ea typeface="Calibri" pitchFamily="34" charset="-122"/>
                <a:cs typeface="Calibri" pitchFamily="34" charset="-120"/>
              </a:rPr>
              <a:t>Classifier</a:t>
            </a:r>
            <a:endParaRPr lang="en-US" sz="1100" dirty="0"/>
          </a:p>
        </p:txBody>
      </p:sp>
      <p:sp>
        <p:nvSpPr>
          <p:cNvPr id="39" name="Text 37"/>
          <p:cNvSpPr txBox="1"/>
          <p:nvPr/>
        </p:nvSpPr>
        <p:spPr>
          <a:xfrm>
            <a:off x="2020824" y="2478024"/>
            <a:ext cx="1391412" cy="658368"/>
          </a:xfrm>
          <a:prstGeom prst="rect">
            <a:avLst/>
          </a:prstGeom>
          <a:noFill/>
          <a:ln/>
        </p:spPr>
        <p:txBody>
          <a:bodyPr wrap="square" lIns="0" tIns="0" rIns="0" bIns="0" rtlCol="0" anchor="ctr"/>
          <a:lstStyle/>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ADI / CV² quadrants</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recomputed per grain</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a rule, not a setting</a:t>
            </a:r>
            <a:endParaRPr lang="en-US" sz="850" dirty="0"/>
          </a:p>
        </p:txBody>
      </p:sp>
      <p:sp>
        <p:nvSpPr>
          <p:cNvPr id="40" name="Shape 38"/>
          <p:cNvSpPr/>
          <p:nvPr/>
        </p:nvSpPr>
        <p:spPr>
          <a:xfrm>
            <a:off x="3585972" y="2212848"/>
            <a:ext cx="1556004" cy="969264"/>
          </a:xfrm>
          <a:prstGeom prst="rect">
            <a:avLst/>
          </a:prstGeom>
          <a:solidFill>
            <a:srgbClr val="FCFAF6"/>
          </a:solidFill>
          <a:ln w="12700">
            <a:solidFill>
              <a:srgbClr val="E4DFD5"/>
            </a:solidFill>
            <a:prstDash val="solid"/>
          </a:ln>
        </p:spPr>
      </p:sp>
      <p:sp>
        <p:nvSpPr>
          <p:cNvPr id="41" name="Shape 39"/>
          <p:cNvSpPr/>
          <p:nvPr/>
        </p:nvSpPr>
        <p:spPr>
          <a:xfrm>
            <a:off x="3585972" y="2212848"/>
            <a:ext cx="310896" cy="219456"/>
          </a:xfrm>
          <a:prstGeom prst="rect">
            <a:avLst/>
          </a:prstGeom>
          <a:solidFill>
            <a:srgbClr val="1F5D42"/>
          </a:solidFill>
          <a:ln w="12700">
            <a:solidFill>
              <a:srgbClr val="1F5D42"/>
            </a:solidFill>
            <a:prstDash val="solid"/>
          </a:ln>
        </p:spPr>
      </p:sp>
      <p:sp>
        <p:nvSpPr>
          <p:cNvPr id="42" name="Text 40"/>
          <p:cNvSpPr txBox="1"/>
          <p:nvPr/>
        </p:nvSpPr>
        <p:spPr>
          <a:xfrm>
            <a:off x="3585972" y="2217420"/>
            <a:ext cx="310896" cy="210312"/>
          </a:xfrm>
          <a:prstGeom prst="rect">
            <a:avLst/>
          </a:prstGeom>
          <a:no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2.2</a:t>
            </a:r>
            <a:endParaRPr lang="en-US" sz="850" dirty="0"/>
          </a:p>
        </p:txBody>
      </p:sp>
      <p:sp>
        <p:nvSpPr>
          <p:cNvPr id="43" name="Text 41"/>
          <p:cNvSpPr txBox="1"/>
          <p:nvPr/>
        </p:nvSpPr>
        <p:spPr>
          <a:xfrm>
            <a:off x="3970020" y="2231136"/>
            <a:ext cx="1098804" cy="219456"/>
          </a:xfrm>
          <a:prstGeom prst="rect">
            <a:avLst/>
          </a:prstGeom>
          <a:noFill/>
          <a:ln/>
        </p:spPr>
        <p:txBody>
          <a:bodyPr wrap="square" lIns="0" tIns="0" rIns="0" bIns="0" rtlCol="0" anchor="ctr"/>
          <a:lstStyle/>
          <a:p>
            <a:pPr indent="0" marL="0">
              <a:buNone/>
            </a:pPr>
            <a:r>
              <a:rPr lang="en-US" sz="1100" b="1" dirty="0">
                <a:solidFill>
                  <a:srgbClr val="14110D"/>
                </a:solidFill>
                <a:latin typeface="Calibri" pitchFamily="34" charset="0"/>
                <a:ea typeface="Calibri" pitchFamily="34" charset="-122"/>
                <a:cs typeface="Calibri" pitchFamily="34" charset="-120"/>
              </a:rPr>
              <a:t>Portfolio</a:t>
            </a:r>
            <a:endParaRPr lang="en-US" sz="1100" dirty="0"/>
          </a:p>
        </p:txBody>
      </p:sp>
      <p:sp>
        <p:nvSpPr>
          <p:cNvPr id="44" name="Text 42"/>
          <p:cNvSpPr txBox="1"/>
          <p:nvPr/>
        </p:nvSpPr>
        <p:spPr>
          <a:xfrm>
            <a:off x="3668268" y="2478024"/>
            <a:ext cx="1391412" cy="658368"/>
          </a:xfrm>
          <a:prstGeom prst="rect">
            <a:avLst/>
          </a:prstGeom>
          <a:noFill/>
          <a:ln/>
        </p:spPr>
        <p:txBody>
          <a:bodyPr wrap="square" lIns="0" tIns="0" rIns="0" bIns="0" rtlCol="0" anchor="ctr"/>
          <a:lstStyle/>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11 models, 5 shipped</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routed by demand class</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ARIMA LGBM MSTL</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Prophet Croston</a:t>
            </a:r>
            <a:endParaRPr lang="en-US" sz="850" dirty="0"/>
          </a:p>
        </p:txBody>
      </p:sp>
      <p:sp>
        <p:nvSpPr>
          <p:cNvPr id="45" name="Shape 43"/>
          <p:cNvSpPr/>
          <p:nvPr/>
        </p:nvSpPr>
        <p:spPr>
          <a:xfrm>
            <a:off x="5233416" y="2212848"/>
            <a:ext cx="1556004" cy="969264"/>
          </a:xfrm>
          <a:prstGeom prst="rect">
            <a:avLst/>
          </a:prstGeom>
          <a:solidFill>
            <a:srgbClr val="FCFAF6"/>
          </a:solidFill>
          <a:ln w="12700">
            <a:solidFill>
              <a:srgbClr val="E4DFD5"/>
            </a:solidFill>
            <a:prstDash val="solid"/>
          </a:ln>
        </p:spPr>
      </p:sp>
      <p:sp>
        <p:nvSpPr>
          <p:cNvPr id="46" name="Shape 44"/>
          <p:cNvSpPr/>
          <p:nvPr/>
        </p:nvSpPr>
        <p:spPr>
          <a:xfrm>
            <a:off x="5233416" y="2212848"/>
            <a:ext cx="310896" cy="219456"/>
          </a:xfrm>
          <a:prstGeom prst="rect">
            <a:avLst/>
          </a:prstGeom>
          <a:solidFill>
            <a:srgbClr val="1F5D42"/>
          </a:solidFill>
          <a:ln w="12700">
            <a:solidFill>
              <a:srgbClr val="1F5D42"/>
            </a:solidFill>
            <a:prstDash val="solid"/>
          </a:ln>
        </p:spPr>
      </p:sp>
      <p:sp>
        <p:nvSpPr>
          <p:cNvPr id="47" name="Text 45"/>
          <p:cNvSpPr txBox="1"/>
          <p:nvPr/>
        </p:nvSpPr>
        <p:spPr>
          <a:xfrm>
            <a:off x="5233416" y="2217420"/>
            <a:ext cx="310896" cy="210312"/>
          </a:xfrm>
          <a:prstGeom prst="rect">
            <a:avLst/>
          </a:prstGeom>
          <a:no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2.3</a:t>
            </a:r>
            <a:endParaRPr lang="en-US" sz="850" dirty="0"/>
          </a:p>
        </p:txBody>
      </p:sp>
      <p:sp>
        <p:nvSpPr>
          <p:cNvPr id="48" name="Text 46"/>
          <p:cNvSpPr txBox="1"/>
          <p:nvPr/>
        </p:nvSpPr>
        <p:spPr>
          <a:xfrm>
            <a:off x="5617464" y="2231136"/>
            <a:ext cx="1098804" cy="219456"/>
          </a:xfrm>
          <a:prstGeom prst="rect">
            <a:avLst/>
          </a:prstGeom>
          <a:noFill/>
          <a:ln/>
        </p:spPr>
        <p:txBody>
          <a:bodyPr wrap="square" lIns="0" tIns="0" rIns="0" bIns="0" rtlCol="0" anchor="ctr"/>
          <a:lstStyle/>
          <a:p>
            <a:pPr indent="0" marL="0">
              <a:buNone/>
            </a:pPr>
            <a:r>
              <a:rPr lang="en-US" sz="1100" b="1" dirty="0">
                <a:solidFill>
                  <a:srgbClr val="14110D"/>
                </a:solidFill>
                <a:latin typeface="Calibri" pitchFamily="34" charset="0"/>
                <a:ea typeface="Calibri" pitchFamily="34" charset="-122"/>
                <a:cs typeface="Calibri" pitchFamily="34" charset="-120"/>
              </a:rPr>
              <a:t>Combiner</a:t>
            </a:r>
            <a:endParaRPr lang="en-US" sz="1100" dirty="0"/>
          </a:p>
        </p:txBody>
      </p:sp>
      <p:sp>
        <p:nvSpPr>
          <p:cNvPr id="49" name="Text 47"/>
          <p:cNvSpPr txBox="1"/>
          <p:nvPr/>
        </p:nvSpPr>
        <p:spPr>
          <a:xfrm>
            <a:off x="5315712" y="2478024"/>
            <a:ext cx="1391412" cy="658368"/>
          </a:xfrm>
          <a:prstGeom prst="rect">
            <a:avLst/>
          </a:prstGeom>
          <a:noFill/>
          <a:ln/>
        </p:spPr>
        <p:txBody>
          <a:bodyPr wrap="square" lIns="0" tIns="0" rIns="0" bIns="0" rtlCol="0" anchor="ctr"/>
          <a:lstStyle/>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median of five</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not best-of-five</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quantiles stay monotonic</a:t>
            </a:r>
            <a:endParaRPr lang="en-US" sz="850" dirty="0"/>
          </a:p>
        </p:txBody>
      </p:sp>
      <p:sp>
        <p:nvSpPr>
          <p:cNvPr id="50" name="Shape 48"/>
          <p:cNvSpPr/>
          <p:nvPr/>
        </p:nvSpPr>
        <p:spPr>
          <a:xfrm>
            <a:off x="6880860" y="2212848"/>
            <a:ext cx="1556004" cy="969264"/>
          </a:xfrm>
          <a:prstGeom prst="rect">
            <a:avLst/>
          </a:prstGeom>
          <a:solidFill>
            <a:srgbClr val="FCFAF6"/>
          </a:solidFill>
          <a:ln w="12700">
            <a:solidFill>
              <a:srgbClr val="E4DFD5"/>
            </a:solidFill>
            <a:prstDash val="solid"/>
          </a:ln>
        </p:spPr>
      </p:sp>
      <p:sp>
        <p:nvSpPr>
          <p:cNvPr id="51" name="Shape 49"/>
          <p:cNvSpPr/>
          <p:nvPr/>
        </p:nvSpPr>
        <p:spPr>
          <a:xfrm>
            <a:off x="6880860" y="2212848"/>
            <a:ext cx="310896" cy="219456"/>
          </a:xfrm>
          <a:prstGeom prst="rect">
            <a:avLst/>
          </a:prstGeom>
          <a:solidFill>
            <a:srgbClr val="1F5D42"/>
          </a:solidFill>
          <a:ln w="12700">
            <a:solidFill>
              <a:srgbClr val="1F5D42"/>
            </a:solidFill>
            <a:prstDash val="solid"/>
          </a:ln>
        </p:spPr>
      </p:sp>
      <p:sp>
        <p:nvSpPr>
          <p:cNvPr id="52" name="Text 50"/>
          <p:cNvSpPr txBox="1"/>
          <p:nvPr/>
        </p:nvSpPr>
        <p:spPr>
          <a:xfrm>
            <a:off x="6880860" y="2217420"/>
            <a:ext cx="310896" cy="210312"/>
          </a:xfrm>
          <a:prstGeom prst="rect">
            <a:avLst/>
          </a:prstGeom>
          <a:no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2.4</a:t>
            </a:r>
            <a:endParaRPr lang="en-US" sz="850" dirty="0"/>
          </a:p>
        </p:txBody>
      </p:sp>
      <p:sp>
        <p:nvSpPr>
          <p:cNvPr id="53" name="Text 51"/>
          <p:cNvSpPr txBox="1"/>
          <p:nvPr/>
        </p:nvSpPr>
        <p:spPr>
          <a:xfrm>
            <a:off x="7264908" y="2231136"/>
            <a:ext cx="1098804" cy="219456"/>
          </a:xfrm>
          <a:prstGeom prst="rect">
            <a:avLst/>
          </a:prstGeom>
          <a:noFill/>
          <a:ln/>
        </p:spPr>
        <p:txBody>
          <a:bodyPr wrap="square" lIns="0" tIns="0" rIns="0" bIns="0" rtlCol="0" anchor="ctr"/>
          <a:lstStyle/>
          <a:p>
            <a:pPr indent="0" marL="0">
              <a:buNone/>
            </a:pPr>
            <a:r>
              <a:rPr lang="en-US" sz="1100" b="1" dirty="0">
                <a:solidFill>
                  <a:srgbClr val="14110D"/>
                </a:solidFill>
                <a:latin typeface="Calibri" pitchFamily="34" charset="0"/>
                <a:ea typeface="Calibri" pitchFamily="34" charset="-122"/>
                <a:cs typeface="Calibri" pitchFamily="34" charset="-120"/>
              </a:rPr>
              <a:t>Calibrator</a:t>
            </a:r>
            <a:endParaRPr lang="en-US" sz="1100" dirty="0"/>
          </a:p>
        </p:txBody>
      </p:sp>
      <p:sp>
        <p:nvSpPr>
          <p:cNvPr id="54" name="Text 52"/>
          <p:cNvSpPr txBox="1"/>
          <p:nvPr/>
        </p:nvSpPr>
        <p:spPr>
          <a:xfrm>
            <a:off x="6963156" y="2478024"/>
            <a:ext cx="1391412" cy="658368"/>
          </a:xfrm>
          <a:prstGeom prst="rect">
            <a:avLst/>
          </a:prstGeom>
          <a:noFill/>
          <a:ln/>
        </p:spPr>
        <p:txBody>
          <a:bodyPr wrap="square" lIns="0" tIns="0" rIns="0" bIns="0" rtlCol="0" anchor="ctr"/>
          <a:lstStyle/>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conformal, so assumes</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no residual shape</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92.2% → 82.0% coverage</a:t>
            </a:r>
            <a:endParaRPr lang="en-US" sz="850" dirty="0"/>
          </a:p>
        </p:txBody>
      </p:sp>
      <p:sp>
        <p:nvSpPr>
          <p:cNvPr id="55" name="Shape 53"/>
          <p:cNvSpPr/>
          <p:nvPr/>
        </p:nvSpPr>
        <p:spPr>
          <a:xfrm>
            <a:off x="8528304" y="2212848"/>
            <a:ext cx="1556004" cy="969264"/>
          </a:xfrm>
          <a:prstGeom prst="rect">
            <a:avLst/>
          </a:prstGeom>
          <a:solidFill>
            <a:srgbClr val="FCFAF6"/>
          </a:solidFill>
          <a:ln w="12700">
            <a:solidFill>
              <a:srgbClr val="E4DFD5"/>
            </a:solidFill>
            <a:prstDash val="solid"/>
          </a:ln>
        </p:spPr>
      </p:sp>
      <p:sp>
        <p:nvSpPr>
          <p:cNvPr id="56" name="Shape 54"/>
          <p:cNvSpPr/>
          <p:nvPr/>
        </p:nvSpPr>
        <p:spPr>
          <a:xfrm>
            <a:off x="8528304" y="2212848"/>
            <a:ext cx="310896" cy="219456"/>
          </a:xfrm>
          <a:prstGeom prst="rect">
            <a:avLst/>
          </a:prstGeom>
          <a:solidFill>
            <a:srgbClr val="1F5D42"/>
          </a:solidFill>
          <a:ln w="12700">
            <a:solidFill>
              <a:srgbClr val="1F5D42"/>
            </a:solidFill>
            <a:prstDash val="solid"/>
          </a:ln>
        </p:spPr>
      </p:sp>
      <p:sp>
        <p:nvSpPr>
          <p:cNvPr id="57" name="Text 55"/>
          <p:cNvSpPr txBox="1"/>
          <p:nvPr/>
        </p:nvSpPr>
        <p:spPr>
          <a:xfrm>
            <a:off x="8528304" y="2217420"/>
            <a:ext cx="310896" cy="210312"/>
          </a:xfrm>
          <a:prstGeom prst="rect">
            <a:avLst/>
          </a:prstGeom>
          <a:no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2.5</a:t>
            </a:r>
            <a:endParaRPr lang="en-US" sz="850" dirty="0"/>
          </a:p>
        </p:txBody>
      </p:sp>
      <p:sp>
        <p:nvSpPr>
          <p:cNvPr id="58" name="Text 56"/>
          <p:cNvSpPr txBox="1"/>
          <p:nvPr/>
        </p:nvSpPr>
        <p:spPr>
          <a:xfrm>
            <a:off x="8912352" y="2231136"/>
            <a:ext cx="1098804" cy="219456"/>
          </a:xfrm>
          <a:prstGeom prst="rect">
            <a:avLst/>
          </a:prstGeom>
          <a:noFill/>
          <a:ln/>
        </p:spPr>
        <p:txBody>
          <a:bodyPr wrap="square" lIns="0" tIns="0" rIns="0" bIns="0" rtlCol="0" anchor="ctr"/>
          <a:lstStyle/>
          <a:p>
            <a:pPr indent="0" marL="0">
              <a:buNone/>
            </a:pPr>
            <a:r>
              <a:rPr lang="en-US" sz="1100" b="1" dirty="0">
                <a:solidFill>
                  <a:srgbClr val="14110D"/>
                </a:solidFill>
                <a:latin typeface="Calibri" pitchFamily="34" charset="0"/>
                <a:ea typeface="Calibri" pitchFamily="34" charset="-122"/>
                <a:cs typeface="Calibri" pitchFamily="34" charset="-120"/>
              </a:rPr>
              <a:t>Forecast Store</a:t>
            </a:r>
            <a:endParaRPr lang="en-US" sz="1100" dirty="0"/>
          </a:p>
        </p:txBody>
      </p:sp>
      <p:sp>
        <p:nvSpPr>
          <p:cNvPr id="59" name="Text 57"/>
          <p:cNvSpPr txBox="1"/>
          <p:nvPr/>
        </p:nvSpPr>
        <p:spPr>
          <a:xfrm>
            <a:off x="8610600" y="2478024"/>
            <a:ext cx="1391412" cy="658368"/>
          </a:xfrm>
          <a:prstGeom prst="rect">
            <a:avLst/>
          </a:prstGeom>
          <a:noFill/>
          <a:ln/>
        </p:spPr>
        <p:txBody>
          <a:bodyPr wrap="square" lIns="0" tIns="0" rIns="0" bIns="0" rtlCol="0" anchor="ctr"/>
          <a:lstStyle/>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versioned, immutable</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CURRENT written last</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so a read is never torn</a:t>
            </a:r>
            <a:endParaRPr lang="en-US" sz="850" dirty="0"/>
          </a:p>
        </p:txBody>
      </p:sp>
      <p:sp>
        <p:nvSpPr>
          <p:cNvPr id="60" name="Shape 58"/>
          <p:cNvSpPr/>
          <p:nvPr/>
        </p:nvSpPr>
        <p:spPr>
          <a:xfrm>
            <a:off x="10175748" y="2212848"/>
            <a:ext cx="1556004" cy="969264"/>
          </a:xfrm>
          <a:prstGeom prst="rect">
            <a:avLst/>
          </a:prstGeom>
          <a:solidFill>
            <a:srgbClr val="FCFAF6"/>
          </a:solidFill>
          <a:ln w="12700">
            <a:solidFill>
              <a:srgbClr val="E4DFD5"/>
            </a:solidFill>
            <a:prstDash val="solid"/>
          </a:ln>
        </p:spPr>
      </p:sp>
      <p:sp>
        <p:nvSpPr>
          <p:cNvPr id="61" name="Shape 59"/>
          <p:cNvSpPr/>
          <p:nvPr/>
        </p:nvSpPr>
        <p:spPr>
          <a:xfrm>
            <a:off x="10175748" y="2212848"/>
            <a:ext cx="310896" cy="219456"/>
          </a:xfrm>
          <a:prstGeom prst="rect">
            <a:avLst/>
          </a:prstGeom>
          <a:solidFill>
            <a:srgbClr val="1F5D42"/>
          </a:solidFill>
          <a:ln w="12700">
            <a:solidFill>
              <a:srgbClr val="1F5D42"/>
            </a:solidFill>
            <a:prstDash val="solid"/>
          </a:ln>
        </p:spPr>
      </p:sp>
      <p:sp>
        <p:nvSpPr>
          <p:cNvPr id="62" name="Text 60"/>
          <p:cNvSpPr txBox="1"/>
          <p:nvPr/>
        </p:nvSpPr>
        <p:spPr>
          <a:xfrm>
            <a:off x="10175748" y="2217420"/>
            <a:ext cx="310896" cy="210312"/>
          </a:xfrm>
          <a:prstGeom prst="rect">
            <a:avLst/>
          </a:prstGeom>
          <a:no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2.6</a:t>
            </a:r>
            <a:endParaRPr lang="en-US" sz="850" dirty="0"/>
          </a:p>
        </p:txBody>
      </p:sp>
      <p:sp>
        <p:nvSpPr>
          <p:cNvPr id="63" name="Text 61"/>
          <p:cNvSpPr txBox="1"/>
          <p:nvPr/>
        </p:nvSpPr>
        <p:spPr>
          <a:xfrm>
            <a:off x="10559796" y="2231136"/>
            <a:ext cx="1098804" cy="219456"/>
          </a:xfrm>
          <a:prstGeom prst="rect">
            <a:avLst/>
          </a:prstGeom>
          <a:noFill/>
          <a:ln/>
        </p:spPr>
        <p:txBody>
          <a:bodyPr wrap="square" lIns="0" tIns="0" rIns="0" bIns="0" rtlCol="0" anchor="ctr"/>
          <a:lstStyle/>
          <a:p>
            <a:pPr indent="0" marL="0">
              <a:buNone/>
            </a:pPr>
            <a:r>
              <a:rPr lang="en-US" sz="1100" b="1" dirty="0">
                <a:solidFill>
                  <a:srgbClr val="14110D"/>
                </a:solidFill>
                <a:latin typeface="Calibri" pitchFamily="34" charset="0"/>
                <a:ea typeface="Calibri" pitchFamily="34" charset="-122"/>
                <a:cs typeface="Calibri" pitchFamily="34" charset="-120"/>
              </a:rPr>
              <a:t>Attribution ◂</a:t>
            </a:r>
            <a:endParaRPr lang="en-US" sz="1100" dirty="0"/>
          </a:p>
        </p:txBody>
      </p:sp>
      <p:sp>
        <p:nvSpPr>
          <p:cNvPr id="64" name="Text 62"/>
          <p:cNvSpPr txBox="1"/>
          <p:nvPr/>
        </p:nvSpPr>
        <p:spPr>
          <a:xfrm>
            <a:off x="10258044" y="2478024"/>
            <a:ext cx="1391412" cy="658368"/>
          </a:xfrm>
          <a:prstGeom prst="rect">
            <a:avLst/>
          </a:prstGeom>
          <a:noFill/>
          <a:ln/>
        </p:spPr>
        <p:txBody>
          <a:bodyPr wrap="square" lIns="0" tIns="0" rIns="0" bIns="0" rtlCol="0" anchor="ctr"/>
          <a:lstStyle/>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Prophet's components</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expressed in units</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parts must sum to whole</a:t>
            </a:r>
            <a:endParaRPr lang="en-US" sz="850" dirty="0"/>
          </a:p>
        </p:txBody>
      </p:sp>
      <p:sp>
        <p:nvSpPr>
          <p:cNvPr id="65" name="Shape 63"/>
          <p:cNvSpPr/>
          <p:nvPr/>
        </p:nvSpPr>
        <p:spPr>
          <a:xfrm>
            <a:off x="1938528" y="3310128"/>
            <a:ext cx="9793224" cy="0"/>
          </a:xfrm>
          <a:prstGeom prst="line">
            <a:avLst/>
          </a:prstGeom>
          <a:noFill/>
          <a:ln w="15875">
            <a:solidFill>
              <a:srgbClr val="14110D"/>
            </a:solidFill>
            <a:prstDash val="dash"/>
          </a:ln>
        </p:spPr>
      </p:sp>
      <p:sp>
        <p:nvSpPr>
          <p:cNvPr id="66" name="Text 64"/>
          <p:cNvSpPr txBox="1"/>
          <p:nvPr/>
        </p:nvSpPr>
        <p:spPr>
          <a:xfrm>
            <a:off x="1938528" y="3328416"/>
            <a:ext cx="9793224" cy="219456"/>
          </a:xfrm>
          <a:prstGeom prst="rect">
            <a:avLst/>
          </a:prstGeom>
          <a:noFill/>
          <a:ln/>
        </p:spPr>
        <p:txBody>
          <a:bodyPr wrap="square" lIns="0" tIns="0" rIns="0" bIns="0" rtlCol="0" anchor="ctr"/>
          <a:lstStyle/>
          <a:p>
            <a:pPr algn="ctr" indent="0" marL="0">
              <a:buNone/>
            </a:pPr>
            <a:r>
              <a:rPr lang="en-US" sz="850" spc="80" kern="0" dirty="0">
                <a:solidFill>
                  <a:srgbClr val="6B6459"/>
                </a:solidFill>
                <a:latin typeface="Courier New" pitchFamily="34" charset="0"/>
                <a:ea typeface="Courier New" pitchFamily="34" charset="-122"/>
                <a:cs typeface="Courier New" pitchFamily="34" charset="-120"/>
              </a:rPr>
              <a:t>ABOVE  runs offline, once, about 4 minutes          BELOW  runs per request, under a second</a:t>
            </a:r>
            <a:endParaRPr lang="en-US" sz="850" dirty="0"/>
          </a:p>
        </p:txBody>
      </p:sp>
      <p:sp>
        <p:nvSpPr>
          <p:cNvPr id="67" name="Text 65"/>
          <p:cNvSpPr txBox="1"/>
          <p:nvPr/>
        </p:nvSpPr>
        <p:spPr>
          <a:xfrm>
            <a:off x="457200" y="3621024"/>
            <a:ext cx="1389888" cy="201168"/>
          </a:xfrm>
          <a:prstGeom prst="rect">
            <a:avLst/>
          </a:prstGeom>
          <a:noFill/>
          <a:ln/>
        </p:spPr>
        <p:txBody>
          <a:bodyPr wrap="square" lIns="0" tIns="0" rIns="0" bIns="0" rtlCol="0" anchor="ctr"/>
          <a:lstStyle/>
          <a:p>
            <a:pPr indent="0" marL="0">
              <a:buNone/>
            </a:pPr>
            <a:r>
              <a:rPr lang="en-US" sz="850" spc="140" kern="0" dirty="0">
                <a:solidFill>
                  <a:srgbClr val="9A9287"/>
                </a:solidFill>
                <a:latin typeface="Courier New" pitchFamily="34" charset="0"/>
                <a:ea typeface="Courier New" pitchFamily="34" charset="-122"/>
                <a:cs typeface="Courier New" pitchFamily="34" charset="-120"/>
              </a:rPr>
              <a:t>LAYER 3</a:t>
            </a:r>
            <a:endParaRPr lang="en-US" sz="850" dirty="0"/>
          </a:p>
        </p:txBody>
      </p:sp>
      <p:sp>
        <p:nvSpPr>
          <p:cNvPr id="68" name="Text 66"/>
          <p:cNvSpPr txBox="1"/>
          <p:nvPr/>
        </p:nvSpPr>
        <p:spPr>
          <a:xfrm>
            <a:off x="457200" y="3822192"/>
            <a:ext cx="1389888" cy="274320"/>
          </a:xfrm>
          <a:prstGeom prst="rect">
            <a:avLst/>
          </a:prstGeom>
          <a:noFill/>
          <a:ln/>
        </p:spPr>
        <p:txBody>
          <a:bodyPr wrap="square" lIns="0" tIns="0" rIns="0" bIns="0" rtlCol="0" anchor="ctr"/>
          <a:lstStyle/>
          <a:p>
            <a:pPr indent="0" marL="0">
              <a:buNone/>
            </a:pPr>
            <a:r>
              <a:rPr lang="en-US" sz="1400" b="1" dirty="0">
                <a:solidFill>
                  <a:srgbClr val="1C4E7A"/>
                </a:solidFill>
                <a:latin typeface="Calibri" pitchFamily="34" charset="0"/>
                <a:ea typeface="Calibri" pitchFamily="34" charset="-122"/>
                <a:cs typeface="Calibri" pitchFamily="34" charset="-120"/>
              </a:rPr>
              <a:t>DECISION</a:t>
            </a:r>
            <a:endParaRPr lang="en-US" sz="1400" dirty="0"/>
          </a:p>
        </p:txBody>
      </p:sp>
      <p:sp>
        <p:nvSpPr>
          <p:cNvPr id="69" name="Text 67"/>
          <p:cNvSpPr txBox="1"/>
          <p:nvPr/>
        </p:nvSpPr>
        <p:spPr>
          <a:xfrm>
            <a:off x="457200" y="4105656"/>
            <a:ext cx="1389888" cy="201168"/>
          </a:xfrm>
          <a:prstGeom prst="rect">
            <a:avLst/>
          </a:prstGeom>
          <a:noFill/>
          <a:ln/>
        </p:spPr>
        <p:txBody>
          <a:bodyPr wrap="square" lIns="0" tIns="0" rIns="0" bIns="0" rtlCol="0" anchor="ctr"/>
          <a:lstStyle/>
          <a:p>
            <a:pPr indent="0" marL="0">
              <a:buNone/>
            </a:pPr>
            <a:r>
              <a:rPr lang="en-US" sz="900" dirty="0">
                <a:solidFill>
                  <a:srgbClr val="9A9287"/>
                </a:solidFill>
                <a:latin typeface="Courier New" pitchFamily="34" charset="0"/>
                <a:ea typeface="Courier New" pitchFamily="34" charset="-122"/>
                <a:cs typeface="Courier New" pitchFamily="34" charset="-120"/>
              </a:rPr>
              <a:t>decision/</a:t>
            </a:r>
            <a:endParaRPr lang="en-US" sz="900" dirty="0"/>
          </a:p>
        </p:txBody>
      </p:sp>
      <p:sp>
        <p:nvSpPr>
          <p:cNvPr id="70" name="Shape 68"/>
          <p:cNvSpPr/>
          <p:nvPr/>
        </p:nvSpPr>
        <p:spPr>
          <a:xfrm>
            <a:off x="1938528" y="3602736"/>
            <a:ext cx="2379726" cy="969264"/>
          </a:xfrm>
          <a:prstGeom prst="rect">
            <a:avLst/>
          </a:prstGeom>
          <a:solidFill>
            <a:srgbClr val="FCFAF6"/>
          </a:solidFill>
          <a:ln w="12700">
            <a:solidFill>
              <a:srgbClr val="E4DFD5"/>
            </a:solidFill>
            <a:prstDash val="solid"/>
          </a:ln>
        </p:spPr>
      </p:sp>
      <p:sp>
        <p:nvSpPr>
          <p:cNvPr id="71" name="Shape 69"/>
          <p:cNvSpPr/>
          <p:nvPr/>
        </p:nvSpPr>
        <p:spPr>
          <a:xfrm>
            <a:off x="1938528" y="3602736"/>
            <a:ext cx="310896" cy="219456"/>
          </a:xfrm>
          <a:prstGeom prst="rect">
            <a:avLst/>
          </a:prstGeom>
          <a:solidFill>
            <a:srgbClr val="1C4E7A"/>
          </a:solidFill>
          <a:ln w="12700">
            <a:solidFill>
              <a:srgbClr val="1C4E7A"/>
            </a:solidFill>
            <a:prstDash val="solid"/>
          </a:ln>
        </p:spPr>
      </p:sp>
      <p:sp>
        <p:nvSpPr>
          <p:cNvPr id="72" name="Text 70"/>
          <p:cNvSpPr txBox="1"/>
          <p:nvPr/>
        </p:nvSpPr>
        <p:spPr>
          <a:xfrm>
            <a:off x="1938528" y="3607308"/>
            <a:ext cx="310896" cy="210312"/>
          </a:xfrm>
          <a:prstGeom prst="rect">
            <a:avLst/>
          </a:prstGeom>
          <a:no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3.1</a:t>
            </a:r>
            <a:endParaRPr lang="en-US" sz="850" dirty="0"/>
          </a:p>
        </p:txBody>
      </p:sp>
      <p:sp>
        <p:nvSpPr>
          <p:cNvPr id="73" name="Text 71"/>
          <p:cNvSpPr txBox="1"/>
          <p:nvPr/>
        </p:nvSpPr>
        <p:spPr>
          <a:xfrm>
            <a:off x="2322576" y="3621024"/>
            <a:ext cx="1922526" cy="219456"/>
          </a:xfrm>
          <a:prstGeom prst="rect">
            <a:avLst/>
          </a:prstGeom>
          <a:noFill/>
          <a:ln/>
        </p:spPr>
        <p:txBody>
          <a:bodyPr wrap="square" lIns="0" tIns="0" rIns="0" bIns="0" rtlCol="0" anchor="ctr"/>
          <a:lstStyle/>
          <a:p>
            <a:pPr indent="0" marL="0">
              <a:buNone/>
            </a:pPr>
            <a:r>
              <a:rPr lang="en-US" sz="1100" b="1" dirty="0">
                <a:solidFill>
                  <a:srgbClr val="14110D"/>
                </a:solidFill>
                <a:latin typeface="Calibri" pitchFamily="34" charset="0"/>
                <a:ea typeface="Calibri" pitchFamily="34" charset="-122"/>
                <a:cs typeface="Calibri" pitchFamily="34" charset="-120"/>
              </a:rPr>
              <a:t>Order Calculator</a:t>
            </a:r>
            <a:endParaRPr lang="en-US" sz="1100" dirty="0"/>
          </a:p>
        </p:txBody>
      </p:sp>
      <p:sp>
        <p:nvSpPr>
          <p:cNvPr id="74" name="Text 72"/>
          <p:cNvSpPr txBox="1"/>
          <p:nvPr/>
        </p:nvSpPr>
        <p:spPr>
          <a:xfrm>
            <a:off x="2020824" y="3867912"/>
            <a:ext cx="2215134" cy="658368"/>
          </a:xfrm>
          <a:prstGeom prst="rect">
            <a:avLst/>
          </a:prstGeom>
          <a:noFill/>
          <a:ln/>
        </p:spPr>
        <p:txBody>
          <a:bodyPr wrap="square" lIns="0" tIns="0" rIns="0" bIns="0" rtlCol="0" anchor="ctr"/>
          <a:lstStyle/>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newsvendor fractile, closed form</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protection interval = lead + review gap</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rounded up to whole packs</a:t>
            </a:r>
            <a:endParaRPr lang="en-US" sz="850" dirty="0"/>
          </a:p>
        </p:txBody>
      </p:sp>
      <p:sp>
        <p:nvSpPr>
          <p:cNvPr id="75" name="Shape 73"/>
          <p:cNvSpPr/>
          <p:nvPr/>
        </p:nvSpPr>
        <p:spPr>
          <a:xfrm>
            <a:off x="4409694" y="3602736"/>
            <a:ext cx="2379726" cy="969264"/>
          </a:xfrm>
          <a:prstGeom prst="rect">
            <a:avLst/>
          </a:prstGeom>
          <a:solidFill>
            <a:srgbClr val="FCFAF6"/>
          </a:solidFill>
          <a:ln w="12700">
            <a:solidFill>
              <a:srgbClr val="E4DFD5"/>
            </a:solidFill>
            <a:prstDash val="solid"/>
          </a:ln>
        </p:spPr>
      </p:sp>
      <p:sp>
        <p:nvSpPr>
          <p:cNvPr id="76" name="Shape 74"/>
          <p:cNvSpPr/>
          <p:nvPr/>
        </p:nvSpPr>
        <p:spPr>
          <a:xfrm>
            <a:off x="4409694" y="3602736"/>
            <a:ext cx="310896" cy="219456"/>
          </a:xfrm>
          <a:prstGeom prst="rect">
            <a:avLst/>
          </a:prstGeom>
          <a:solidFill>
            <a:srgbClr val="1C4E7A"/>
          </a:solidFill>
          <a:ln w="12700">
            <a:solidFill>
              <a:srgbClr val="1C4E7A"/>
            </a:solidFill>
            <a:prstDash val="solid"/>
          </a:ln>
        </p:spPr>
      </p:sp>
      <p:sp>
        <p:nvSpPr>
          <p:cNvPr id="77" name="Text 75"/>
          <p:cNvSpPr txBox="1"/>
          <p:nvPr/>
        </p:nvSpPr>
        <p:spPr>
          <a:xfrm>
            <a:off x="4409694" y="3607308"/>
            <a:ext cx="310896" cy="210312"/>
          </a:xfrm>
          <a:prstGeom prst="rect">
            <a:avLst/>
          </a:prstGeom>
          <a:no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3.2</a:t>
            </a:r>
            <a:endParaRPr lang="en-US" sz="850" dirty="0"/>
          </a:p>
        </p:txBody>
      </p:sp>
      <p:sp>
        <p:nvSpPr>
          <p:cNvPr id="78" name="Text 76"/>
          <p:cNvSpPr txBox="1"/>
          <p:nvPr/>
        </p:nvSpPr>
        <p:spPr>
          <a:xfrm>
            <a:off x="4793742" y="3621024"/>
            <a:ext cx="1922526" cy="219456"/>
          </a:xfrm>
          <a:prstGeom prst="rect">
            <a:avLst/>
          </a:prstGeom>
          <a:noFill/>
          <a:ln/>
        </p:spPr>
        <p:txBody>
          <a:bodyPr wrap="square" lIns="0" tIns="0" rIns="0" bIns="0" rtlCol="0" anchor="ctr"/>
          <a:lstStyle/>
          <a:p>
            <a:pPr indent="0" marL="0">
              <a:buNone/>
            </a:pPr>
            <a:r>
              <a:rPr lang="en-US" sz="1100" b="1" dirty="0">
                <a:solidFill>
                  <a:srgbClr val="14110D"/>
                </a:solidFill>
                <a:latin typeface="Calibri" pitchFamily="34" charset="0"/>
                <a:ea typeface="Calibri" pitchFamily="34" charset="-122"/>
                <a:cs typeface="Calibri" pitchFamily="34" charset="-120"/>
              </a:rPr>
              <a:t>Risk Detector</a:t>
            </a:r>
            <a:endParaRPr lang="en-US" sz="1100" dirty="0"/>
          </a:p>
        </p:txBody>
      </p:sp>
      <p:sp>
        <p:nvSpPr>
          <p:cNvPr id="79" name="Text 77"/>
          <p:cNvSpPr txBox="1"/>
          <p:nvPr/>
        </p:nvSpPr>
        <p:spPr>
          <a:xfrm>
            <a:off x="4491990" y="3867912"/>
            <a:ext cx="2215134" cy="658368"/>
          </a:xfrm>
          <a:prstGeom prst="rect">
            <a:avLst/>
          </a:prstGeom>
          <a:noFill/>
          <a:ln/>
        </p:spPr>
        <p:txBody>
          <a:bodyPr wrap="square" lIns="0" tIns="0" rIns="0" bIns="0" rtlCol="0" anchor="ctr"/>
          <a:lstStyle/>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4 rules, read at the current position</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before any order is placed</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ranked by rupee exposure</a:t>
            </a:r>
            <a:endParaRPr lang="en-US" sz="850" dirty="0"/>
          </a:p>
        </p:txBody>
      </p:sp>
      <p:sp>
        <p:nvSpPr>
          <p:cNvPr id="80" name="Shape 78"/>
          <p:cNvSpPr/>
          <p:nvPr/>
        </p:nvSpPr>
        <p:spPr>
          <a:xfrm>
            <a:off x="6880860" y="3602736"/>
            <a:ext cx="2379726" cy="969264"/>
          </a:xfrm>
          <a:prstGeom prst="rect">
            <a:avLst/>
          </a:prstGeom>
          <a:solidFill>
            <a:srgbClr val="FCFAF6"/>
          </a:solidFill>
          <a:ln w="12700">
            <a:solidFill>
              <a:srgbClr val="E4DFD5"/>
            </a:solidFill>
            <a:prstDash val="solid"/>
          </a:ln>
        </p:spPr>
      </p:sp>
      <p:sp>
        <p:nvSpPr>
          <p:cNvPr id="81" name="Shape 79"/>
          <p:cNvSpPr/>
          <p:nvPr/>
        </p:nvSpPr>
        <p:spPr>
          <a:xfrm>
            <a:off x="6880860" y="3602736"/>
            <a:ext cx="310896" cy="219456"/>
          </a:xfrm>
          <a:prstGeom prst="rect">
            <a:avLst/>
          </a:prstGeom>
          <a:solidFill>
            <a:srgbClr val="1C4E7A"/>
          </a:solidFill>
          <a:ln w="12700">
            <a:solidFill>
              <a:srgbClr val="1C4E7A"/>
            </a:solidFill>
            <a:prstDash val="solid"/>
          </a:ln>
        </p:spPr>
      </p:sp>
      <p:sp>
        <p:nvSpPr>
          <p:cNvPr id="82" name="Text 80"/>
          <p:cNvSpPr txBox="1"/>
          <p:nvPr/>
        </p:nvSpPr>
        <p:spPr>
          <a:xfrm>
            <a:off x="6880860" y="3607308"/>
            <a:ext cx="310896" cy="210312"/>
          </a:xfrm>
          <a:prstGeom prst="rect">
            <a:avLst/>
          </a:prstGeom>
          <a:no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3.3</a:t>
            </a:r>
            <a:endParaRPr lang="en-US" sz="850" dirty="0"/>
          </a:p>
        </p:txBody>
      </p:sp>
      <p:sp>
        <p:nvSpPr>
          <p:cNvPr id="83" name="Text 81"/>
          <p:cNvSpPr txBox="1"/>
          <p:nvPr/>
        </p:nvSpPr>
        <p:spPr>
          <a:xfrm>
            <a:off x="7264908" y="3621024"/>
            <a:ext cx="1922526" cy="219456"/>
          </a:xfrm>
          <a:prstGeom prst="rect">
            <a:avLst/>
          </a:prstGeom>
          <a:noFill/>
          <a:ln/>
        </p:spPr>
        <p:txBody>
          <a:bodyPr wrap="square" lIns="0" tIns="0" rIns="0" bIns="0" rtlCol="0" anchor="ctr"/>
          <a:lstStyle/>
          <a:p>
            <a:pPr indent="0" marL="0">
              <a:buNone/>
            </a:pPr>
            <a:r>
              <a:rPr lang="en-US" sz="1100" b="1" dirty="0">
                <a:solidFill>
                  <a:srgbClr val="14110D"/>
                </a:solidFill>
                <a:latin typeface="Calibri" pitchFamily="34" charset="0"/>
                <a:ea typeface="Calibri" pitchFamily="34" charset="-122"/>
                <a:cs typeface="Calibri" pitchFamily="34" charset="-120"/>
              </a:rPr>
              <a:t>Stock Ledger</a:t>
            </a:r>
            <a:endParaRPr lang="en-US" sz="1100" dirty="0"/>
          </a:p>
        </p:txBody>
      </p:sp>
      <p:sp>
        <p:nvSpPr>
          <p:cNvPr id="84" name="Text 82"/>
          <p:cNvSpPr txBox="1"/>
          <p:nvPr/>
        </p:nvSpPr>
        <p:spPr>
          <a:xfrm>
            <a:off x="6963156" y="3867912"/>
            <a:ext cx="2215134" cy="658368"/>
          </a:xfrm>
          <a:prstGeom prst="rect">
            <a:avLst/>
          </a:prstGeom>
          <a:noFill/>
          <a:ln/>
        </p:spPr>
        <p:txBody>
          <a:bodyPr wrap="square" lIns="0" tIns="0" rIns="0" bIns="0" rtlCol="0" anchor="ctr"/>
          <a:lstStyle/>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opening stock + every movement since</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hash-chained order log</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accepting an order moves the shelf</a:t>
            </a:r>
            <a:endParaRPr lang="en-US" sz="850" dirty="0"/>
          </a:p>
        </p:txBody>
      </p:sp>
      <p:sp>
        <p:nvSpPr>
          <p:cNvPr id="85" name="Shape 83"/>
          <p:cNvSpPr/>
          <p:nvPr/>
        </p:nvSpPr>
        <p:spPr>
          <a:xfrm>
            <a:off x="9352026" y="3602736"/>
            <a:ext cx="2379726" cy="969264"/>
          </a:xfrm>
          <a:prstGeom prst="rect">
            <a:avLst/>
          </a:prstGeom>
          <a:solidFill>
            <a:srgbClr val="FCFAF6"/>
          </a:solidFill>
          <a:ln w="12700">
            <a:solidFill>
              <a:srgbClr val="E4DFD5"/>
            </a:solidFill>
            <a:prstDash val="solid"/>
          </a:ln>
        </p:spPr>
      </p:sp>
      <p:sp>
        <p:nvSpPr>
          <p:cNvPr id="86" name="Shape 84"/>
          <p:cNvSpPr/>
          <p:nvPr/>
        </p:nvSpPr>
        <p:spPr>
          <a:xfrm>
            <a:off x="9352026" y="3602736"/>
            <a:ext cx="310896" cy="219456"/>
          </a:xfrm>
          <a:prstGeom prst="rect">
            <a:avLst/>
          </a:prstGeom>
          <a:solidFill>
            <a:srgbClr val="1C4E7A"/>
          </a:solidFill>
          <a:ln w="12700">
            <a:solidFill>
              <a:srgbClr val="1C4E7A"/>
            </a:solidFill>
            <a:prstDash val="solid"/>
          </a:ln>
        </p:spPr>
      </p:sp>
      <p:sp>
        <p:nvSpPr>
          <p:cNvPr id="87" name="Text 85"/>
          <p:cNvSpPr txBox="1"/>
          <p:nvPr/>
        </p:nvSpPr>
        <p:spPr>
          <a:xfrm>
            <a:off x="9352026" y="3607308"/>
            <a:ext cx="310896" cy="210312"/>
          </a:xfrm>
          <a:prstGeom prst="rect">
            <a:avLst/>
          </a:prstGeom>
          <a:noFill/>
          <a:ln/>
        </p:spPr>
        <p:txBody>
          <a:bodyPr wrap="square" lIns="0" tIns="0" rIns="0" bIns="0" rtlCol="0" anchor="ctr"/>
          <a:lstStyle/>
          <a:p>
            <a:pPr algn="ctr" indent="0" marL="0">
              <a:buNone/>
            </a:pPr>
            <a:r>
              <a:rPr lang="en-US" sz="850" b="1" dirty="0">
                <a:solidFill>
                  <a:srgbClr val="F7F4EE"/>
                </a:solidFill>
                <a:latin typeface="Courier New" pitchFamily="34" charset="0"/>
                <a:ea typeface="Courier New" pitchFamily="34" charset="-122"/>
                <a:cs typeface="Courier New" pitchFamily="34" charset="-120"/>
              </a:rPr>
              <a:t>3.4</a:t>
            </a:r>
            <a:endParaRPr lang="en-US" sz="850" dirty="0"/>
          </a:p>
        </p:txBody>
      </p:sp>
      <p:sp>
        <p:nvSpPr>
          <p:cNvPr id="88" name="Text 86"/>
          <p:cNvSpPr txBox="1"/>
          <p:nvPr/>
        </p:nvSpPr>
        <p:spPr>
          <a:xfrm>
            <a:off x="9736074" y="3621024"/>
            <a:ext cx="1922526" cy="219456"/>
          </a:xfrm>
          <a:prstGeom prst="rect">
            <a:avLst/>
          </a:prstGeom>
          <a:noFill/>
          <a:ln/>
        </p:spPr>
        <p:txBody>
          <a:bodyPr wrap="square" lIns="0" tIns="0" rIns="0" bIns="0" rtlCol="0" anchor="ctr"/>
          <a:lstStyle/>
          <a:p>
            <a:pPr indent="0" marL="0">
              <a:buNone/>
            </a:pPr>
            <a:r>
              <a:rPr lang="en-US" sz="1100" b="1" dirty="0">
                <a:solidFill>
                  <a:srgbClr val="14110D"/>
                </a:solidFill>
                <a:latin typeface="Calibri" pitchFamily="34" charset="0"/>
                <a:ea typeface="Calibri" pitchFamily="34" charset="-122"/>
                <a:cs typeface="Calibri" pitchFamily="34" charset="-120"/>
              </a:rPr>
              <a:t>Replay ◂</a:t>
            </a:r>
            <a:endParaRPr lang="en-US" sz="1100" dirty="0"/>
          </a:p>
        </p:txBody>
      </p:sp>
      <p:sp>
        <p:nvSpPr>
          <p:cNvPr id="89" name="Text 87"/>
          <p:cNvSpPr txBox="1"/>
          <p:nvPr/>
        </p:nvSpPr>
        <p:spPr>
          <a:xfrm>
            <a:off x="9434322" y="3867912"/>
            <a:ext cx="2215134" cy="658368"/>
          </a:xfrm>
          <a:prstGeom prst="rect">
            <a:avLst/>
          </a:prstGeom>
          <a:noFill/>
          <a:ln/>
        </p:spPr>
        <p:txBody>
          <a:bodyPr wrap="square" lIns="0" tIns="0" rIns="0" bIns="0" rtlCol="0" anchor="ctr"/>
          <a:lstStyle/>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real 2019 days, one per tick</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serialised under a per-session lock</a:t>
            </a:r>
            <a:endParaRPr lang="en-US" sz="850" dirty="0"/>
          </a:p>
          <a:p>
            <a:pPr indent="0" marL="0">
              <a:lnSpc>
                <a:spcPts val="1100"/>
              </a:lnSpc>
              <a:buNone/>
            </a:pPr>
            <a:r>
              <a:rPr lang="en-US" sz="850" dirty="0">
                <a:solidFill>
                  <a:srgbClr val="6B6459"/>
                </a:solidFill>
                <a:latin typeface="Calibri" pitchFamily="34" charset="0"/>
                <a:ea typeface="Calibri" pitchFamily="34" charset="-122"/>
                <a:cs typeface="Calibri" pitchFamily="34" charset="-120"/>
              </a:rPr>
              <a:t>· carries a rival min/max policy</a:t>
            </a:r>
            <a:endParaRPr lang="en-US" sz="850" dirty="0"/>
          </a:p>
        </p:txBody>
      </p:sp>
      <p:sp>
        <p:nvSpPr>
          <p:cNvPr id="90" name="Text 88"/>
          <p:cNvSpPr txBox="1"/>
          <p:nvPr/>
        </p:nvSpPr>
        <p:spPr>
          <a:xfrm>
            <a:off x="457200" y="4754880"/>
            <a:ext cx="1389888" cy="201168"/>
          </a:xfrm>
          <a:prstGeom prst="rect">
            <a:avLst/>
          </a:prstGeom>
          <a:noFill/>
          <a:ln/>
        </p:spPr>
        <p:txBody>
          <a:bodyPr wrap="square" lIns="0" tIns="0" rIns="0" bIns="0" rtlCol="0" anchor="ctr"/>
          <a:lstStyle/>
          <a:p>
            <a:pPr indent="0" marL="0">
              <a:buNone/>
            </a:pPr>
            <a:r>
              <a:rPr lang="en-US" sz="850" spc="140" kern="0" dirty="0">
                <a:solidFill>
                  <a:srgbClr val="9A9287"/>
                </a:solidFill>
                <a:latin typeface="Courier New" pitchFamily="34" charset="0"/>
                <a:ea typeface="Courier New" pitchFamily="34" charset="-122"/>
                <a:cs typeface="Courier New" pitchFamily="34" charset="-120"/>
              </a:rPr>
              <a:t>LAYER 5</a:t>
            </a:r>
            <a:endParaRPr lang="en-US" sz="850" dirty="0"/>
          </a:p>
        </p:txBody>
      </p:sp>
      <p:sp>
        <p:nvSpPr>
          <p:cNvPr id="91" name="Text 89"/>
          <p:cNvSpPr txBox="1"/>
          <p:nvPr/>
        </p:nvSpPr>
        <p:spPr>
          <a:xfrm>
            <a:off x="457200" y="4956048"/>
            <a:ext cx="1389888" cy="274320"/>
          </a:xfrm>
          <a:prstGeom prst="rect">
            <a:avLst/>
          </a:prstGeom>
          <a:noFill/>
          <a:ln/>
        </p:spPr>
        <p:txBody>
          <a:bodyPr wrap="square" lIns="0" tIns="0" rIns="0" bIns="0" rtlCol="0" anchor="ctr"/>
          <a:lstStyle/>
          <a:p>
            <a:pPr indent="0" marL="0">
              <a:buNone/>
            </a:pPr>
            <a:r>
              <a:rPr lang="en-US" sz="1400" b="1" dirty="0">
                <a:solidFill>
                  <a:srgbClr val="8A6410"/>
                </a:solidFill>
                <a:latin typeface="Calibri" pitchFamily="34" charset="0"/>
                <a:ea typeface="Calibri" pitchFamily="34" charset="-122"/>
                <a:cs typeface="Calibri" pitchFamily="34" charset="-120"/>
              </a:rPr>
              <a:t>SERVICE</a:t>
            </a:r>
            <a:endParaRPr lang="en-US" sz="1400" dirty="0"/>
          </a:p>
        </p:txBody>
      </p:sp>
      <p:sp>
        <p:nvSpPr>
          <p:cNvPr id="92" name="Text 90"/>
          <p:cNvSpPr txBox="1"/>
          <p:nvPr/>
        </p:nvSpPr>
        <p:spPr>
          <a:xfrm>
            <a:off x="457200" y="5239512"/>
            <a:ext cx="1389888" cy="201168"/>
          </a:xfrm>
          <a:prstGeom prst="rect">
            <a:avLst/>
          </a:prstGeom>
          <a:noFill/>
          <a:ln/>
        </p:spPr>
        <p:txBody>
          <a:bodyPr wrap="square" lIns="0" tIns="0" rIns="0" bIns="0" rtlCol="0" anchor="ctr"/>
          <a:lstStyle/>
          <a:p>
            <a:pPr indent="0" marL="0">
              <a:buNone/>
            </a:pPr>
            <a:r>
              <a:rPr lang="en-US" sz="900" dirty="0">
                <a:solidFill>
                  <a:srgbClr val="9A9287"/>
                </a:solidFill>
                <a:latin typeface="Courier New" pitchFamily="34" charset="0"/>
                <a:ea typeface="Courier New" pitchFamily="34" charset="-122"/>
                <a:cs typeface="Courier New" pitchFamily="34" charset="-120"/>
              </a:rPr>
              <a:t>api/</a:t>
            </a:r>
            <a:endParaRPr lang="en-US" sz="900" dirty="0"/>
          </a:p>
        </p:txBody>
      </p:sp>
      <p:sp>
        <p:nvSpPr>
          <p:cNvPr id="93" name="Shape 91"/>
          <p:cNvSpPr/>
          <p:nvPr/>
        </p:nvSpPr>
        <p:spPr>
          <a:xfrm>
            <a:off x="1938528" y="4736592"/>
            <a:ext cx="9793224" cy="603504"/>
          </a:xfrm>
          <a:prstGeom prst="rect">
            <a:avLst/>
          </a:prstGeom>
          <a:solidFill>
            <a:srgbClr val="FCFAF6"/>
          </a:solidFill>
          <a:ln w="12700">
            <a:solidFill>
              <a:srgbClr val="E4DFD5"/>
            </a:solidFill>
            <a:prstDash val="solid"/>
          </a:ln>
        </p:spPr>
      </p:sp>
      <p:sp>
        <p:nvSpPr>
          <p:cNvPr id="94" name="Text 92"/>
          <p:cNvSpPr txBox="1"/>
          <p:nvPr/>
        </p:nvSpPr>
        <p:spPr>
          <a:xfrm>
            <a:off x="2048256" y="4782312"/>
            <a:ext cx="9573768" cy="274320"/>
          </a:xfrm>
          <a:prstGeom prst="rect">
            <a:avLst/>
          </a:prstGeom>
          <a:noFill/>
          <a:ln/>
        </p:spPr>
        <p:txBody>
          <a:bodyPr wrap="square" lIns="0" tIns="0" rIns="0" bIns="0" rtlCol="0" anchor="ctr"/>
          <a:lstStyle/>
          <a:p>
            <a:pPr indent="0" marL="0">
              <a:buNone/>
            </a:pPr>
            <a:r>
              <a:rPr lang="en-US" sz="900" dirty="0">
                <a:solidFill>
                  <a:srgbClr val="14110D"/>
                </a:solidFill>
                <a:latin typeface="Courier New" pitchFamily="34" charset="0"/>
                <a:ea typeface="Courier New" pitchFamily="34" charset="-122"/>
                <a:cs typeface="Courier New" pitchFamily="34" charset="-120"/>
              </a:rPr>
              <a:t>FastAPI · 16 endpoints · one provenance envelope on every response · fixture fallback when the store is missing, so the app always runs</a:t>
            </a:r>
            <a:endParaRPr lang="en-US" sz="900" dirty="0"/>
          </a:p>
        </p:txBody>
      </p:sp>
      <p:sp>
        <p:nvSpPr>
          <p:cNvPr id="95" name="Text 93"/>
          <p:cNvSpPr txBox="1"/>
          <p:nvPr/>
        </p:nvSpPr>
        <p:spPr>
          <a:xfrm>
            <a:off x="2048256" y="5065776"/>
            <a:ext cx="9573768" cy="219456"/>
          </a:xfrm>
          <a:prstGeom prst="rect">
            <a:avLst/>
          </a:prstGeom>
          <a:noFill/>
          <a:ln/>
        </p:spPr>
        <p:txBody>
          <a:bodyPr wrap="square" lIns="0" tIns="0" rIns="0" bIns="0" rtlCol="0" anchor="ctr"/>
          <a:lstStyle/>
          <a:p>
            <a:pPr indent="0" marL="0">
              <a:buNone/>
            </a:pPr>
            <a:r>
              <a:rPr lang="en-US" sz="950" dirty="0">
                <a:solidFill>
                  <a:srgbClr val="6B6459"/>
                </a:solidFill>
                <a:latin typeface="Calibri" pitchFamily="34" charset="0"/>
                <a:ea typeface="Calibri" pitchFamily="34" charset="-122"/>
                <a:cs typeface="Calibri" pitchFamily="34" charset="-120"/>
              </a:rPr>
              <a:t>/forecast   /explain   /risk   /recommend   /orders   /ledger   /replay   /benchmarks   /series   /settings   /health   /metrics</a:t>
            </a:r>
            <a:endParaRPr lang="en-US" sz="950" dirty="0"/>
          </a:p>
        </p:txBody>
      </p:sp>
      <p:sp>
        <p:nvSpPr>
          <p:cNvPr id="96" name="Text 94"/>
          <p:cNvSpPr txBox="1"/>
          <p:nvPr/>
        </p:nvSpPr>
        <p:spPr>
          <a:xfrm>
            <a:off x="457200" y="5449824"/>
            <a:ext cx="1389888" cy="201168"/>
          </a:xfrm>
          <a:prstGeom prst="rect">
            <a:avLst/>
          </a:prstGeom>
          <a:noFill/>
          <a:ln/>
        </p:spPr>
        <p:txBody>
          <a:bodyPr wrap="square" lIns="0" tIns="0" rIns="0" bIns="0" rtlCol="0" anchor="ctr"/>
          <a:lstStyle/>
          <a:p>
            <a:pPr indent="0" marL="0">
              <a:buNone/>
            </a:pPr>
            <a:r>
              <a:rPr lang="en-US" sz="850" spc="140" kern="0" dirty="0">
                <a:solidFill>
                  <a:srgbClr val="9A9287"/>
                </a:solidFill>
                <a:latin typeface="Courier New" pitchFamily="34" charset="0"/>
                <a:ea typeface="Courier New" pitchFamily="34" charset="-122"/>
                <a:cs typeface="Courier New" pitchFamily="34" charset="-120"/>
              </a:rPr>
              <a:t>LAYER 6</a:t>
            </a:r>
            <a:endParaRPr lang="en-US" sz="850" dirty="0"/>
          </a:p>
        </p:txBody>
      </p:sp>
      <p:sp>
        <p:nvSpPr>
          <p:cNvPr id="97" name="Text 95"/>
          <p:cNvSpPr txBox="1"/>
          <p:nvPr/>
        </p:nvSpPr>
        <p:spPr>
          <a:xfrm>
            <a:off x="457200" y="5650992"/>
            <a:ext cx="1389888" cy="274320"/>
          </a:xfrm>
          <a:prstGeom prst="rect">
            <a:avLst/>
          </a:prstGeom>
          <a:noFill/>
          <a:ln/>
        </p:spPr>
        <p:txBody>
          <a:bodyPr wrap="square" lIns="0" tIns="0" rIns="0" bIns="0" rtlCol="0" anchor="ctr"/>
          <a:lstStyle/>
          <a:p>
            <a:pPr indent="0" marL="0">
              <a:buNone/>
            </a:pPr>
            <a:r>
              <a:rPr lang="en-US" sz="1400" b="1" dirty="0">
                <a:solidFill>
                  <a:srgbClr val="A32E22"/>
                </a:solidFill>
                <a:latin typeface="Calibri" pitchFamily="34" charset="0"/>
                <a:ea typeface="Calibri" pitchFamily="34" charset="-122"/>
                <a:cs typeface="Calibri" pitchFamily="34" charset="-120"/>
              </a:rPr>
              <a:t>PRODUCT</a:t>
            </a:r>
            <a:endParaRPr lang="en-US" sz="1400" dirty="0"/>
          </a:p>
        </p:txBody>
      </p:sp>
      <p:sp>
        <p:nvSpPr>
          <p:cNvPr id="98" name="Text 96"/>
          <p:cNvSpPr txBox="1"/>
          <p:nvPr/>
        </p:nvSpPr>
        <p:spPr>
          <a:xfrm>
            <a:off x="457200" y="5934456"/>
            <a:ext cx="1389888" cy="201168"/>
          </a:xfrm>
          <a:prstGeom prst="rect">
            <a:avLst/>
          </a:prstGeom>
          <a:noFill/>
          <a:ln/>
        </p:spPr>
        <p:txBody>
          <a:bodyPr wrap="square" lIns="0" tIns="0" rIns="0" bIns="0" rtlCol="0" anchor="ctr"/>
          <a:lstStyle/>
          <a:p>
            <a:pPr indent="0" marL="0">
              <a:buNone/>
            </a:pPr>
            <a:r>
              <a:rPr lang="en-US" sz="900" dirty="0">
                <a:solidFill>
                  <a:srgbClr val="9A9287"/>
                </a:solidFill>
                <a:latin typeface="Courier New" pitchFamily="34" charset="0"/>
                <a:ea typeface="Courier New" pitchFamily="34" charset="-122"/>
                <a:cs typeface="Courier New" pitchFamily="34" charset="-120"/>
              </a:rPr>
              <a:t>web/</a:t>
            </a:r>
            <a:endParaRPr lang="en-US" sz="900" dirty="0"/>
          </a:p>
        </p:txBody>
      </p:sp>
      <p:sp>
        <p:nvSpPr>
          <p:cNvPr id="99" name="Text 97"/>
          <p:cNvSpPr txBox="1"/>
          <p:nvPr/>
        </p:nvSpPr>
        <p:spPr>
          <a:xfrm>
            <a:off x="1938528" y="5486400"/>
            <a:ext cx="1336330" cy="347472"/>
          </a:xfrm>
          <a:prstGeom prst="rect">
            <a:avLst/>
          </a:prstGeom>
          <a:solidFill>
            <a:srgbClr val="EFEBE2"/>
          </a:solidFill>
          <a:ln/>
        </p:spPr>
        <p:txBody>
          <a:bodyPr wrap="square" lIns="0" tIns="0" rIns="0" bIns="0" rtlCol="0" anchor="ctr"/>
          <a:lstStyle/>
          <a:p>
            <a:pPr algn="ctr" indent="0" marL="0">
              <a:buNone/>
            </a:pPr>
            <a:r>
              <a:rPr lang="en-US" sz="1100" dirty="0">
                <a:solidFill>
                  <a:srgbClr val="14110D"/>
                </a:solidFill>
                <a:latin typeface="Calibri" pitchFamily="34" charset="0"/>
                <a:ea typeface="Calibri" pitchFamily="34" charset="-122"/>
                <a:cs typeface="Calibri" pitchFamily="34" charset="-120"/>
              </a:rPr>
              <a:t>Decisions</a:t>
            </a:r>
            <a:endParaRPr lang="en-US" sz="1100" dirty="0"/>
          </a:p>
        </p:txBody>
      </p:sp>
      <p:sp>
        <p:nvSpPr>
          <p:cNvPr id="100" name="Text 98"/>
          <p:cNvSpPr txBox="1"/>
          <p:nvPr/>
        </p:nvSpPr>
        <p:spPr>
          <a:xfrm>
            <a:off x="3348010" y="5486400"/>
            <a:ext cx="1336330" cy="347472"/>
          </a:xfrm>
          <a:prstGeom prst="rect">
            <a:avLst/>
          </a:prstGeom>
          <a:solidFill>
            <a:srgbClr val="EFEBE2"/>
          </a:solidFill>
          <a:ln/>
        </p:spPr>
        <p:txBody>
          <a:bodyPr wrap="square" lIns="0" tIns="0" rIns="0" bIns="0" rtlCol="0" anchor="ctr"/>
          <a:lstStyle/>
          <a:p>
            <a:pPr algn="ctr" indent="0" marL="0">
              <a:buNone/>
            </a:pPr>
            <a:r>
              <a:rPr lang="en-US" sz="1100" dirty="0">
                <a:solidFill>
                  <a:srgbClr val="14110D"/>
                </a:solidFill>
                <a:latin typeface="Calibri" pitchFamily="34" charset="0"/>
                <a:ea typeface="Calibri" pitchFamily="34" charset="-122"/>
                <a:cs typeface="Calibri" pitchFamily="34" charset="-120"/>
              </a:rPr>
              <a:t>Order</a:t>
            </a:r>
            <a:endParaRPr lang="en-US" sz="1100" dirty="0"/>
          </a:p>
        </p:txBody>
      </p:sp>
      <p:sp>
        <p:nvSpPr>
          <p:cNvPr id="101" name="Text 99"/>
          <p:cNvSpPr txBox="1"/>
          <p:nvPr/>
        </p:nvSpPr>
        <p:spPr>
          <a:xfrm>
            <a:off x="4757493" y="5486400"/>
            <a:ext cx="1336330" cy="347472"/>
          </a:xfrm>
          <a:prstGeom prst="rect">
            <a:avLst/>
          </a:prstGeom>
          <a:solidFill>
            <a:srgbClr val="EFEBE2"/>
          </a:solidFill>
          <a:ln/>
        </p:spPr>
        <p:txBody>
          <a:bodyPr wrap="square" lIns="0" tIns="0" rIns="0" bIns="0" rtlCol="0" anchor="ctr"/>
          <a:lstStyle/>
          <a:p>
            <a:pPr algn="ctr" indent="0" marL="0">
              <a:buNone/>
            </a:pPr>
            <a:r>
              <a:rPr lang="en-US" sz="1100" dirty="0">
                <a:solidFill>
                  <a:srgbClr val="14110D"/>
                </a:solidFill>
                <a:latin typeface="Calibri" pitchFamily="34" charset="0"/>
                <a:ea typeface="Calibri" pitchFamily="34" charset="-122"/>
                <a:cs typeface="Calibri" pitchFamily="34" charset="-120"/>
              </a:rPr>
              <a:t>Forecast</a:t>
            </a:r>
            <a:endParaRPr lang="en-US" sz="1100" dirty="0"/>
          </a:p>
        </p:txBody>
      </p:sp>
      <p:sp>
        <p:nvSpPr>
          <p:cNvPr id="102" name="Text 100"/>
          <p:cNvSpPr txBox="1"/>
          <p:nvPr/>
        </p:nvSpPr>
        <p:spPr>
          <a:xfrm>
            <a:off x="6166975" y="5486400"/>
            <a:ext cx="1336330" cy="347472"/>
          </a:xfrm>
          <a:prstGeom prst="rect">
            <a:avLst/>
          </a:prstGeom>
          <a:solidFill>
            <a:srgbClr val="EFEBE2"/>
          </a:solidFill>
          <a:ln/>
        </p:spPr>
        <p:txBody>
          <a:bodyPr wrap="square" lIns="0" tIns="0" rIns="0" bIns="0" rtlCol="0" anchor="ctr"/>
          <a:lstStyle/>
          <a:p>
            <a:pPr algn="ctr" indent="0" marL="0">
              <a:buNone/>
            </a:pPr>
            <a:r>
              <a:rPr lang="en-US" sz="1100" dirty="0">
                <a:solidFill>
                  <a:srgbClr val="14110D"/>
                </a:solidFill>
                <a:latin typeface="Calibri" pitchFamily="34" charset="0"/>
                <a:ea typeface="Calibri" pitchFamily="34" charset="-122"/>
                <a:cs typeface="Calibri" pitchFamily="34" charset="-120"/>
              </a:rPr>
              <a:t>Why</a:t>
            </a:r>
            <a:endParaRPr lang="en-US" sz="1100" dirty="0"/>
          </a:p>
        </p:txBody>
      </p:sp>
      <p:sp>
        <p:nvSpPr>
          <p:cNvPr id="103" name="Text 101"/>
          <p:cNvSpPr txBox="1"/>
          <p:nvPr/>
        </p:nvSpPr>
        <p:spPr>
          <a:xfrm>
            <a:off x="7576457" y="5486400"/>
            <a:ext cx="1336330" cy="347472"/>
          </a:xfrm>
          <a:prstGeom prst="rect">
            <a:avLst/>
          </a:prstGeom>
          <a:solidFill>
            <a:srgbClr val="EFEBE2"/>
          </a:solidFill>
          <a:ln/>
        </p:spPr>
        <p:txBody>
          <a:bodyPr wrap="square" lIns="0" tIns="0" rIns="0" bIns="0" rtlCol="0" anchor="ctr"/>
          <a:lstStyle/>
          <a:p>
            <a:pPr algn="ctr" indent="0" marL="0">
              <a:buNone/>
            </a:pPr>
            <a:r>
              <a:rPr lang="en-US" sz="1100" dirty="0">
                <a:solidFill>
                  <a:srgbClr val="14110D"/>
                </a:solidFill>
                <a:latin typeface="Calibri" pitchFamily="34" charset="0"/>
                <a:ea typeface="Calibri" pitchFamily="34" charset="-122"/>
                <a:cs typeface="Calibri" pitchFamily="34" charset="-120"/>
              </a:rPr>
              <a:t>Replay</a:t>
            </a:r>
            <a:endParaRPr lang="en-US" sz="1100" dirty="0"/>
          </a:p>
        </p:txBody>
      </p:sp>
      <p:sp>
        <p:nvSpPr>
          <p:cNvPr id="104" name="Text 102"/>
          <p:cNvSpPr txBox="1"/>
          <p:nvPr/>
        </p:nvSpPr>
        <p:spPr>
          <a:xfrm>
            <a:off x="8985939" y="5486400"/>
            <a:ext cx="1336330" cy="347472"/>
          </a:xfrm>
          <a:prstGeom prst="rect">
            <a:avLst/>
          </a:prstGeom>
          <a:solidFill>
            <a:srgbClr val="EFEBE2"/>
          </a:solidFill>
          <a:ln/>
        </p:spPr>
        <p:txBody>
          <a:bodyPr wrap="square" lIns="0" tIns="0" rIns="0" bIns="0" rtlCol="0" anchor="ctr"/>
          <a:lstStyle/>
          <a:p>
            <a:pPr algn="ctr" indent="0" marL="0">
              <a:buNone/>
            </a:pPr>
            <a:r>
              <a:rPr lang="en-US" sz="1100" dirty="0">
                <a:solidFill>
                  <a:srgbClr val="14110D"/>
                </a:solidFill>
                <a:latin typeface="Calibri" pitchFamily="34" charset="0"/>
                <a:ea typeface="Calibri" pitchFamily="34" charset="-122"/>
                <a:cs typeface="Calibri" pitchFamily="34" charset="-120"/>
              </a:rPr>
              <a:t>Evidence</a:t>
            </a:r>
            <a:endParaRPr lang="en-US" sz="1100" dirty="0"/>
          </a:p>
        </p:txBody>
      </p:sp>
      <p:sp>
        <p:nvSpPr>
          <p:cNvPr id="105" name="Text 103"/>
          <p:cNvSpPr txBox="1"/>
          <p:nvPr/>
        </p:nvSpPr>
        <p:spPr>
          <a:xfrm>
            <a:off x="10395422" y="5486400"/>
            <a:ext cx="1336330" cy="347472"/>
          </a:xfrm>
          <a:prstGeom prst="rect">
            <a:avLst/>
          </a:prstGeom>
          <a:solidFill>
            <a:srgbClr val="EFEBE2"/>
          </a:solidFill>
          <a:ln/>
        </p:spPr>
        <p:txBody>
          <a:bodyPr wrap="square" lIns="0" tIns="0" rIns="0" bIns="0" rtlCol="0" anchor="ctr"/>
          <a:lstStyle/>
          <a:p>
            <a:pPr algn="ctr" indent="0" marL="0">
              <a:buNone/>
            </a:pPr>
            <a:r>
              <a:rPr lang="en-US" sz="1100" dirty="0">
                <a:solidFill>
                  <a:srgbClr val="14110D"/>
                </a:solidFill>
                <a:latin typeface="Calibri" pitchFamily="34" charset="0"/>
                <a:ea typeface="Calibri" pitchFamily="34" charset="-122"/>
                <a:cs typeface="Calibri" pitchFamily="34" charset="-120"/>
              </a:rPr>
              <a:t>Settings</a:t>
            </a:r>
            <a:endParaRPr lang="en-US" sz="1100" dirty="0"/>
          </a:p>
        </p:txBody>
      </p:sp>
      <p:sp>
        <p:nvSpPr>
          <p:cNvPr id="106" name="Text 104"/>
          <p:cNvSpPr txBox="1"/>
          <p:nvPr/>
        </p:nvSpPr>
        <p:spPr>
          <a:xfrm>
            <a:off x="1938528" y="5989320"/>
            <a:ext cx="9793224" cy="402336"/>
          </a:xfrm>
          <a:prstGeom prst="rect">
            <a:avLst/>
          </a:prstGeom>
          <a:noFill/>
          <a:ln/>
        </p:spPr>
        <p:txBody>
          <a:bodyPr wrap="square" lIns="0" tIns="0" rIns="0" bIns="0" rtlCol="0" anchor="ctr"/>
          <a:lstStyle/>
          <a:p>
            <a:pPr indent="0" marL="0">
              <a:lnSpc>
                <a:spcPts val="1200"/>
              </a:lnSpc>
              <a:buNone/>
            </a:pPr>
            <a:r>
              <a:rPr lang="en-US" sz="950" dirty="0">
                <a:solidFill>
                  <a:srgbClr val="6B6459"/>
                </a:solidFill>
                <a:latin typeface="Calibri" pitchFamily="34" charset="0"/>
                <a:ea typeface="Calibri" pitchFamily="34" charset="-122"/>
                <a:cs typeface="Calibri" pitchFamily="34" charset="-120"/>
              </a:rPr>
              <a:t>◂ moved down a layer from the submitted design.   Removed and not built: the reconciler (2.5), the scenario engine, the assistant, the stress harness — and with attribution and replay moved down, LAYER 4 · INTELLIGENCE no longer exists as a layer. Redis became an in-process cache, Postgres became SQLite, MLflow became one JSON file the API can only read.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ARCHITECTURE · THE SPLIT THAT MAKES IT FAST</a:t>
            </a:r>
            <a:endParaRPr lang="en-US" sz="1100" dirty="0"/>
          </a:p>
        </p:txBody>
      </p:sp>
      <p:sp>
        <p:nvSpPr>
          <p:cNvPr id="3" name="Text 1"/>
          <p:cNvSpPr txBox="1"/>
          <p:nvPr/>
        </p:nvSpPr>
        <p:spPr>
          <a:xfrm>
            <a:off x="777240" y="868680"/>
            <a:ext cx="10637215" cy="731520"/>
          </a:xfrm>
          <a:prstGeom prst="rect">
            <a:avLst/>
          </a:prstGeom>
          <a:noFill/>
          <a:ln/>
        </p:spPr>
        <p:txBody>
          <a:bodyPr wrap="square" lIns="0" tIns="0" rIns="0" bIns="0" rtlCol="0" anchor="ctr"/>
          <a:lstStyle/>
          <a:p>
            <a:pPr indent="0" marL="0">
              <a:lnSpc>
                <a:spcPts val="4032"/>
              </a:lnSpc>
              <a:buNone/>
            </a:pPr>
            <a:r>
              <a:rPr lang="en-US" sz="3600" dirty="0">
                <a:solidFill>
                  <a:srgbClr val="14110D"/>
                </a:solidFill>
                <a:latin typeface="Cambria" pitchFamily="34" charset="0"/>
                <a:ea typeface="Cambria" pitchFamily="34" charset="-122"/>
                <a:cs typeface="Cambria" pitchFamily="34" charset="-120"/>
              </a:rPr>
              <a:t>No model runs inside a request.</a:t>
            </a:r>
            <a:endParaRPr lang="en-US" sz="3600" dirty="0"/>
          </a:p>
        </p:txBody>
      </p:sp>
      <p:sp>
        <p:nvSpPr>
          <p:cNvPr id="4" name="Text 2"/>
          <p:cNvSpPr txBox="1"/>
          <p:nvPr/>
        </p:nvSpPr>
        <p:spPr>
          <a:xfrm>
            <a:off x="777240" y="2148840"/>
            <a:ext cx="10424160" cy="548640"/>
          </a:xfrm>
          <a:prstGeom prst="rect">
            <a:avLst/>
          </a:prstGeom>
          <a:noFill/>
          <a:ln/>
        </p:spPr>
        <p:txBody>
          <a:bodyPr wrap="square" lIns="0" tIns="0" rIns="0" bIns="0" rtlCol="0" anchor="ctr"/>
          <a:lstStyle/>
          <a:p>
            <a:pPr indent="0" marL="0">
              <a:lnSpc>
                <a:spcPts val="2000"/>
              </a:lnSpc>
              <a:buNone/>
            </a:pPr>
            <a:r>
              <a:rPr lang="en-US" sz="1400" dirty="0">
                <a:solidFill>
                  <a:srgbClr val="3B362F"/>
                </a:solidFill>
                <a:latin typeface="Calibri" pitchFamily="34" charset="0"/>
                <a:ea typeface="Calibri" pitchFamily="34" charset="-122"/>
                <a:cs typeface="Calibri" pitchFamily="34" charset="-120"/>
              </a:rPr>
              <a:t>Everything expensive happens in a batch that writes a versioned forecast store. Everything a screen does is a read. The two halves are joined by a single pointer file, written last — so a reader is never caught mid-publish.</a:t>
            </a:r>
            <a:endParaRPr lang="en-US" sz="1400" dirty="0"/>
          </a:p>
        </p:txBody>
      </p:sp>
      <p:sp>
        <p:nvSpPr>
          <p:cNvPr id="5" name="Shape 3"/>
          <p:cNvSpPr/>
          <p:nvPr/>
        </p:nvSpPr>
        <p:spPr>
          <a:xfrm>
            <a:off x="777240" y="2834640"/>
            <a:ext cx="4983480" cy="2468880"/>
          </a:xfrm>
          <a:prstGeom prst="rect">
            <a:avLst/>
          </a:prstGeom>
          <a:solidFill>
            <a:srgbClr val="FCFAF6"/>
          </a:solidFill>
          <a:ln w="12700">
            <a:solidFill>
              <a:srgbClr val="E4DFD5"/>
            </a:solidFill>
            <a:prstDash val="solid"/>
          </a:ln>
        </p:spPr>
      </p:sp>
      <p:sp>
        <p:nvSpPr>
          <p:cNvPr id="6" name="Text 4"/>
          <p:cNvSpPr txBox="1"/>
          <p:nvPr/>
        </p:nvSpPr>
        <p:spPr>
          <a:xfrm>
            <a:off x="1051560" y="3017520"/>
            <a:ext cx="4480560" cy="274320"/>
          </a:xfrm>
          <a:prstGeom prst="rect">
            <a:avLst/>
          </a:prstGeom>
          <a:noFill/>
          <a:ln/>
        </p:spPr>
        <p:txBody>
          <a:bodyPr wrap="square" lIns="0" tIns="0" rIns="0" bIns="0" rtlCol="0" anchor="ctr"/>
          <a:lstStyle/>
          <a:p>
            <a:pPr indent="0" marL="0">
              <a:buNone/>
            </a:pPr>
            <a:r>
              <a:rPr lang="en-US" sz="1100" b="1" spc="160" kern="0" dirty="0">
                <a:solidFill>
                  <a:srgbClr val="1F5D42"/>
                </a:solidFill>
                <a:latin typeface="Courier New" pitchFamily="34" charset="0"/>
                <a:ea typeface="Courier New" pitchFamily="34" charset="-122"/>
                <a:cs typeface="Courier New" pitchFamily="34" charset="-120"/>
              </a:rPr>
              <a:t>BATCH · minutes, offline</a:t>
            </a:r>
            <a:endParaRPr lang="en-US" sz="1100" dirty="0"/>
          </a:p>
        </p:txBody>
      </p:sp>
      <p:sp>
        <p:nvSpPr>
          <p:cNvPr id="7" name="Text 5"/>
          <p:cNvSpPr txBox="1"/>
          <p:nvPr/>
        </p:nvSpPr>
        <p:spPr>
          <a:xfrm>
            <a:off x="1051560" y="3429000"/>
            <a:ext cx="274320" cy="274320"/>
          </a:xfrm>
          <a:prstGeom prst="rect">
            <a:avLst/>
          </a:prstGeom>
          <a:noFill/>
          <a:ln/>
        </p:spPr>
        <p:txBody>
          <a:bodyPr wrap="square" lIns="0" tIns="0" rIns="0" bIns="0" rtlCol="0" anchor="ctr"/>
          <a:lstStyle/>
          <a:p>
            <a:pPr indent="0" marL="0">
              <a:buNone/>
            </a:pPr>
            <a:r>
              <a:rPr lang="en-US" sz="1100" dirty="0">
                <a:solidFill>
                  <a:srgbClr val="9A9287"/>
                </a:solidFill>
                <a:latin typeface="Courier New" pitchFamily="34" charset="0"/>
                <a:ea typeface="Courier New" pitchFamily="34" charset="-122"/>
                <a:cs typeface="Courier New" pitchFamily="34" charset="-120"/>
              </a:rPr>
              <a:t>1</a:t>
            </a:r>
            <a:endParaRPr lang="en-US" sz="1100" dirty="0"/>
          </a:p>
        </p:txBody>
      </p:sp>
      <p:sp>
        <p:nvSpPr>
          <p:cNvPr id="8" name="Text 6"/>
          <p:cNvSpPr txBox="1"/>
          <p:nvPr/>
        </p:nvSpPr>
        <p:spPr>
          <a:xfrm>
            <a:off x="1380744" y="3429000"/>
            <a:ext cx="4160520" cy="274320"/>
          </a:xfrm>
          <a:prstGeom prst="rect">
            <a:avLst/>
          </a:prstGeom>
          <a:noFill/>
          <a:ln/>
        </p:spPr>
        <p:txBody>
          <a:bodyPr wrap="square" lIns="0" tIns="0" rIns="0" bIns="0" rtlCol="0" anchor="ctr"/>
          <a:lstStyle/>
          <a:p>
            <a:pPr indent="0" marL="0">
              <a:buNone/>
            </a:pPr>
            <a:r>
              <a:rPr lang="en-US" sz="1250" dirty="0">
                <a:solidFill>
                  <a:srgbClr val="3B362F"/>
                </a:solidFill>
                <a:latin typeface="Calibri" pitchFamily="34" charset="0"/>
                <a:ea typeface="Calibri" pitchFamily="34" charset="-122"/>
                <a:cs typeface="Calibri" pitchFamily="34" charset="-120"/>
              </a:rPr>
              <a:t>ingest 2,106 days, validate, derive grains</a:t>
            </a:r>
            <a:endParaRPr lang="en-US" sz="1250" dirty="0"/>
          </a:p>
        </p:txBody>
      </p:sp>
      <p:sp>
        <p:nvSpPr>
          <p:cNvPr id="9" name="Text 7"/>
          <p:cNvSpPr txBox="1"/>
          <p:nvPr/>
        </p:nvSpPr>
        <p:spPr>
          <a:xfrm>
            <a:off x="1051560" y="3813048"/>
            <a:ext cx="274320" cy="274320"/>
          </a:xfrm>
          <a:prstGeom prst="rect">
            <a:avLst/>
          </a:prstGeom>
          <a:noFill/>
          <a:ln/>
        </p:spPr>
        <p:txBody>
          <a:bodyPr wrap="square" lIns="0" tIns="0" rIns="0" bIns="0" rtlCol="0" anchor="ctr"/>
          <a:lstStyle/>
          <a:p>
            <a:pPr indent="0" marL="0">
              <a:buNone/>
            </a:pPr>
            <a:r>
              <a:rPr lang="en-US" sz="1100" dirty="0">
                <a:solidFill>
                  <a:srgbClr val="9A9287"/>
                </a:solidFill>
                <a:latin typeface="Courier New" pitchFamily="34" charset="0"/>
                <a:ea typeface="Courier New" pitchFamily="34" charset="-122"/>
                <a:cs typeface="Courier New" pitchFamily="34" charset="-120"/>
              </a:rPr>
              <a:t>2</a:t>
            </a:r>
            <a:endParaRPr lang="en-US" sz="1100" dirty="0"/>
          </a:p>
        </p:txBody>
      </p:sp>
      <p:sp>
        <p:nvSpPr>
          <p:cNvPr id="10" name="Text 8"/>
          <p:cNvSpPr txBox="1"/>
          <p:nvPr/>
        </p:nvSpPr>
        <p:spPr>
          <a:xfrm>
            <a:off x="1380744" y="3813048"/>
            <a:ext cx="4160520" cy="274320"/>
          </a:xfrm>
          <a:prstGeom prst="rect">
            <a:avLst/>
          </a:prstGeom>
          <a:noFill/>
          <a:ln/>
        </p:spPr>
        <p:txBody>
          <a:bodyPr wrap="square" lIns="0" tIns="0" rIns="0" bIns="0" rtlCol="0" anchor="ctr"/>
          <a:lstStyle/>
          <a:p>
            <a:pPr indent="0" marL="0">
              <a:buNone/>
            </a:pPr>
            <a:r>
              <a:rPr lang="en-US" sz="1250" dirty="0">
                <a:solidFill>
                  <a:srgbClr val="3B362F"/>
                </a:solidFill>
                <a:latin typeface="Calibri" pitchFamily="34" charset="0"/>
                <a:ea typeface="Calibri" pitchFamily="34" charset="-122"/>
                <a:cs typeface="Calibri" pitchFamily="34" charset="-120"/>
              </a:rPr>
              <a:t>fit 11 models across 3 grains</a:t>
            </a:r>
            <a:endParaRPr lang="en-US" sz="1250" dirty="0"/>
          </a:p>
        </p:txBody>
      </p:sp>
      <p:sp>
        <p:nvSpPr>
          <p:cNvPr id="11" name="Text 9"/>
          <p:cNvSpPr txBox="1"/>
          <p:nvPr/>
        </p:nvSpPr>
        <p:spPr>
          <a:xfrm>
            <a:off x="1051560" y="4197096"/>
            <a:ext cx="274320" cy="274320"/>
          </a:xfrm>
          <a:prstGeom prst="rect">
            <a:avLst/>
          </a:prstGeom>
          <a:noFill/>
          <a:ln/>
        </p:spPr>
        <p:txBody>
          <a:bodyPr wrap="square" lIns="0" tIns="0" rIns="0" bIns="0" rtlCol="0" anchor="ctr"/>
          <a:lstStyle/>
          <a:p>
            <a:pPr indent="0" marL="0">
              <a:buNone/>
            </a:pPr>
            <a:r>
              <a:rPr lang="en-US" sz="1100" dirty="0">
                <a:solidFill>
                  <a:srgbClr val="9A9287"/>
                </a:solidFill>
                <a:latin typeface="Courier New" pitchFamily="34" charset="0"/>
                <a:ea typeface="Courier New" pitchFamily="34" charset="-122"/>
                <a:cs typeface="Courier New" pitchFamily="34" charset="-120"/>
              </a:rPr>
              <a:t>3</a:t>
            </a:r>
            <a:endParaRPr lang="en-US" sz="1100" dirty="0"/>
          </a:p>
        </p:txBody>
      </p:sp>
      <p:sp>
        <p:nvSpPr>
          <p:cNvPr id="12" name="Text 10"/>
          <p:cNvSpPr txBox="1"/>
          <p:nvPr/>
        </p:nvSpPr>
        <p:spPr>
          <a:xfrm>
            <a:off x="1380744" y="4197096"/>
            <a:ext cx="4160520" cy="274320"/>
          </a:xfrm>
          <a:prstGeom prst="rect">
            <a:avLst/>
          </a:prstGeom>
          <a:noFill/>
          <a:ln/>
        </p:spPr>
        <p:txBody>
          <a:bodyPr wrap="square" lIns="0" tIns="0" rIns="0" bIns="0" rtlCol="0" anchor="ctr"/>
          <a:lstStyle/>
          <a:p>
            <a:pPr indent="0" marL="0">
              <a:buNone/>
            </a:pPr>
            <a:r>
              <a:rPr lang="en-US" sz="1250" dirty="0">
                <a:solidFill>
                  <a:srgbClr val="3B362F"/>
                </a:solidFill>
                <a:latin typeface="Calibri" pitchFamily="34" charset="0"/>
                <a:ea typeface="Calibri" pitchFamily="34" charset="-122"/>
                <a:cs typeface="Calibri" pitchFamily="34" charset="-120"/>
              </a:rPr>
              <a:t>combine by median, calibrate conformally</a:t>
            </a:r>
            <a:endParaRPr lang="en-US" sz="1250" dirty="0"/>
          </a:p>
        </p:txBody>
      </p:sp>
      <p:sp>
        <p:nvSpPr>
          <p:cNvPr id="13" name="Text 11"/>
          <p:cNvSpPr txBox="1"/>
          <p:nvPr/>
        </p:nvSpPr>
        <p:spPr>
          <a:xfrm>
            <a:off x="1051560" y="4581144"/>
            <a:ext cx="274320" cy="274320"/>
          </a:xfrm>
          <a:prstGeom prst="rect">
            <a:avLst/>
          </a:prstGeom>
          <a:noFill/>
          <a:ln/>
        </p:spPr>
        <p:txBody>
          <a:bodyPr wrap="square" lIns="0" tIns="0" rIns="0" bIns="0" rtlCol="0" anchor="ctr"/>
          <a:lstStyle/>
          <a:p>
            <a:pPr indent="0" marL="0">
              <a:buNone/>
            </a:pPr>
            <a:r>
              <a:rPr lang="en-US" sz="1100" dirty="0">
                <a:solidFill>
                  <a:srgbClr val="9A9287"/>
                </a:solidFill>
                <a:latin typeface="Courier New" pitchFamily="34" charset="0"/>
                <a:ea typeface="Courier New" pitchFamily="34" charset="-122"/>
                <a:cs typeface="Courier New" pitchFamily="34" charset="-120"/>
              </a:rPr>
              <a:t>4</a:t>
            </a:r>
            <a:endParaRPr lang="en-US" sz="1100" dirty="0"/>
          </a:p>
        </p:txBody>
      </p:sp>
      <p:sp>
        <p:nvSpPr>
          <p:cNvPr id="14" name="Text 12"/>
          <p:cNvSpPr txBox="1"/>
          <p:nvPr/>
        </p:nvSpPr>
        <p:spPr>
          <a:xfrm>
            <a:off x="1380744" y="4581144"/>
            <a:ext cx="4160520" cy="274320"/>
          </a:xfrm>
          <a:prstGeom prst="rect">
            <a:avLst/>
          </a:prstGeom>
          <a:noFill/>
          <a:ln/>
        </p:spPr>
        <p:txBody>
          <a:bodyPr wrap="square" lIns="0" tIns="0" rIns="0" bIns="0" rtlCol="0" anchor="ctr"/>
          <a:lstStyle/>
          <a:p>
            <a:pPr indent="0" marL="0">
              <a:buNone/>
            </a:pPr>
            <a:r>
              <a:rPr lang="en-US" sz="1250" dirty="0">
                <a:solidFill>
                  <a:srgbClr val="3B362F"/>
                </a:solidFill>
                <a:latin typeface="Calibri" pitchFamily="34" charset="0"/>
                <a:ea typeface="Calibri" pitchFamily="34" charset="-122"/>
                <a:cs typeface="Calibri" pitchFamily="34" charset="-120"/>
              </a:rPr>
              <a:t>write a new version, then swap CURRENT</a:t>
            </a:r>
            <a:endParaRPr lang="en-US" sz="1250" dirty="0"/>
          </a:p>
        </p:txBody>
      </p:sp>
      <p:sp>
        <p:nvSpPr>
          <p:cNvPr id="15" name="Text 13"/>
          <p:cNvSpPr txBox="1"/>
          <p:nvPr/>
        </p:nvSpPr>
        <p:spPr>
          <a:xfrm>
            <a:off x="1051560" y="4974336"/>
            <a:ext cx="4480560" cy="256032"/>
          </a:xfrm>
          <a:prstGeom prst="rect">
            <a:avLst/>
          </a:prstGeom>
          <a:noFill/>
          <a:ln/>
        </p:spPr>
        <p:txBody>
          <a:bodyPr wrap="square" lIns="0" tIns="0" rIns="0" bIns="0" rtlCol="0" anchor="ctr"/>
          <a:lstStyle/>
          <a:p>
            <a:pPr indent="0" marL="0">
              <a:buNone/>
            </a:pPr>
            <a:r>
              <a:rPr lang="en-US" sz="1000" dirty="0">
                <a:solidFill>
                  <a:srgbClr val="9A9287"/>
                </a:solidFill>
                <a:latin typeface="Courier New" pitchFamily="34" charset="0"/>
                <a:ea typeface="Courier New" pitchFamily="34" charset="-122"/>
                <a:cs typeface="Courier New" pitchFamily="34" charset="-120"/>
              </a:rPr>
              <a:t>python -m pipelines.run_nightly --stage all</a:t>
            </a:r>
            <a:endParaRPr lang="en-US" sz="1000" dirty="0"/>
          </a:p>
        </p:txBody>
      </p:sp>
      <p:sp>
        <p:nvSpPr>
          <p:cNvPr id="16" name="Shape 14"/>
          <p:cNvSpPr/>
          <p:nvPr/>
        </p:nvSpPr>
        <p:spPr>
          <a:xfrm>
            <a:off x="6446520" y="2834640"/>
            <a:ext cx="4983480" cy="2468880"/>
          </a:xfrm>
          <a:prstGeom prst="rect">
            <a:avLst/>
          </a:prstGeom>
          <a:solidFill>
            <a:srgbClr val="FCFAF6"/>
          </a:solidFill>
          <a:ln w="12700">
            <a:solidFill>
              <a:srgbClr val="E4DFD5"/>
            </a:solidFill>
            <a:prstDash val="solid"/>
          </a:ln>
        </p:spPr>
      </p:sp>
      <p:sp>
        <p:nvSpPr>
          <p:cNvPr id="17" name="Text 15"/>
          <p:cNvSpPr txBox="1"/>
          <p:nvPr/>
        </p:nvSpPr>
        <p:spPr>
          <a:xfrm>
            <a:off x="6720840" y="3017520"/>
            <a:ext cx="4480560" cy="274320"/>
          </a:xfrm>
          <a:prstGeom prst="rect">
            <a:avLst/>
          </a:prstGeom>
          <a:noFill/>
          <a:ln/>
        </p:spPr>
        <p:txBody>
          <a:bodyPr wrap="square" lIns="0" tIns="0" rIns="0" bIns="0" rtlCol="0" anchor="ctr"/>
          <a:lstStyle/>
          <a:p>
            <a:pPr indent="0" marL="0">
              <a:buNone/>
            </a:pPr>
            <a:r>
              <a:rPr lang="en-US" sz="1100" b="1" spc="160" kern="0" dirty="0">
                <a:solidFill>
                  <a:srgbClr val="1C4E7A"/>
                </a:solidFill>
                <a:latin typeface="Courier New" pitchFamily="34" charset="0"/>
                <a:ea typeface="Courier New" pitchFamily="34" charset="-122"/>
                <a:cs typeface="Courier New" pitchFamily="34" charset="-120"/>
              </a:rPr>
              <a:t>SERVE · milliseconds, per request</a:t>
            </a:r>
            <a:endParaRPr lang="en-US" sz="1100" dirty="0"/>
          </a:p>
        </p:txBody>
      </p:sp>
      <p:sp>
        <p:nvSpPr>
          <p:cNvPr id="18" name="Text 16"/>
          <p:cNvSpPr txBox="1"/>
          <p:nvPr/>
        </p:nvSpPr>
        <p:spPr>
          <a:xfrm>
            <a:off x="6720840" y="3429000"/>
            <a:ext cx="274320" cy="274320"/>
          </a:xfrm>
          <a:prstGeom prst="rect">
            <a:avLst/>
          </a:prstGeom>
          <a:noFill/>
          <a:ln/>
        </p:spPr>
        <p:txBody>
          <a:bodyPr wrap="square" lIns="0" tIns="0" rIns="0" bIns="0" rtlCol="0" anchor="ctr"/>
          <a:lstStyle/>
          <a:p>
            <a:pPr indent="0" marL="0">
              <a:buNone/>
            </a:pPr>
            <a:r>
              <a:rPr lang="en-US" sz="1100" dirty="0">
                <a:solidFill>
                  <a:srgbClr val="9A9287"/>
                </a:solidFill>
                <a:latin typeface="Courier New" pitchFamily="34" charset="0"/>
                <a:ea typeface="Courier New" pitchFamily="34" charset="-122"/>
                <a:cs typeface="Courier New" pitchFamily="34" charset="-120"/>
              </a:rPr>
              <a:t>1</a:t>
            </a:r>
            <a:endParaRPr lang="en-US" sz="1100" dirty="0"/>
          </a:p>
        </p:txBody>
      </p:sp>
      <p:sp>
        <p:nvSpPr>
          <p:cNvPr id="19" name="Text 17"/>
          <p:cNvSpPr txBox="1"/>
          <p:nvPr/>
        </p:nvSpPr>
        <p:spPr>
          <a:xfrm>
            <a:off x="7050024" y="3429000"/>
            <a:ext cx="4160520" cy="274320"/>
          </a:xfrm>
          <a:prstGeom prst="rect">
            <a:avLst/>
          </a:prstGeom>
          <a:noFill/>
          <a:ln/>
        </p:spPr>
        <p:txBody>
          <a:bodyPr wrap="square" lIns="0" tIns="0" rIns="0" bIns="0" rtlCol="0" anchor="ctr"/>
          <a:lstStyle/>
          <a:p>
            <a:pPr indent="0" marL="0">
              <a:buNone/>
            </a:pPr>
            <a:r>
              <a:rPr lang="en-US" sz="1250" dirty="0">
                <a:solidFill>
                  <a:srgbClr val="3B362F"/>
                </a:solidFill>
                <a:latin typeface="Calibri" pitchFamily="34" charset="0"/>
                <a:ea typeface="Calibri" pitchFamily="34" charset="-122"/>
                <a:cs typeface="Calibri" pitchFamily="34" charset="-120"/>
              </a:rPr>
              <a:t>read the version CURRENT points at</a:t>
            </a:r>
            <a:endParaRPr lang="en-US" sz="1250" dirty="0"/>
          </a:p>
        </p:txBody>
      </p:sp>
      <p:sp>
        <p:nvSpPr>
          <p:cNvPr id="20" name="Text 18"/>
          <p:cNvSpPr txBox="1"/>
          <p:nvPr/>
        </p:nvSpPr>
        <p:spPr>
          <a:xfrm>
            <a:off x="6720840" y="3813048"/>
            <a:ext cx="274320" cy="274320"/>
          </a:xfrm>
          <a:prstGeom prst="rect">
            <a:avLst/>
          </a:prstGeom>
          <a:noFill/>
          <a:ln/>
        </p:spPr>
        <p:txBody>
          <a:bodyPr wrap="square" lIns="0" tIns="0" rIns="0" bIns="0" rtlCol="0" anchor="ctr"/>
          <a:lstStyle/>
          <a:p>
            <a:pPr indent="0" marL="0">
              <a:buNone/>
            </a:pPr>
            <a:r>
              <a:rPr lang="en-US" sz="1100" dirty="0">
                <a:solidFill>
                  <a:srgbClr val="9A9287"/>
                </a:solidFill>
                <a:latin typeface="Courier New" pitchFamily="34" charset="0"/>
                <a:ea typeface="Courier New" pitchFamily="34" charset="-122"/>
                <a:cs typeface="Courier New" pitchFamily="34" charset="-120"/>
              </a:rPr>
              <a:t>2</a:t>
            </a:r>
            <a:endParaRPr lang="en-US" sz="1100" dirty="0"/>
          </a:p>
        </p:txBody>
      </p:sp>
      <p:sp>
        <p:nvSpPr>
          <p:cNvPr id="21" name="Text 19"/>
          <p:cNvSpPr txBox="1"/>
          <p:nvPr/>
        </p:nvSpPr>
        <p:spPr>
          <a:xfrm>
            <a:off x="7050024" y="3813048"/>
            <a:ext cx="4160520" cy="274320"/>
          </a:xfrm>
          <a:prstGeom prst="rect">
            <a:avLst/>
          </a:prstGeom>
          <a:noFill/>
          <a:ln/>
        </p:spPr>
        <p:txBody>
          <a:bodyPr wrap="square" lIns="0" tIns="0" rIns="0" bIns="0" rtlCol="0" anchor="ctr"/>
          <a:lstStyle/>
          <a:p>
            <a:pPr indent="0" marL="0">
              <a:buNone/>
            </a:pPr>
            <a:r>
              <a:rPr lang="en-US" sz="1250" dirty="0">
                <a:solidFill>
                  <a:srgbClr val="3B362F"/>
                </a:solidFill>
                <a:latin typeface="Calibri" pitchFamily="34" charset="0"/>
                <a:ea typeface="Calibri" pitchFamily="34" charset="-122"/>
                <a:cs typeface="Calibri" pitchFamily="34" charset="-120"/>
              </a:rPr>
              <a:t>scale to the protection interval</a:t>
            </a:r>
            <a:endParaRPr lang="en-US" sz="1250" dirty="0"/>
          </a:p>
        </p:txBody>
      </p:sp>
      <p:sp>
        <p:nvSpPr>
          <p:cNvPr id="22" name="Text 20"/>
          <p:cNvSpPr txBox="1"/>
          <p:nvPr/>
        </p:nvSpPr>
        <p:spPr>
          <a:xfrm>
            <a:off x="6720840" y="4197096"/>
            <a:ext cx="274320" cy="274320"/>
          </a:xfrm>
          <a:prstGeom prst="rect">
            <a:avLst/>
          </a:prstGeom>
          <a:noFill/>
          <a:ln/>
        </p:spPr>
        <p:txBody>
          <a:bodyPr wrap="square" lIns="0" tIns="0" rIns="0" bIns="0" rtlCol="0" anchor="ctr"/>
          <a:lstStyle/>
          <a:p>
            <a:pPr indent="0" marL="0">
              <a:buNone/>
            </a:pPr>
            <a:r>
              <a:rPr lang="en-US" sz="1100" dirty="0">
                <a:solidFill>
                  <a:srgbClr val="9A9287"/>
                </a:solidFill>
                <a:latin typeface="Courier New" pitchFamily="34" charset="0"/>
                <a:ea typeface="Courier New" pitchFamily="34" charset="-122"/>
                <a:cs typeface="Courier New" pitchFamily="34" charset="-120"/>
              </a:rPr>
              <a:t>3</a:t>
            </a:r>
            <a:endParaRPr lang="en-US" sz="1100" dirty="0"/>
          </a:p>
        </p:txBody>
      </p:sp>
      <p:sp>
        <p:nvSpPr>
          <p:cNvPr id="23" name="Text 21"/>
          <p:cNvSpPr txBox="1"/>
          <p:nvPr/>
        </p:nvSpPr>
        <p:spPr>
          <a:xfrm>
            <a:off x="7050024" y="4197096"/>
            <a:ext cx="4160520" cy="274320"/>
          </a:xfrm>
          <a:prstGeom prst="rect">
            <a:avLst/>
          </a:prstGeom>
          <a:noFill/>
          <a:ln/>
        </p:spPr>
        <p:txBody>
          <a:bodyPr wrap="square" lIns="0" tIns="0" rIns="0" bIns="0" rtlCol="0" anchor="ctr"/>
          <a:lstStyle/>
          <a:p>
            <a:pPr indent="0" marL="0">
              <a:buNone/>
            </a:pPr>
            <a:r>
              <a:rPr lang="en-US" sz="1250" dirty="0">
                <a:solidFill>
                  <a:srgbClr val="3B362F"/>
                </a:solidFill>
                <a:latin typeface="Calibri" pitchFamily="34" charset="0"/>
                <a:ea typeface="Calibri" pitchFamily="34" charset="-122"/>
                <a:cs typeface="Calibri" pitchFamily="34" charset="-120"/>
              </a:rPr>
              <a:t>newsvendor fractile → order quantity</a:t>
            </a:r>
            <a:endParaRPr lang="en-US" sz="1250" dirty="0"/>
          </a:p>
        </p:txBody>
      </p:sp>
      <p:sp>
        <p:nvSpPr>
          <p:cNvPr id="24" name="Text 22"/>
          <p:cNvSpPr txBox="1"/>
          <p:nvPr/>
        </p:nvSpPr>
        <p:spPr>
          <a:xfrm>
            <a:off x="6720840" y="4581144"/>
            <a:ext cx="274320" cy="274320"/>
          </a:xfrm>
          <a:prstGeom prst="rect">
            <a:avLst/>
          </a:prstGeom>
          <a:noFill/>
          <a:ln/>
        </p:spPr>
        <p:txBody>
          <a:bodyPr wrap="square" lIns="0" tIns="0" rIns="0" bIns="0" rtlCol="0" anchor="ctr"/>
          <a:lstStyle/>
          <a:p>
            <a:pPr indent="0" marL="0">
              <a:buNone/>
            </a:pPr>
            <a:r>
              <a:rPr lang="en-US" sz="1100" dirty="0">
                <a:solidFill>
                  <a:srgbClr val="9A9287"/>
                </a:solidFill>
                <a:latin typeface="Courier New" pitchFamily="34" charset="0"/>
                <a:ea typeface="Courier New" pitchFamily="34" charset="-122"/>
                <a:cs typeface="Courier New" pitchFamily="34" charset="-120"/>
              </a:rPr>
              <a:t>4</a:t>
            </a:r>
            <a:endParaRPr lang="en-US" sz="1100" dirty="0"/>
          </a:p>
        </p:txBody>
      </p:sp>
      <p:sp>
        <p:nvSpPr>
          <p:cNvPr id="25" name="Text 23"/>
          <p:cNvSpPr txBox="1"/>
          <p:nvPr/>
        </p:nvSpPr>
        <p:spPr>
          <a:xfrm>
            <a:off x="7050024" y="4581144"/>
            <a:ext cx="4160520" cy="274320"/>
          </a:xfrm>
          <a:prstGeom prst="rect">
            <a:avLst/>
          </a:prstGeom>
          <a:noFill/>
          <a:ln/>
        </p:spPr>
        <p:txBody>
          <a:bodyPr wrap="square" lIns="0" tIns="0" rIns="0" bIns="0" rtlCol="0" anchor="ctr"/>
          <a:lstStyle/>
          <a:p>
            <a:pPr indent="0" marL="0">
              <a:buNone/>
            </a:pPr>
            <a:r>
              <a:rPr lang="en-US" sz="1250" dirty="0">
                <a:solidFill>
                  <a:srgbClr val="3B362F"/>
                </a:solidFill>
                <a:latin typeface="Calibri" pitchFamily="34" charset="0"/>
                <a:ea typeface="Calibri" pitchFamily="34" charset="-122"/>
                <a:cs typeface="Calibri" pitchFamily="34" charset="-120"/>
              </a:rPr>
              <a:t>wrap in the provenance envelope</a:t>
            </a:r>
            <a:endParaRPr lang="en-US" sz="1250" dirty="0"/>
          </a:p>
        </p:txBody>
      </p:sp>
      <p:sp>
        <p:nvSpPr>
          <p:cNvPr id="26" name="Text 24"/>
          <p:cNvSpPr txBox="1"/>
          <p:nvPr/>
        </p:nvSpPr>
        <p:spPr>
          <a:xfrm>
            <a:off x="6720840" y="4974336"/>
            <a:ext cx="4480560" cy="256032"/>
          </a:xfrm>
          <a:prstGeom prst="rect">
            <a:avLst/>
          </a:prstGeom>
          <a:noFill/>
          <a:ln/>
        </p:spPr>
        <p:txBody>
          <a:bodyPr wrap="square" lIns="0" tIns="0" rIns="0" bIns="0" rtlCol="0" anchor="ctr"/>
          <a:lstStyle/>
          <a:p>
            <a:pPr indent="0" marL="0">
              <a:buNone/>
            </a:pPr>
            <a:r>
              <a:rPr lang="en-US" sz="1000" dirty="0">
                <a:solidFill>
                  <a:srgbClr val="9A9287"/>
                </a:solidFill>
                <a:latin typeface="Courier New" pitchFamily="34" charset="0"/>
                <a:ea typeface="Courier New" pitchFamily="34" charset="-122"/>
                <a:cs typeface="Courier New" pitchFamily="34" charset="-120"/>
              </a:rPr>
              <a:t>uvicorn api.main:app --port 8000</a:t>
            </a:r>
            <a:endParaRPr lang="en-US" sz="1000" dirty="0"/>
          </a:p>
        </p:txBody>
      </p:sp>
      <p:sp>
        <p:nvSpPr>
          <p:cNvPr id="27" name="Text 25"/>
          <p:cNvSpPr txBox="1"/>
          <p:nvPr/>
        </p:nvSpPr>
        <p:spPr>
          <a:xfrm>
            <a:off x="5779008" y="3886200"/>
            <a:ext cx="658368" cy="365760"/>
          </a:xfrm>
          <a:prstGeom prst="rect">
            <a:avLst/>
          </a:prstGeom>
          <a:noFill/>
          <a:ln/>
        </p:spPr>
        <p:txBody>
          <a:bodyPr wrap="square" lIns="0" tIns="0" rIns="0" bIns="0" rtlCol="0" anchor="ctr"/>
          <a:lstStyle/>
          <a:p>
            <a:pPr algn="ctr" indent="0" marL="0">
              <a:buNone/>
            </a:pPr>
            <a:r>
              <a:rPr lang="en-US" sz="750" dirty="0">
                <a:solidFill>
                  <a:srgbClr val="6B6459"/>
                </a:solidFill>
                <a:latin typeface="Courier New" pitchFamily="34" charset="0"/>
                <a:ea typeface="Courier New" pitchFamily="34" charset="-122"/>
                <a:cs typeface="Courier New" pitchFamily="34" charset="-120"/>
              </a:rPr>
              <a:t>CURRENT</a:t>
            </a:r>
            <a:endParaRPr lang="en-US" sz="750" dirty="0"/>
          </a:p>
        </p:txBody>
      </p:sp>
      <p:sp>
        <p:nvSpPr>
          <p:cNvPr id="28" name="Text 26"/>
          <p:cNvSpPr txBox="1"/>
          <p:nvPr/>
        </p:nvSpPr>
        <p:spPr>
          <a:xfrm>
            <a:off x="777240" y="5577840"/>
            <a:ext cx="2011680" cy="237744"/>
          </a:xfrm>
          <a:prstGeom prst="rect">
            <a:avLst/>
          </a:prstGeom>
          <a:noFill/>
          <a:ln/>
        </p:spPr>
        <p:txBody>
          <a:bodyPr wrap="square" lIns="0" tIns="0" rIns="0" bIns="0" rtlCol="0" anchor="ctr"/>
          <a:lstStyle/>
          <a:p>
            <a:pPr indent="0" marL="0">
              <a:buNone/>
            </a:pPr>
            <a:r>
              <a:rPr lang="en-US" sz="950" spc="160" kern="0" dirty="0">
                <a:solidFill>
                  <a:srgbClr val="9A9287"/>
                </a:solidFill>
                <a:latin typeface="Courier New" pitchFamily="34" charset="0"/>
                <a:ea typeface="Courier New" pitchFamily="34" charset="-122"/>
                <a:cs typeface="Courier New" pitchFamily="34" charset="-120"/>
              </a:rPr>
              <a:t>DATA</a:t>
            </a:r>
            <a:endParaRPr lang="en-US" sz="950" dirty="0"/>
          </a:p>
        </p:txBody>
      </p:sp>
      <p:sp>
        <p:nvSpPr>
          <p:cNvPr id="29" name="Text 27"/>
          <p:cNvSpPr txBox="1"/>
          <p:nvPr/>
        </p:nvSpPr>
        <p:spPr>
          <a:xfrm>
            <a:off x="777240" y="5833872"/>
            <a:ext cx="2011680" cy="530352"/>
          </a:xfrm>
          <a:prstGeom prst="rect">
            <a:avLst/>
          </a:prstGeom>
          <a:noFill/>
          <a:ln/>
        </p:spPr>
        <p:txBody>
          <a:bodyPr wrap="square" lIns="0" tIns="0" rIns="0" bIns="0" rtlCol="0" anchor="ctr"/>
          <a:lstStyle/>
          <a:p>
            <a:pPr indent="0" marL="0">
              <a:lnSpc>
                <a:spcPts val="1400"/>
              </a:lnSpc>
              <a:buNone/>
            </a:pPr>
            <a:r>
              <a:rPr lang="en-US" sz="1100" dirty="0">
                <a:solidFill>
                  <a:srgbClr val="3B362F"/>
                </a:solidFill>
                <a:latin typeface="Calibri" pitchFamily="34" charset="0"/>
                <a:ea typeface="Calibri" pitchFamily="34" charset="-122"/>
                <a:cs typeface="Calibri" pitchFamily="34" charset="-120"/>
              </a:rPr>
              <a:t>pandas · DuckDB · Parquet · SQLite</a:t>
            </a:r>
            <a:endParaRPr lang="en-US" sz="1100" dirty="0"/>
          </a:p>
        </p:txBody>
      </p:sp>
      <p:sp>
        <p:nvSpPr>
          <p:cNvPr id="30" name="Text 28"/>
          <p:cNvSpPr txBox="1"/>
          <p:nvPr/>
        </p:nvSpPr>
        <p:spPr>
          <a:xfrm>
            <a:off x="2916936" y="5577840"/>
            <a:ext cx="2011680" cy="237744"/>
          </a:xfrm>
          <a:prstGeom prst="rect">
            <a:avLst/>
          </a:prstGeom>
          <a:noFill/>
          <a:ln/>
        </p:spPr>
        <p:txBody>
          <a:bodyPr wrap="square" lIns="0" tIns="0" rIns="0" bIns="0" rtlCol="0" anchor="ctr"/>
          <a:lstStyle/>
          <a:p>
            <a:pPr indent="0" marL="0">
              <a:buNone/>
            </a:pPr>
            <a:r>
              <a:rPr lang="en-US" sz="950" spc="160" kern="0" dirty="0">
                <a:solidFill>
                  <a:srgbClr val="9A9287"/>
                </a:solidFill>
                <a:latin typeface="Courier New" pitchFamily="34" charset="0"/>
                <a:ea typeface="Courier New" pitchFamily="34" charset="-122"/>
                <a:cs typeface="Courier New" pitchFamily="34" charset="-120"/>
              </a:rPr>
              <a:t>MODELS</a:t>
            </a:r>
            <a:endParaRPr lang="en-US" sz="950" dirty="0"/>
          </a:p>
        </p:txBody>
      </p:sp>
      <p:sp>
        <p:nvSpPr>
          <p:cNvPr id="31" name="Text 29"/>
          <p:cNvSpPr txBox="1"/>
          <p:nvPr/>
        </p:nvSpPr>
        <p:spPr>
          <a:xfrm>
            <a:off x="2916936" y="5833872"/>
            <a:ext cx="2011680" cy="530352"/>
          </a:xfrm>
          <a:prstGeom prst="rect">
            <a:avLst/>
          </a:prstGeom>
          <a:noFill/>
          <a:ln/>
        </p:spPr>
        <p:txBody>
          <a:bodyPr wrap="square" lIns="0" tIns="0" rIns="0" bIns="0" rtlCol="0" anchor="ctr"/>
          <a:lstStyle/>
          <a:p>
            <a:pPr indent="0" marL="0">
              <a:lnSpc>
                <a:spcPts val="1400"/>
              </a:lnSpc>
              <a:buNone/>
            </a:pPr>
            <a:r>
              <a:rPr lang="en-US" sz="1100" dirty="0">
                <a:solidFill>
                  <a:srgbClr val="3B362F"/>
                </a:solidFill>
                <a:latin typeface="Calibri" pitchFamily="34" charset="0"/>
                <a:ea typeface="Calibri" pitchFamily="34" charset="-122"/>
                <a:cs typeface="Calibri" pitchFamily="34" charset="-120"/>
              </a:rPr>
              <a:t>statsforecast · mlforecast · LightGBM · Prophet</a:t>
            </a:r>
            <a:endParaRPr lang="en-US" sz="1100" dirty="0"/>
          </a:p>
        </p:txBody>
      </p:sp>
      <p:sp>
        <p:nvSpPr>
          <p:cNvPr id="32" name="Text 30"/>
          <p:cNvSpPr txBox="1"/>
          <p:nvPr/>
        </p:nvSpPr>
        <p:spPr>
          <a:xfrm>
            <a:off x="5056632" y="5577840"/>
            <a:ext cx="2011680" cy="237744"/>
          </a:xfrm>
          <a:prstGeom prst="rect">
            <a:avLst/>
          </a:prstGeom>
          <a:noFill/>
          <a:ln/>
        </p:spPr>
        <p:txBody>
          <a:bodyPr wrap="square" lIns="0" tIns="0" rIns="0" bIns="0" rtlCol="0" anchor="ctr"/>
          <a:lstStyle/>
          <a:p>
            <a:pPr indent="0" marL="0">
              <a:buNone/>
            </a:pPr>
            <a:r>
              <a:rPr lang="en-US" sz="950" spc="160" kern="0" dirty="0">
                <a:solidFill>
                  <a:srgbClr val="9A9287"/>
                </a:solidFill>
                <a:latin typeface="Courier New" pitchFamily="34" charset="0"/>
                <a:ea typeface="Courier New" pitchFamily="34" charset="-122"/>
                <a:cs typeface="Courier New" pitchFamily="34" charset="-120"/>
              </a:rPr>
              <a:t>SERVICE</a:t>
            </a:r>
            <a:endParaRPr lang="en-US" sz="950" dirty="0"/>
          </a:p>
        </p:txBody>
      </p:sp>
      <p:sp>
        <p:nvSpPr>
          <p:cNvPr id="33" name="Text 31"/>
          <p:cNvSpPr txBox="1"/>
          <p:nvPr/>
        </p:nvSpPr>
        <p:spPr>
          <a:xfrm>
            <a:off x="5056632" y="5833872"/>
            <a:ext cx="2011680" cy="530352"/>
          </a:xfrm>
          <a:prstGeom prst="rect">
            <a:avLst/>
          </a:prstGeom>
          <a:noFill/>
          <a:ln/>
        </p:spPr>
        <p:txBody>
          <a:bodyPr wrap="square" lIns="0" tIns="0" rIns="0" bIns="0" rtlCol="0" anchor="ctr"/>
          <a:lstStyle/>
          <a:p>
            <a:pPr indent="0" marL="0">
              <a:lnSpc>
                <a:spcPts val="1400"/>
              </a:lnSpc>
              <a:buNone/>
            </a:pPr>
            <a:r>
              <a:rPr lang="en-US" sz="1100" dirty="0">
                <a:solidFill>
                  <a:srgbClr val="3B362F"/>
                </a:solidFill>
                <a:latin typeface="Calibri" pitchFamily="34" charset="0"/>
                <a:ea typeface="Calibri" pitchFamily="34" charset="-122"/>
                <a:cs typeface="Calibri" pitchFamily="34" charset="-120"/>
              </a:rPr>
              <a:t>FastAPI · Pydantic v2</a:t>
            </a:r>
            <a:endParaRPr lang="en-US" sz="1100" dirty="0"/>
          </a:p>
        </p:txBody>
      </p:sp>
      <p:sp>
        <p:nvSpPr>
          <p:cNvPr id="34" name="Text 32"/>
          <p:cNvSpPr txBox="1"/>
          <p:nvPr/>
        </p:nvSpPr>
        <p:spPr>
          <a:xfrm>
            <a:off x="7196328" y="5577840"/>
            <a:ext cx="2011680" cy="237744"/>
          </a:xfrm>
          <a:prstGeom prst="rect">
            <a:avLst/>
          </a:prstGeom>
          <a:noFill/>
          <a:ln/>
        </p:spPr>
        <p:txBody>
          <a:bodyPr wrap="square" lIns="0" tIns="0" rIns="0" bIns="0" rtlCol="0" anchor="ctr"/>
          <a:lstStyle/>
          <a:p>
            <a:pPr indent="0" marL="0">
              <a:buNone/>
            </a:pPr>
            <a:r>
              <a:rPr lang="en-US" sz="950" spc="160" kern="0" dirty="0">
                <a:solidFill>
                  <a:srgbClr val="9A9287"/>
                </a:solidFill>
                <a:latin typeface="Courier New" pitchFamily="34" charset="0"/>
                <a:ea typeface="Courier New" pitchFamily="34" charset="-122"/>
                <a:cs typeface="Courier New" pitchFamily="34" charset="-120"/>
              </a:rPr>
              <a:t>PRODUCT</a:t>
            </a:r>
            <a:endParaRPr lang="en-US" sz="950" dirty="0"/>
          </a:p>
        </p:txBody>
      </p:sp>
      <p:sp>
        <p:nvSpPr>
          <p:cNvPr id="35" name="Text 33"/>
          <p:cNvSpPr txBox="1"/>
          <p:nvPr/>
        </p:nvSpPr>
        <p:spPr>
          <a:xfrm>
            <a:off x="7196328" y="5833872"/>
            <a:ext cx="2011680" cy="530352"/>
          </a:xfrm>
          <a:prstGeom prst="rect">
            <a:avLst/>
          </a:prstGeom>
          <a:noFill/>
          <a:ln/>
        </p:spPr>
        <p:txBody>
          <a:bodyPr wrap="square" lIns="0" tIns="0" rIns="0" bIns="0" rtlCol="0" anchor="ctr"/>
          <a:lstStyle/>
          <a:p>
            <a:pPr indent="0" marL="0">
              <a:lnSpc>
                <a:spcPts val="1400"/>
              </a:lnSpc>
              <a:buNone/>
            </a:pPr>
            <a:r>
              <a:rPr lang="en-US" sz="1100" dirty="0">
                <a:solidFill>
                  <a:srgbClr val="3B362F"/>
                </a:solidFill>
                <a:latin typeface="Calibri" pitchFamily="34" charset="0"/>
                <a:ea typeface="Calibri" pitchFamily="34" charset="-122"/>
                <a:cs typeface="Calibri" pitchFamily="34" charset="-120"/>
              </a:rPr>
              <a:t>React 18 · TypeScript · Vite · Tailwind</a:t>
            </a:r>
            <a:endParaRPr lang="en-US" sz="1100" dirty="0"/>
          </a:p>
        </p:txBody>
      </p:sp>
      <p:sp>
        <p:nvSpPr>
          <p:cNvPr id="36" name="Text 34"/>
          <p:cNvSpPr txBox="1"/>
          <p:nvPr/>
        </p:nvSpPr>
        <p:spPr>
          <a:xfrm>
            <a:off x="9336024" y="5577840"/>
            <a:ext cx="2011680" cy="237744"/>
          </a:xfrm>
          <a:prstGeom prst="rect">
            <a:avLst/>
          </a:prstGeom>
          <a:noFill/>
          <a:ln/>
        </p:spPr>
        <p:txBody>
          <a:bodyPr wrap="square" lIns="0" tIns="0" rIns="0" bIns="0" rtlCol="0" anchor="ctr"/>
          <a:lstStyle/>
          <a:p>
            <a:pPr indent="0" marL="0">
              <a:buNone/>
            </a:pPr>
            <a:r>
              <a:rPr lang="en-US" sz="950" spc="160" kern="0" dirty="0">
                <a:solidFill>
                  <a:srgbClr val="9A9287"/>
                </a:solidFill>
                <a:latin typeface="Courier New" pitchFamily="34" charset="0"/>
                <a:ea typeface="Courier New" pitchFamily="34" charset="-122"/>
                <a:cs typeface="Courier New" pitchFamily="34" charset="-120"/>
              </a:rPr>
              <a:t>SHIP</a:t>
            </a:r>
            <a:endParaRPr lang="en-US" sz="950" dirty="0"/>
          </a:p>
        </p:txBody>
      </p:sp>
      <p:sp>
        <p:nvSpPr>
          <p:cNvPr id="37" name="Text 35"/>
          <p:cNvSpPr txBox="1"/>
          <p:nvPr/>
        </p:nvSpPr>
        <p:spPr>
          <a:xfrm>
            <a:off x="9336024" y="5833872"/>
            <a:ext cx="2011680" cy="530352"/>
          </a:xfrm>
          <a:prstGeom prst="rect">
            <a:avLst/>
          </a:prstGeom>
          <a:noFill/>
          <a:ln/>
        </p:spPr>
        <p:txBody>
          <a:bodyPr wrap="square" lIns="0" tIns="0" rIns="0" bIns="0" rtlCol="0" anchor="ctr"/>
          <a:lstStyle/>
          <a:p>
            <a:pPr indent="0" marL="0">
              <a:lnSpc>
                <a:spcPts val="1400"/>
              </a:lnSpc>
              <a:buNone/>
            </a:pPr>
            <a:r>
              <a:rPr lang="en-US" sz="1100" dirty="0">
                <a:solidFill>
                  <a:srgbClr val="3B362F"/>
                </a:solidFill>
                <a:latin typeface="Calibri" pitchFamily="34" charset="0"/>
                <a:ea typeface="Calibri" pitchFamily="34" charset="-122"/>
                <a:cs typeface="Calibri" pitchFamily="34" charset="-120"/>
              </a:rPr>
              <a:t>Docker Compose · GitHub Actions · ruff · pytest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WHAT WE MEASURED BEFORE DESIGNING ANYTHING</a:t>
            </a:r>
            <a:endParaRPr lang="en-US" sz="1100" dirty="0"/>
          </a:p>
        </p:txBody>
      </p:sp>
      <p:sp>
        <p:nvSpPr>
          <p:cNvPr id="3" name="Text 1"/>
          <p:cNvSpPr txBox="1"/>
          <p:nvPr/>
        </p:nvSpPr>
        <p:spPr>
          <a:xfrm>
            <a:off x="777240" y="868680"/>
            <a:ext cx="10637215" cy="1600200"/>
          </a:xfrm>
          <a:prstGeom prst="rect">
            <a:avLst/>
          </a:prstGeom>
          <a:noFill/>
          <a:ln/>
        </p:spPr>
        <p:txBody>
          <a:bodyPr wrap="square" lIns="0" tIns="0" rIns="0" bIns="0" rtlCol="0" anchor="ctr"/>
          <a:lstStyle/>
          <a:p>
            <a:pPr indent="0" marL="0">
              <a:lnSpc>
                <a:spcPts val="4032"/>
              </a:lnSpc>
              <a:buNone/>
            </a:pPr>
            <a:r>
              <a:rPr lang="en-US" sz="3600" dirty="0">
                <a:solidFill>
                  <a:srgbClr val="14110D"/>
                </a:solidFill>
                <a:latin typeface="Cambria" pitchFamily="34" charset="0"/>
                <a:ea typeface="Cambria" pitchFamily="34" charset="-122"/>
                <a:cs typeface="Cambria" pitchFamily="34" charset="-120"/>
              </a:rPr>
              <a:t>Six properties of the file</a:t>
            </a:r>
            <a:endParaRPr lang="en-US" sz="3600" dirty="0"/>
          </a:p>
          <a:p>
            <a:pPr indent="0" marL="0">
              <a:lnSpc>
                <a:spcPts val="4032"/>
              </a:lnSpc>
              <a:buNone/>
            </a:pPr>
            <a:r>
              <a:rPr lang="en-US" sz="3600" dirty="0">
                <a:solidFill>
                  <a:srgbClr val="14110D"/>
                </a:solidFill>
                <a:latin typeface="Cambria" pitchFamily="34" charset="0"/>
                <a:ea typeface="Cambria" pitchFamily="34" charset="-122"/>
                <a:cs typeface="Cambria" pitchFamily="34" charset="-120"/>
              </a:rPr>
              <a:t>that drove every design decision.</a:t>
            </a:r>
            <a:endParaRPr lang="en-US" sz="3600" dirty="0"/>
          </a:p>
        </p:txBody>
      </p:sp>
      <p:sp>
        <p:nvSpPr>
          <p:cNvPr id="4" name="Text 2"/>
          <p:cNvSpPr txBox="1"/>
          <p:nvPr/>
        </p:nvSpPr>
        <p:spPr>
          <a:xfrm>
            <a:off x="777240" y="2578608"/>
            <a:ext cx="457200" cy="320040"/>
          </a:xfrm>
          <a:prstGeom prst="rect">
            <a:avLst/>
          </a:prstGeom>
          <a:noFill/>
          <a:ln/>
        </p:spPr>
        <p:txBody>
          <a:bodyPr wrap="square" lIns="0" tIns="0" rIns="0" bIns="0" rtlCol="0" anchor="ctr"/>
          <a:lstStyle/>
          <a:p>
            <a:pPr indent="0" marL="0">
              <a:buNone/>
            </a:pPr>
            <a:r>
              <a:rPr lang="en-US" sz="1500" b="1" dirty="0">
                <a:solidFill>
                  <a:srgbClr val="A32E22"/>
                </a:solidFill>
                <a:latin typeface="Courier New" pitchFamily="34" charset="0"/>
                <a:ea typeface="Courier New" pitchFamily="34" charset="-122"/>
                <a:cs typeface="Courier New" pitchFamily="34" charset="-120"/>
              </a:rPr>
              <a:t>01</a:t>
            </a:r>
            <a:endParaRPr lang="en-US" sz="1500" dirty="0"/>
          </a:p>
        </p:txBody>
      </p:sp>
      <p:sp>
        <p:nvSpPr>
          <p:cNvPr id="5" name="Text 3"/>
          <p:cNvSpPr txBox="1"/>
          <p:nvPr/>
        </p:nvSpPr>
        <p:spPr>
          <a:xfrm>
            <a:off x="1325880" y="2578608"/>
            <a:ext cx="4434840" cy="320040"/>
          </a:xfrm>
          <a:prstGeom prst="rect">
            <a:avLst/>
          </a:prstGeom>
          <a:noFill/>
          <a:ln/>
        </p:spPr>
        <p:txBody>
          <a:bodyPr wrap="square" lIns="0" tIns="0" rIns="0" bIns="0" rtlCol="0" anchor="ctr"/>
          <a:lstStyle/>
          <a:p>
            <a:pPr indent="0" marL="0">
              <a:buNone/>
            </a:pPr>
            <a:r>
              <a:rPr lang="en-US" sz="1400" b="1" dirty="0">
                <a:solidFill>
                  <a:srgbClr val="14110D"/>
                </a:solidFill>
                <a:latin typeface="Calibri" pitchFamily="34" charset="0"/>
                <a:ea typeface="Calibri" pitchFamily="34" charset="-122"/>
                <a:cs typeface="Calibri" pitchFamily="34" charset="-120"/>
              </a:rPr>
              <a:t>The supplied monthly file is corrupt</a:t>
            </a:r>
            <a:endParaRPr lang="en-US" sz="1400" dirty="0"/>
          </a:p>
        </p:txBody>
      </p:sp>
      <p:sp>
        <p:nvSpPr>
          <p:cNvPr id="6" name="Text 4"/>
          <p:cNvSpPr txBox="1"/>
          <p:nvPr/>
        </p:nvSpPr>
        <p:spPr>
          <a:xfrm>
            <a:off x="1325880" y="2907792"/>
            <a:ext cx="4434840" cy="676656"/>
          </a:xfrm>
          <a:prstGeom prst="rect">
            <a:avLst/>
          </a:prstGeom>
          <a:noFill/>
          <a:ln/>
        </p:spPr>
        <p:txBody>
          <a:bodyPr wrap="square" lIns="0" tIns="0" rIns="0" bIns="0" rtlCol="0" anchor="ctr"/>
          <a:lstStyle/>
          <a:p>
            <a:pPr indent="0" marL="0">
              <a:lnSpc>
                <a:spcPts val="1500"/>
              </a:lnSpc>
              <a:buNone/>
            </a:pPr>
            <a:r>
              <a:rPr lang="en-US" sz="1150" dirty="0">
                <a:solidFill>
                  <a:srgbClr val="6B6459"/>
                </a:solidFill>
                <a:latin typeface="Calibri" pitchFamily="34" charset="0"/>
                <a:ea typeface="Calibri" pitchFamily="34" charset="-122"/>
                <a:cs typeface="Calibri" pitchFamily="34" charset="-120"/>
              </a:rPr>
              <a:t>53 series-months disagree with a daily rollup by more than 5%. We ingest the daily file only and derive the rest.</a:t>
            </a:r>
            <a:endParaRPr lang="en-US" sz="1150" dirty="0"/>
          </a:p>
        </p:txBody>
      </p:sp>
      <p:sp>
        <p:nvSpPr>
          <p:cNvPr id="7" name="Text 5"/>
          <p:cNvSpPr txBox="1"/>
          <p:nvPr/>
        </p:nvSpPr>
        <p:spPr>
          <a:xfrm>
            <a:off x="6309360" y="2578608"/>
            <a:ext cx="457200" cy="320040"/>
          </a:xfrm>
          <a:prstGeom prst="rect">
            <a:avLst/>
          </a:prstGeom>
          <a:noFill/>
          <a:ln/>
        </p:spPr>
        <p:txBody>
          <a:bodyPr wrap="square" lIns="0" tIns="0" rIns="0" bIns="0" rtlCol="0" anchor="ctr"/>
          <a:lstStyle/>
          <a:p>
            <a:pPr indent="0" marL="0">
              <a:buNone/>
            </a:pPr>
            <a:r>
              <a:rPr lang="en-US" sz="1500" b="1" dirty="0">
                <a:solidFill>
                  <a:srgbClr val="8A6410"/>
                </a:solidFill>
                <a:latin typeface="Courier New" pitchFamily="34" charset="0"/>
                <a:ea typeface="Courier New" pitchFamily="34" charset="-122"/>
                <a:cs typeface="Courier New" pitchFamily="34" charset="-120"/>
              </a:rPr>
              <a:t>02</a:t>
            </a:r>
            <a:endParaRPr lang="en-US" sz="1500" dirty="0"/>
          </a:p>
        </p:txBody>
      </p:sp>
      <p:sp>
        <p:nvSpPr>
          <p:cNvPr id="8" name="Text 6"/>
          <p:cNvSpPr txBox="1"/>
          <p:nvPr/>
        </p:nvSpPr>
        <p:spPr>
          <a:xfrm>
            <a:off x="6858000" y="2578608"/>
            <a:ext cx="4434840" cy="320040"/>
          </a:xfrm>
          <a:prstGeom prst="rect">
            <a:avLst/>
          </a:prstGeom>
          <a:noFill/>
          <a:ln/>
        </p:spPr>
        <p:txBody>
          <a:bodyPr wrap="square" lIns="0" tIns="0" rIns="0" bIns="0" rtlCol="0" anchor="ctr"/>
          <a:lstStyle/>
          <a:p>
            <a:pPr indent="0" marL="0">
              <a:buNone/>
            </a:pPr>
            <a:r>
              <a:rPr lang="en-US" sz="1400" b="1" dirty="0">
                <a:solidFill>
                  <a:srgbClr val="14110D"/>
                </a:solidFill>
                <a:latin typeface="Calibri" pitchFamily="34" charset="0"/>
                <a:ea typeface="Calibri" pitchFamily="34" charset="-122"/>
                <a:cs typeface="Calibri" pitchFamily="34" charset="-120"/>
              </a:rPr>
              <a:t>26 days are closures, not zero demand</a:t>
            </a:r>
            <a:endParaRPr lang="en-US" sz="1400" dirty="0"/>
          </a:p>
        </p:txBody>
      </p:sp>
      <p:sp>
        <p:nvSpPr>
          <p:cNvPr id="9" name="Text 7"/>
          <p:cNvSpPr txBox="1"/>
          <p:nvPr/>
        </p:nvSpPr>
        <p:spPr>
          <a:xfrm>
            <a:off x="6858000" y="2907792"/>
            <a:ext cx="4434840" cy="676656"/>
          </a:xfrm>
          <a:prstGeom prst="rect">
            <a:avLst/>
          </a:prstGeom>
          <a:noFill/>
          <a:ln/>
        </p:spPr>
        <p:txBody>
          <a:bodyPr wrap="square" lIns="0" tIns="0" rIns="0" bIns="0" rtlCol="0" anchor="ctr"/>
          <a:lstStyle/>
          <a:p>
            <a:pPr indent="0" marL="0">
              <a:lnSpc>
                <a:spcPts val="1500"/>
              </a:lnSpc>
              <a:buNone/>
            </a:pPr>
            <a:r>
              <a:rPr lang="en-US" sz="1150" dirty="0">
                <a:solidFill>
                  <a:srgbClr val="6B6459"/>
                </a:solidFill>
                <a:latin typeface="Calibri" pitchFamily="34" charset="0"/>
                <a:ea typeface="Calibri" pitchFamily="34" charset="-122"/>
                <a:cs typeface="Calibri" pitchFamily="34" charset="-120"/>
              </a:rPr>
              <a:t>21 map to the Serbian Orthodox calendar. Masked from the loss — never imputed, never deleted.</a:t>
            </a:r>
            <a:endParaRPr lang="en-US" sz="1150" dirty="0"/>
          </a:p>
        </p:txBody>
      </p:sp>
      <p:sp>
        <p:nvSpPr>
          <p:cNvPr id="10" name="Text 8"/>
          <p:cNvSpPr txBox="1"/>
          <p:nvPr/>
        </p:nvSpPr>
        <p:spPr>
          <a:xfrm>
            <a:off x="777240" y="3785616"/>
            <a:ext cx="457200" cy="320040"/>
          </a:xfrm>
          <a:prstGeom prst="rect">
            <a:avLst/>
          </a:prstGeom>
          <a:noFill/>
          <a:ln/>
        </p:spPr>
        <p:txBody>
          <a:bodyPr wrap="square" lIns="0" tIns="0" rIns="0" bIns="0" rtlCol="0" anchor="ctr"/>
          <a:lstStyle/>
          <a:p>
            <a:pPr indent="0" marL="0">
              <a:buNone/>
            </a:pPr>
            <a:r>
              <a:rPr lang="en-US" sz="1500" b="1" dirty="0">
                <a:solidFill>
                  <a:srgbClr val="8A6410"/>
                </a:solidFill>
                <a:latin typeface="Courier New" pitchFamily="34" charset="0"/>
                <a:ea typeface="Courier New" pitchFamily="34" charset="-122"/>
                <a:cs typeface="Courier New" pitchFamily="34" charset="-120"/>
              </a:rPr>
              <a:t>03</a:t>
            </a:r>
            <a:endParaRPr lang="en-US" sz="1500" dirty="0"/>
          </a:p>
        </p:txBody>
      </p:sp>
      <p:sp>
        <p:nvSpPr>
          <p:cNvPr id="11" name="Text 9"/>
          <p:cNvSpPr txBox="1"/>
          <p:nvPr/>
        </p:nvSpPr>
        <p:spPr>
          <a:xfrm>
            <a:off x="1325880" y="3785616"/>
            <a:ext cx="4434840" cy="320040"/>
          </a:xfrm>
          <a:prstGeom prst="rect">
            <a:avLst/>
          </a:prstGeom>
          <a:noFill/>
          <a:ln/>
        </p:spPr>
        <p:txBody>
          <a:bodyPr wrap="square" lIns="0" tIns="0" rIns="0" bIns="0" rtlCol="0" anchor="ctr"/>
          <a:lstStyle/>
          <a:p>
            <a:pPr indent="0" marL="0">
              <a:buNone/>
            </a:pPr>
            <a:r>
              <a:rPr lang="en-US" sz="1400" b="1" dirty="0">
                <a:solidFill>
                  <a:srgbClr val="14110D"/>
                </a:solidFill>
                <a:latin typeface="Calibri" pitchFamily="34" charset="0"/>
                <a:ea typeface="Calibri" pitchFamily="34" charset="-122"/>
                <a:cs typeface="Calibri" pitchFamily="34" charset="-120"/>
              </a:rPr>
              <a:t>The last bucket is truncated</a:t>
            </a:r>
            <a:endParaRPr lang="en-US" sz="1400" dirty="0"/>
          </a:p>
        </p:txBody>
      </p:sp>
      <p:sp>
        <p:nvSpPr>
          <p:cNvPr id="12" name="Text 10"/>
          <p:cNvSpPr txBox="1"/>
          <p:nvPr/>
        </p:nvSpPr>
        <p:spPr>
          <a:xfrm>
            <a:off x="1325880" y="4114800"/>
            <a:ext cx="4434840" cy="676656"/>
          </a:xfrm>
          <a:prstGeom prst="rect">
            <a:avLst/>
          </a:prstGeom>
          <a:noFill/>
          <a:ln/>
        </p:spPr>
        <p:txBody>
          <a:bodyPr wrap="square" lIns="0" tIns="0" rIns="0" bIns="0" rtlCol="0" anchor="ctr"/>
          <a:lstStyle/>
          <a:p>
            <a:pPr indent="0" marL="0">
              <a:lnSpc>
                <a:spcPts val="1500"/>
              </a:lnSpc>
              <a:buNone/>
            </a:pPr>
            <a:r>
              <a:rPr lang="en-US" sz="1150" dirty="0">
                <a:solidFill>
                  <a:srgbClr val="6B6459"/>
                </a:solidFill>
                <a:latin typeface="Calibri" pitchFamily="34" charset="0"/>
                <a:ea typeface="Calibri" pitchFamily="34" charset="-122"/>
                <a:cs typeface="Calibri" pitchFamily="34" charset="-120"/>
              </a:rPr>
              <a:t>October 2019 looks like a 70% collapse and is not. Partial periods stay visible, and hatched.</a:t>
            </a:r>
            <a:endParaRPr lang="en-US" sz="1150" dirty="0"/>
          </a:p>
        </p:txBody>
      </p:sp>
      <p:sp>
        <p:nvSpPr>
          <p:cNvPr id="13" name="Text 11"/>
          <p:cNvSpPr txBox="1"/>
          <p:nvPr/>
        </p:nvSpPr>
        <p:spPr>
          <a:xfrm>
            <a:off x="6309360" y="3785616"/>
            <a:ext cx="457200" cy="320040"/>
          </a:xfrm>
          <a:prstGeom prst="rect">
            <a:avLst/>
          </a:prstGeom>
          <a:noFill/>
          <a:ln/>
        </p:spPr>
        <p:txBody>
          <a:bodyPr wrap="square" lIns="0" tIns="0" rIns="0" bIns="0" rtlCol="0" anchor="ctr"/>
          <a:lstStyle/>
          <a:p>
            <a:pPr indent="0" marL="0">
              <a:buNone/>
            </a:pPr>
            <a:r>
              <a:rPr lang="en-US" sz="1500" b="1" dirty="0">
                <a:solidFill>
                  <a:srgbClr val="1C4E7A"/>
                </a:solidFill>
                <a:latin typeface="Courier New" pitchFamily="34" charset="0"/>
                <a:ea typeface="Courier New" pitchFamily="34" charset="-122"/>
                <a:cs typeface="Courier New" pitchFamily="34" charset="-120"/>
              </a:rPr>
              <a:t>04</a:t>
            </a:r>
            <a:endParaRPr lang="en-US" sz="1500" dirty="0"/>
          </a:p>
        </p:txBody>
      </p:sp>
      <p:sp>
        <p:nvSpPr>
          <p:cNvPr id="14" name="Text 12"/>
          <p:cNvSpPr txBox="1"/>
          <p:nvPr/>
        </p:nvSpPr>
        <p:spPr>
          <a:xfrm>
            <a:off x="6858000" y="3785616"/>
            <a:ext cx="4434840" cy="320040"/>
          </a:xfrm>
          <a:prstGeom prst="rect">
            <a:avLst/>
          </a:prstGeom>
          <a:noFill/>
          <a:ln/>
        </p:spPr>
        <p:txBody>
          <a:bodyPr wrap="square" lIns="0" tIns="0" rIns="0" bIns="0" rtlCol="0" anchor="ctr"/>
          <a:lstStyle/>
          <a:p>
            <a:pPr indent="0" marL="0">
              <a:buNone/>
            </a:pPr>
            <a:r>
              <a:rPr lang="en-US" sz="1400" b="1" dirty="0">
                <a:solidFill>
                  <a:srgbClr val="14110D"/>
                </a:solidFill>
                <a:latin typeface="Calibri" pitchFamily="34" charset="0"/>
                <a:ea typeface="Calibri" pitchFamily="34" charset="-122"/>
                <a:cs typeface="Calibri" pitchFamily="34" charset="-120"/>
              </a:rPr>
              <a:t>One series is genuinely intermittent</a:t>
            </a:r>
            <a:endParaRPr lang="en-US" sz="1400" dirty="0"/>
          </a:p>
        </p:txBody>
      </p:sp>
      <p:sp>
        <p:nvSpPr>
          <p:cNvPr id="15" name="Text 13"/>
          <p:cNvSpPr txBox="1"/>
          <p:nvPr/>
        </p:nvSpPr>
        <p:spPr>
          <a:xfrm>
            <a:off x="6858000" y="4114800"/>
            <a:ext cx="4434840" cy="676656"/>
          </a:xfrm>
          <a:prstGeom prst="rect">
            <a:avLst/>
          </a:prstGeom>
          <a:noFill/>
          <a:ln/>
        </p:spPr>
        <p:txBody>
          <a:bodyPr wrap="square" lIns="0" tIns="0" rIns="0" bIns="0" rtlCol="0" anchor="ctr"/>
          <a:lstStyle/>
          <a:p>
            <a:pPr indent="0" marL="0">
              <a:lnSpc>
                <a:spcPts val="1500"/>
              </a:lnSpc>
              <a:buNone/>
            </a:pPr>
            <a:r>
              <a:rPr lang="en-US" sz="1150" dirty="0">
                <a:solidFill>
                  <a:srgbClr val="6B6459"/>
                </a:solidFill>
                <a:latin typeface="Calibri" pitchFamily="34" charset="0"/>
                <a:ea typeface="Calibri" pitchFamily="34" charset="-122"/>
                <a:cs typeface="Calibri" pitchFamily="34" charset="-120"/>
              </a:rPr>
              <a:t>N05C sells nothing on 67.9% of days, ADI 3.12. It routes to Croston/TSB automatically.</a:t>
            </a:r>
            <a:endParaRPr lang="en-US" sz="1150" dirty="0"/>
          </a:p>
        </p:txBody>
      </p:sp>
      <p:sp>
        <p:nvSpPr>
          <p:cNvPr id="16" name="Text 14"/>
          <p:cNvSpPr txBox="1"/>
          <p:nvPr/>
        </p:nvSpPr>
        <p:spPr>
          <a:xfrm>
            <a:off x="777240" y="4992624"/>
            <a:ext cx="457200" cy="320040"/>
          </a:xfrm>
          <a:prstGeom prst="rect">
            <a:avLst/>
          </a:prstGeom>
          <a:noFill/>
          <a:ln/>
        </p:spPr>
        <p:txBody>
          <a:bodyPr wrap="square" lIns="0" tIns="0" rIns="0" bIns="0" rtlCol="0" anchor="ctr"/>
          <a:lstStyle/>
          <a:p>
            <a:pPr indent="0" marL="0">
              <a:buNone/>
            </a:pPr>
            <a:r>
              <a:rPr lang="en-US" sz="1500" b="1" dirty="0">
                <a:solidFill>
                  <a:srgbClr val="1C4E7A"/>
                </a:solidFill>
                <a:latin typeface="Courier New" pitchFamily="34" charset="0"/>
                <a:ea typeface="Courier New" pitchFamily="34" charset="-122"/>
                <a:cs typeface="Courier New" pitchFamily="34" charset="-120"/>
              </a:rPr>
              <a:t>05</a:t>
            </a:r>
            <a:endParaRPr lang="en-US" sz="1500" dirty="0"/>
          </a:p>
        </p:txBody>
      </p:sp>
      <p:sp>
        <p:nvSpPr>
          <p:cNvPr id="17" name="Text 15"/>
          <p:cNvSpPr txBox="1"/>
          <p:nvPr/>
        </p:nvSpPr>
        <p:spPr>
          <a:xfrm>
            <a:off x="1325880" y="4992624"/>
            <a:ext cx="4434840" cy="320040"/>
          </a:xfrm>
          <a:prstGeom prst="rect">
            <a:avLst/>
          </a:prstGeom>
          <a:noFill/>
          <a:ln/>
        </p:spPr>
        <p:txBody>
          <a:bodyPr wrap="square" lIns="0" tIns="0" rIns="0" bIns="0" rtlCol="0" anchor="ctr"/>
          <a:lstStyle/>
          <a:p>
            <a:pPr indent="0" marL="0">
              <a:buNone/>
            </a:pPr>
            <a:r>
              <a:rPr lang="en-US" sz="1400" b="1" dirty="0">
                <a:solidFill>
                  <a:srgbClr val="14110D"/>
                </a:solidFill>
                <a:latin typeface="Calibri" pitchFamily="34" charset="0"/>
                <a:ea typeface="Calibri" pitchFamily="34" charset="-122"/>
                <a:cs typeface="Calibri" pitchFamily="34" charset="-120"/>
              </a:rPr>
              <a:t>Seasonality has a different phase per drug</a:t>
            </a:r>
            <a:endParaRPr lang="en-US" sz="1400" dirty="0"/>
          </a:p>
        </p:txBody>
      </p:sp>
      <p:sp>
        <p:nvSpPr>
          <p:cNvPr id="18" name="Text 16"/>
          <p:cNvSpPr txBox="1"/>
          <p:nvPr/>
        </p:nvSpPr>
        <p:spPr>
          <a:xfrm>
            <a:off x="1325880" y="5321808"/>
            <a:ext cx="4434840" cy="676656"/>
          </a:xfrm>
          <a:prstGeom prst="rect">
            <a:avLst/>
          </a:prstGeom>
          <a:noFill/>
          <a:ln/>
        </p:spPr>
        <p:txBody>
          <a:bodyPr wrap="square" lIns="0" tIns="0" rIns="0" bIns="0" rtlCol="0" anchor="ctr"/>
          <a:lstStyle/>
          <a:p>
            <a:pPr indent="0" marL="0">
              <a:lnSpc>
                <a:spcPts val="1500"/>
              </a:lnSpc>
              <a:buNone/>
            </a:pPr>
            <a:r>
              <a:rPr lang="en-US" sz="1150" dirty="0">
                <a:solidFill>
                  <a:srgbClr val="6B6459"/>
                </a:solidFill>
                <a:latin typeface="Calibri" pitchFamily="34" charset="0"/>
                <a:ea typeface="Calibri" pitchFamily="34" charset="-122"/>
                <a:cs typeface="Calibri" pitchFamily="34" charset="-120"/>
              </a:rPr>
              <a:t>Antihistamines peak in May, paracetamol in January. One global profile would smear both.</a:t>
            </a:r>
            <a:endParaRPr lang="en-US" sz="1150" dirty="0"/>
          </a:p>
        </p:txBody>
      </p:sp>
      <p:sp>
        <p:nvSpPr>
          <p:cNvPr id="19" name="Text 17"/>
          <p:cNvSpPr txBox="1"/>
          <p:nvPr/>
        </p:nvSpPr>
        <p:spPr>
          <a:xfrm>
            <a:off x="6309360" y="4992624"/>
            <a:ext cx="457200" cy="320040"/>
          </a:xfrm>
          <a:prstGeom prst="rect">
            <a:avLst/>
          </a:prstGeom>
          <a:noFill/>
          <a:ln/>
        </p:spPr>
        <p:txBody>
          <a:bodyPr wrap="square" lIns="0" tIns="0" rIns="0" bIns="0" rtlCol="0" anchor="ctr"/>
          <a:lstStyle/>
          <a:p>
            <a:pPr indent="0" marL="0">
              <a:buNone/>
            </a:pPr>
            <a:r>
              <a:rPr lang="en-US" sz="1500" b="1" dirty="0">
                <a:solidFill>
                  <a:srgbClr val="1C4E7A"/>
                </a:solidFill>
                <a:latin typeface="Courier New" pitchFamily="34" charset="0"/>
                <a:ea typeface="Courier New" pitchFamily="34" charset="-122"/>
                <a:cs typeface="Courier New" pitchFamily="34" charset="-120"/>
              </a:rPr>
              <a:t>06</a:t>
            </a:r>
            <a:endParaRPr lang="en-US" sz="1500" dirty="0"/>
          </a:p>
        </p:txBody>
      </p:sp>
      <p:sp>
        <p:nvSpPr>
          <p:cNvPr id="20" name="Text 18"/>
          <p:cNvSpPr txBox="1"/>
          <p:nvPr/>
        </p:nvSpPr>
        <p:spPr>
          <a:xfrm>
            <a:off x="6858000" y="4992624"/>
            <a:ext cx="4434840" cy="320040"/>
          </a:xfrm>
          <a:prstGeom prst="rect">
            <a:avLst/>
          </a:prstGeom>
          <a:noFill/>
          <a:ln/>
        </p:spPr>
        <p:txBody>
          <a:bodyPr wrap="square" lIns="0" tIns="0" rIns="0" bIns="0" rtlCol="0" anchor="ctr"/>
          <a:lstStyle/>
          <a:p>
            <a:pPr indent="0" marL="0">
              <a:buNone/>
            </a:pPr>
            <a:r>
              <a:rPr lang="en-US" sz="1400" b="1" dirty="0">
                <a:solidFill>
                  <a:srgbClr val="14110D"/>
                </a:solidFill>
                <a:latin typeface="Calibri" pitchFamily="34" charset="0"/>
                <a:ea typeface="Calibri" pitchFamily="34" charset="-122"/>
                <a:cs typeface="Calibri" pitchFamily="34" charset="-120"/>
              </a:rPr>
              <a:t>Weekday effects run in opposite directions</a:t>
            </a:r>
            <a:endParaRPr lang="en-US" sz="1400" dirty="0"/>
          </a:p>
        </p:txBody>
      </p:sp>
      <p:sp>
        <p:nvSpPr>
          <p:cNvPr id="21" name="Text 19"/>
          <p:cNvSpPr txBox="1"/>
          <p:nvPr/>
        </p:nvSpPr>
        <p:spPr>
          <a:xfrm>
            <a:off x="6858000" y="5321808"/>
            <a:ext cx="4434840" cy="676656"/>
          </a:xfrm>
          <a:prstGeom prst="rect">
            <a:avLst/>
          </a:prstGeom>
          <a:noFill/>
          <a:ln/>
        </p:spPr>
        <p:txBody>
          <a:bodyPr wrap="square" lIns="0" tIns="0" rIns="0" bIns="0" rtlCol="0" anchor="ctr"/>
          <a:lstStyle/>
          <a:p>
            <a:pPr indent="0" marL="0">
              <a:lnSpc>
                <a:spcPts val="1500"/>
              </a:lnSpc>
              <a:buNone/>
            </a:pPr>
            <a:r>
              <a:rPr lang="en-US" sz="1150" dirty="0">
                <a:solidFill>
                  <a:srgbClr val="6B6459"/>
                </a:solidFill>
                <a:latin typeface="Calibri" pitchFamily="34" charset="0"/>
                <a:ea typeface="Calibri" pitchFamily="34" charset="-122"/>
                <a:cs typeface="Calibri" pitchFamily="34" charset="-120"/>
              </a:rPr>
              <a:t>OTC sells more at weekends, prescription less. A shared coefficient would cancel them out.</a:t>
            </a:r>
            <a:endParaRPr lang="en-US" sz="1150" dirty="0"/>
          </a:p>
        </p:txBody>
      </p:sp>
      <p:sp>
        <p:nvSpPr>
          <p:cNvPr id="22" name="Text 20"/>
          <p:cNvSpPr txBox="1"/>
          <p:nvPr/>
        </p:nvSpPr>
        <p:spPr>
          <a:xfrm>
            <a:off x="777240" y="6053328"/>
            <a:ext cx="10637215" cy="274320"/>
          </a:xfrm>
          <a:prstGeom prst="rect">
            <a:avLst/>
          </a:prstGeom>
          <a:noFill/>
          <a:ln/>
        </p:spPr>
        <p:txBody>
          <a:bodyPr wrap="square" lIns="0" tIns="0" rIns="0" bIns="0" rtlCol="0" anchor="ctr"/>
          <a:lstStyle/>
          <a:p>
            <a:pPr indent="0" marL="0">
              <a:lnSpc>
                <a:spcPts val="1620"/>
              </a:lnSpc>
              <a:buNone/>
            </a:pPr>
            <a:r>
              <a:rPr lang="en-US" sz="1200" i="1" dirty="0">
                <a:solidFill>
                  <a:srgbClr val="6B6459"/>
                </a:solidFill>
                <a:latin typeface="Calibri" pitchFamily="34" charset="0"/>
                <a:ea typeface="Calibri" pitchFamily="34" charset="-122"/>
                <a:cs typeface="Calibri" pitchFamily="34" charset="-120"/>
              </a:rPr>
              <a:t>Two of these contradict our own submitted design document. Both corrections are written down rather than quietly fixed.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THE RULE THAT PROTECTS THE PROJECT</a:t>
            </a:r>
            <a:endParaRPr lang="en-US" sz="1100" dirty="0"/>
          </a:p>
        </p:txBody>
      </p:sp>
      <p:sp>
        <p:nvSpPr>
          <p:cNvPr id="3" name="Text 1"/>
          <p:cNvSpPr txBox="1"/>
          <p:nvPr/>
        </p:nvSpPr>
        <p:spPr>
          <a:xfrm>
            <a:off x="777240" y="868680"/>
            <a:ext cx="10637215" cy="1600200"/>
          </a:xfrm>
          <a:prstGeom prst="rect">
            <a:avLst/>
          </a:prstGeom>
          <a:noFill/>
          <a:ln/>
        </p:spPr>
        <p:txBody>
          <a:bodyPr wrap="square" lIns="0" tIns="0" rIns="0" bIns="0" rtlCol="0" anchor="ctr"/>
          <a:lstStyle/>
          <a:p>
            <a:pPr indent="0" marL="0">
              <a:lnSpc>
                <a:spcPts val="3808"/>
              </a:lnSpc>
              <a:buNone/>
            </a:pPr>
            <a:r>
              <a:rPr lang="en-US" sz="3400" dirty="0">
                <a:solidFill>
                  <a:srgbClr val="14110D"/>
                </a:solidFill>
                <a:latin typeface="Cambria" pitchFamily="34" charset="0"/>
                <a:ea typeface="Cambria" pitchFamily="34" charset="-122"/>
                <a:cs typeface="Cambria" pitchFamily="34" charset="-120"/>
              </a:rPr>
              <a:t>The file has dates and units sold.</a:t>
            </a:r>
            <a:endParaRPr lang="en-US" sz="3400" dirty="0"/>
          </a:p>
          <a:p>
            <a:pPr indent="0" marL="0">
              <a:lnSpc>
                <a:spcPts val="3808"/>
              </a:lnSpc>
              <a:buNone/>
            </a:pPr>
            <a:r>
              <a:rPr lang="en-US" sz="3400" dirty="0">
                <a:solidFill>
                  <a:srgbClr val="14110D"/>
                </a:solidFill>
                <a:latin typeface="Cambria" pitchFamily="34" charset="0"/>
                <a:ea typeface="Cambria" pitchFamily="34" charset="-122"/>
                <a:cs typeface="Cambria" pitchFamily="34" charset="-120"/>
              </a:rPr>
              <a:t>It has no stock, costs or lead times.</a:t>
            </a:r>
            <a:endParaRPr lang="en-US" sz="3400" dirty="0"/>
          </a:p>
        </p:txBody>
      </p:sp>
      <p:sp>
        <p:nvSpPr>
          <p:cNvPr id="4" name="Text 2"/>
          <p:cNvSpPr txBox="1"/>
          <p:nvPr/>
        </p:nvSpPr>
        <p:spPr>
          <a:xfrm>
            <a:off x="777240" y="2560320"/>
            <a:ext cx="10637215" cy="640080"/>
          </a:xfrm>
          <a:prstGeom prst="rect">
            <a:avLst/>
          </a:prstGeom>
          <a:noFill/>
          <a:ln/>
        </p:spPr>
        <p:txBody>
          <a:bodyPr wrap="square" lIns="0" tIns="0" rIns="0" bIns="0" rtlCol="0" anchor="ctr"/>
          <a:lstStyle/>
          <a:p>
            <a:pPr indent="0" marL="0">
              <a:lnSpc>
                <a:spcPts val="2000"/>
              </a:lnSpc>
              <a:buNone/>
            </a:pPr>
            <a:r>
              <a:rPr lang="en-US" sz="1400" dirty="0">
                <a:solidFill>
                  <a:srgbClr val="3B362F"/>
                </a:solidFill>
                <a:latin typeface="Calibri" pitchFamily="34" charset="0"/>
                <a:ea typeface="Calibri" pitchFamily="34" charset="-122"/>
                <a:cs typeface="Calibri" pitchFamily="34" charset="-120"/>
              </a:rPr>
              <a:t>A system that invents those and trains on them is learning from a random number generator — and any explanation it then produces is an explanation of noise. So every value belongs to exactly one lane, and the lanes have different rights.</a:t>
            </a:r>
            <a:endParaRPr lang="en-US" sz="1400" dirty="0"/>
          </a:p>
        </p:txBody>
      </p:sp>
      <p:sp>
        <p:nvSpPr>
          <p:cNvPr id="5" name="Shape 3"/>
          <p:cNvSpPr/>
          <p:nvPr/>
        </p:nvSpPr>
        <p:spPr>
          <a:xfrm>
            <a:off x="777240" y="3310128"/>
            <a:ext cx="10637215" cy="896112"/>
          </a:xfrm>
          <a:prstGeom prst="rect">
            <a:avLst/>
          </a:prstGeom>
          <a:solidFill>
            <a:srgbClr val="FCFAF6"/>
          </a:solidFill>
          <a:ln w="12700">
            <a:solidFill>
              <a:srgbClr val="E4DFD5"/>
            </a:solidFill>
            <a:prstDash val="solid"/>
          </a:ln>
        </p:spPr>
      </p:sp>
      <p:sp>
        <p:nvSpPr>
          <p:cNvPr id="6" name="Text 4"/>
          <p:cNvSpPr txBox="1"/>
          <p:nvPr/>
        </p:nvSpPr>
        <p:spPr>
          <a:xfrm>
            <a:off x="1051560" y="3465576"/>
            <a:ext cx="2103120" cy="320040"/>
          </a:xfrm>
          <a:prstGeom prst="rect">
            <a:avLst/>
          </a:prstGeom>
          <a:noFill/>
          <a:ln/>
        </p:spPr>
        <p:txBody>
          <a:bodyPr wrap="square" lIns="0" tIns="0" rIns="0" bIns="0" rtlCol="0" anchor="ctr"/>
          <a:lstStyle/>
          <a:p>
            <a:pPr indent="0" marL="0">
              <a:buNone/>
            </a:pPr>
            <a:r>
              <a:rPr lang="en-US" sz="1400" b="1" dirty="0">
                <a:solidFill>
                  <a:srgbClr val="1F5D42"/>
                </a:solidFill>
                <a:latin typeface="Courier New" pitchFamily="34" charset="0"/>
                <a:ea typeface="Courier New" pitchFamily="34" charset="-122"/>
                <a:cs typeface="Courier New" pitchFamily="34" charset="-120"/>
              </a:rPr>
              <a:t>1 · observed</a:t>
            </a:r>
            <a:endParaRPr lang="en-US" sz="1400" dirty="0"/>
          </a:p>
        </p:txBody>
      </p:sp>
      <p:sp>
        <p:nvSpPr>
          <p:cNvPr id="7" name="Text 5"/>
          <p:cNvSpPr txBox="1"/>
          <p:nvPr/>
        </p:nvSpPr>
        <p:spPr>
          <a:xfrm>
            <a:off x="3291840" y="3465576"/>
            <a:ext cx="4206240" cy="548640"/>
          </a:xfrm>
          <a:prstGeom prst="rect">
            <a:avLst/>
          </a:prstGeom>
          <a:noFill/>
          <a:ln/>
        </p:spPr>
        <p:txBody>
          <a:bodyPr wrap="square" lIns="0" tIns="0" rIns="0" bIns="0" rtlCol="0" anchor="ctr"/>
          <a:lstStyle/>
          <a:p>
            <a:pPr indent="0" marL="0">
              <a:lnSpc>
                <a:spcPts val="1600"/>
              </a:lnSpc>
              <a:buNone/>
            </a:pPr>
            <a:r>
              <a:rPr lang="en-US" sz="1250" dirty="0">
                <a:solidFill>
                  <a:srgbClr val="3B362F"/>
                </a:solidFill>
                <a:latin typeface="Calibri" pitchFamily="34" charset="0"/>
                <a:ea typeface="Calibri" pitchFamily="34" charset="-122"/>
                <a:cs typeface="Calibri" pitchFamily="34" charset="-120"/>
              </a:rPr>
              <a:t>salesdaily.csv and the calendar features derived from it</a:t>
            </a:r>
            <a:endParaRPr lang="en-US" sz="1250" dirty="0"/>
          </a:p>
        </p:txBody>
      </p:sp>
      <p:sp>
        <p:nvSpPr>
          <p:cNvPr id="8" name="Text 6"/>
          <p:cNvSpPr txBox="1"/>
          <p:nvPr/>
        </p:nvSpPr>
        <p:spPr>
          <a:xfrm>
            <a:off x="7635240" y="3465576"/>
            <a:ext cx="3657600" cy="548640"/>
          </a:xfrm>
          <a:prstGeom prst="rect">
            <a:avLst/>
          </a:prstGeom>
          <a:noFill/>
          <a:ln/>
        </p:spPr>
        <p:txBody>
          <a:bodyPr wrap="square" lIns="0" tIns="0" rIns="0" bIns="0" rtlCol="0" anchor="ctr"/>
          <a:lstStyle/>
          <a:p>
            <a:pPr indent="0" marL="0">
              <a:lnSpc>
                <a:spcPts val="1600"/>
              </a:lnSpc>
              <a:buNone/>
            </a:pPr>
            <a:r>
              <a:rPr lang="en-US" sz="1250" b="1" dirty="0">
                <a:solidFill>
                  <a:srgbClr val="1F5D42"/>
                </a:solidFill>
                <a:latin typeface="Calibri" pitchFamily="34" charset="0"/>
                <a:ea typeface="Calibri" pitchFamily="34" charset="-122"/>
                <a:cs typeface="Calibri" pitchFamily="34" charset="-120"/>
              </a:rPr>
              <a:t>trains models · explains · backs a claim</a:t>
            </a:r>
            <a:endParaRPr lang="en-US" sz="1250" dirty="0"/>
          </a:p>
        </p:txBody>
      </p:sp>
      <p:sp>
        <p:nvSpPr>
          <p:cNvPr id="9" name="Shape 7"/>
          <p:cNvSpPr/>
          <p:nvPr/>
        </p:nvSpPr>
        <p:spPr>
          <a:xfrm>
            <a:off x="777240" y="4297680"/>
            <a:ext cx="10637215" cy="896112"/>
          </a:xfrm>
          <a:prstGeom prst="rect">
            <a:avLst/>
          </a:prstGeom>
          <a:solidFill>
            <a:srgbClr val="FCFAF6"/>
          </a:solidFill>
          <a:ln w="12700">
            <a:solidFill>
              <a:srgbClr val="E4DFD5"/>
            </a:solidFill>
            <a:prstDash val="solid"/>
          </a:ln>
        </p:spPr>
      </p:sp>
      <p:sp>
        <p:nvSpPr>
          <p:cNvPr id="10" name="Text 8"/>
          <p:cNvSpPr txBox="1"/>
          <p:nvPr/>
        </p:nvSpPr>
        <p:spPr>
          <a:xfrm>
            <a:off x="1051560" y="4453128"/>
            <a:ext cx="2103120" cy="320040"/>
          </a:xfrm>
          <a:prstGeom prst="rect">
            <a:avLst/>
          </a:prstGeom>
          <a:noFill/>
          <a:ln/>
        </p:spPr>
        <p:txBody>
          <a:bodyPr wrap="square" lIns="0" tIns="0" rIns="0" bIns="0" rtlCol="0" anchor="ctr"/>
          <a:lstStyle/>
          <a:p>
            <a:pPr indent="0" marL="0">
              <a:buNone/>
            </a:pPr>
            <a:r>
              <a:rPr lang="en-US" sz="1400" b="1" dirty="0">
                <a:solidFill>
                  <a:srgbClr val="6B6459"/>
                </a:solidFill>
                <a:latin typeface="Courier New" pitchFamily="34" charset="0"/>
                <a:ea typeface="Courier New" pitchFamily="34" charset="-122"/>
                <a:cs typeface="Courier New" pitchFamily="34" charset="-120"/>
              </a:rPr>
              <a:t>2 · your setting</a:t>
            </a:r>
            <a:endParaRPr lang="en-US" sz="1400" dirty="0"/>
          </a:p>
        </p:txBody>
      </p:sp>
      <p:sp>
        <p:nvSpPr>
          <p:cNvPr id="11" name="Text 9"/>
          <p:cNvSpPr txBox="1"/>
          <p:nvPr/>
        </p:nvSpPr>
        <p:spPr>
          <a:xfrm>
            <a:off x="3291840" y="4453128"/>
            <a:ext cx="4206240" cy="548640"/>
          </a:xfrm>
          <a:prstGeom prst="rect">
            <a:avLst/>
          </a:prstGeom>
          <a:noFill/>
          <a:ln/>
        </p:spPr>
        <p:txBody>
          <a:bodyPr wrap="square" lIns="0" tIns="0" rIns="0" bIns="0" rtlCol="0" anchor="ctr"/>
          <a:lstStyle/>
          <a:p>
            <a:pPr indent="0" marL="0">
              <a:lnSpc>
                <a:spcPts val="1600"/>
              </a:lnSpc>
              <a:buNone/>
            </a:pPr>
            <a:r>
              <a:rPr lang="en-US" sz="1250" dirty="0">
                <a:solidFill>
                  <a:srgbClr val="3B362F"/>
                </a:solidFill>
                <a:latin typeface="Calibri" pitchFamily="34" charset="0"/>
                <a:ea typeface="Calibri" pitchFamily="34" charset="-122"/>
                <a:cs typeface="Calibri" pitchFamily="34" charset="-120"/>
              </a:rPr>
              <a:t>lead time · holding cost · margin · stock on hand · pack size</a:t>
            </a:r>
            <a:endParaRPr lang="en-US" sz="1250" dirty="0"/>
          </a:p>
        </p:txBody>
      </p:sp>
      <p:sp>
        <p:nvSpPr>
          <p:cNvPr id="12" name="Text 10"/>
          <p:cNvSpPr txBox="1"/>
          <p:nvPr/>
        </p:nvSpPr>
        <p:spPr>
          <a:xfrm>
            <a:off x="7635240" y="4453128"/>
            <a:ext cx="3657600" cy="548640"/>
          </a:xfrm>
          <a:prstGeom prst="rect">
            <a:avLst/>
          </a:prstGeom>
          <a:noFill/>
          <a:ln/>
        </p:spPr>
        <p:txBody>
          <a:bodyPr wrap="square" lIns="0" tIns="0" rIns="0" bIns="0" rtlCol="0" anchor="ctr"/>
          <a:lstStyle/>
          <a:p>
            <a:pPr indent="0" marL="0">
              <a:lnSpc>
                <a:spcPts val="1600"/>
              </a:lnSpc>
              <a:buNone/>
            </a:pPr>
            <a:r>
              <a:rPr lang="en-US" sz="1250" b="1" dirty="0">
                <a:solidFill>
                  <a:srgbClr val="6B6459"/>
                </a:solidFill>
                <a:latin typeface="Calibri" pitchFamily="34" charset="0"/>
                <a:ea typeface="Calibri" pitchFamily="34" charset="-122"/>
                <a:cs typeface="Calibri" pitchFamily="34" charset="-120"/>
              </a:rPr>
              <a:t>explains only — never trains, never backs a claim</a:t>
            </a:r>
            <a:endParaRPr lang="en-US" sz="1250" dirty="0"/>
          </a:p>
        </p:txBody>
      </p:sp>
      <p:sp>
        <p:nvSpPr>
          <p:cNvPr id="13" name="Shape 11"/>
          <p:cNvSpPr/>
          <p:nvPr/>
        </p:nvSpPr>
        <p:spPr>
          <a:xfrm>
            <a:off x="777240" y="5285232"/>
            <a:ext cx="10637215" cy="896112"/>
          </a:xfrm>
          <a:prstGeom prst="rect">
            <a:avLst/>
          </a:prstGeom>
          <a:solidFill>
            <a:srgbClr val="FCFAF6"/>
          </a:solidFill>
          <a:ln w="12700">
            <a:solidFill>
              <a:srgbClr val="E4DFD5"/>
            </a:solidFill>
            <a:prstDash val="solid"/>
          </a:ln>
        </p:spPr>
      </p:sp>
      <p:sp>
        <p:nvSpPr>
          <p:cNvPr id="14" name="Text 12"/>
          <p:cNvSpPr txBox="1"/>
          <p:nvPr/>
        </p:nvSpPr>
        <p:spPr>
          <a:xfrm>
            <a:off x="1051560" y="5440680"/>
            <a:ext cx="2103120" cy="320040"/>
          </a:xfrm>
          <a:prstGeom prst="rect">
            <a:avLst/>
          </a:prstGeom>
          <a:noFill/>
          <a:ln/>
        </p:spPr>
        <p:txBody>
          <a:bodyPr wrap="square" lIns="0" tIns="0" rIns="0" bIns="0" rtlCol="0" anchor="ctr"/>
          <a:lstStyle/>
          <a:p>
            <a:pPr indent="0" marL="0">
              <a:buNone/>
            </a:pPr>
            <a:r>
              <a:rPr lang="en-US" sz="1400" b="1" dirty="0">
                <a:solidFill>
                  <a:srgbClr val="A32E22"/>
                </a:solidFill>
                <a:latin typeface="Courier New" pitchFamily="34" charset="0"/>
                <a:ea typeface="Courier New" pitchFamily="34" charset="-122"/>
                <a:cs typeface="Courier New" pitchFamily="34" charset="-120"/>
              </a:rPr>
              <a:t>3 · synthetic</a:t>
            </a:r>
            <a:endParaRPr lang="en-US" sz="1400" dirty="0"/>
          </a:p>
        </p:txBody>
      </p:sp>
      <p:sp>
        <p:nvSpPr>
          <p:cNvPr id="15" name="Text 13"/>
          <p:cNvSpPr txBox="1"/>
          <p:nvPr/>
        </p:nvSpPr>
        <p:spPr>
          <a:xfrm>
            <a:off x="3291840" y="5440680"/>
            <a:ext cx="4206240" cy="548640"/>
          </a:xfrm>
          <a:prstGeom prst="rect">
            <a:avLst/>
          </a:prstGeom>
          <a:noFill/>
          <a:ln/>
        </p:spPr>
        <p:txBody>
          <a:bodyPr wrap="square" lIns="0" tIns="0" rIns="0" bIns="0" rtlCol="0" anchor="ctr"/>
          <a:lstStyle/>
          <a:p>
            <a:pPr indent="0" marL="0">
              <a:lnSpc>
                <a:spcPts val="1600"/>
              </a:lnSpc>
              <a:buNone/>
            </a:pPr>
            <a:r>
              <a:rPr lang="en-US" sz="1250" dirty="0">
                <a:solidFill>
                  <a:srgbClr val="3B362F"/>
                </a:solidFill>
                <a:latin typeface="Calibri" pitchFamily="34" charset="0"/>
                <a:ea typeface="Calibri" pitchFamily="34" charset="-122"/>
                <a:cs typeface="Calibri" pitchFamily="34" charset="-120"/>
              </a:rPr>
              <a:t>any demo-only generated data</a:t>
            </a:r>
            <a:endParaRPr lang="en-US" sz="1250" dirty="0"/>
          </a:p>
        </p:txBody>
      </p:sp>
      <p:sp>
        <p:nvSpPr>
          <p:cNvPr id="16" name="Text 14"/>
          <p:cNvSpPr txBox="1"/>
          <p:nvPr/>
        </p:nvSpPr>
        <p:spPr>
          <a:xfrm>
            <a:off x="7635240" y="5440680"/>
            <a:ext cx="3657600" cy="548640"/>
          </a:xfrm>
          <a:prstGeom prst="rect">
            <a:avLst/>
          </a:prstGeom>
          <a:noFill/>
          <a:ln/>
        </p:spPr>
        <p:txBody>
          <a:bodyPr wrap="square" lIns="0" tIns="0" rIns="0" bIns="0" rtlCol="0" anchor="ctr"/>
          <a:lstStyle/>
          <a:p>
            <a:pPr indent="0" marL="0">
              <a:lnSpc>
                <a:spcPts val="1600"/>
              </a:lnSpc>
              <a:buNone/>
            </a:pPr>
            <a:r>
              <a:rPr lang="en-US" sz="1250" b="1" dirty="0">
                <a:solidFill>
                  <a:srgbClr val="A32E22"/>
                </a:solidFill>
                <a:latin typeface="Calibri" pitchFamily="34" charset="0"/>
                <a:ea typeface="Calibri" pitchFamily="34" charset="-122"/>
                <a:cs typeface="Calibri" pitchFamily="34" charset="-120"/>
              </a:rPr>
              <a:t>none of the three — blocked in code, asserted by a test</a:t>
            </a:r>
            <a:endParaRPr lang="en-US" sz="1250" dirty="0"/>
          </a:p>
        </p:txBody>
      </p:sp>
      <p:sp>
        <p:nvSpPr>
          <p:cNvPr id="17" name="Text 15"/>
          <p:cNvSpPr txBox="1"/>
          <p:nvPr/>
        </p:nvSpPr>
        <p:spPr>
          <a:xfrm>
            <a:off x="777240" y="5989320"/>
            <a:ext cx="10637215" cy="365760"/>
          </a:xfrm>
          <a:prstGeom prst="rect">
            <a:avLst/>
          </a:prstGeom>
          <a:noFill/>
          <a:ln/>
        </p:spPr>
        <p:txBody>
          <a:bodyPr wrap="square" lIns="0" tIns="0" rIns="0" bIns="0" rtlCol="0" anchor="ctr"/>
          <a:lstStyle/>
          <a:p>
            <a:pPr indent="0" marL="0">
              <a:lnSpc>
                <a:spcPts val="1620"/>
              </a:lnSpc>
              <a:buNone/>
            </a:pPr>
            <a:r>
              <a:rPr lang="en-US" sz="1200" i="1" dirty="0">
                <a:solidFill>
                  <a:srgbClr val="6B6459"/>
                </a:solidFill>
                <a:latin typeface="Calibri" pitchFamily="34" charset="0"/>
                <a:ea typeface="Calibri" pitchFamily="34" charset="-122"/>
                <a:cs typeface="Calibri" pitchFamily="34" charset="-120"/>
              </a:rPr>
              <a:t>Enforced, not intended: the ingest entrypoint raises on a synthetic path, every row carries its origin, the API returns it, and the interface renders a badge from it.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INSIDE THE FORECAST ENGINE</a:t>
            </a:r>
            <a:endParaRPr lang="en-US" sz="1100" dirty="0"/>
          </a:p>
        </p:txBody>
      </p:sp>
      <p:sp>
        <p:nvSpPr>
          <p:cNvPr id="3" name="Text 1"/>
          <p:cNvSpPr txBox="1"/>
          <p:nvPr/>
        </p:nvSpPr>
        <p:spPr>
          <a:xfrm>
            <a:off x="777240" y="868680"/>
            <a:ext cx="10637215" cy="1188720"/>
          </a:xfrm>
          <a:prstGeom prst="rect">
            <a:avLst/>
          </a:prstGeom>
          <a:noFill/>
          <a:ln/>
        </p:spPr>
        <p:txBody>
          <a:bodyPr wrap="square" lIns="0" tIns="0" rIns="0" bIns="0" rtlCol="0" anchor="ctr"/>
          <a:lstStyle/>
          <a:p>
            <a:pPr indent="0" marL="0">
              <a:lnSpc>
                <a:spcPts val="3360"/>
              </a:lnSpc>
              <a:buNone/>
            </a:pPr>
            <a:r>
              <a:rPr lang="en-US" sz="3000" dirty="0">
                <a:solidFill>
                  <a:srgbClr val="14110D"/>
                </a:solidFill>
                <a:latin typeface="Cambria" pitchFamily="34" charset="0"/>
                <a:ea typeface="Cambria" pitchFamily="34" charset="-122"/>
                <a:cs typeface="Cambria" pitchFamily="34" charset="-120"/>
              </a:rPr>
              <a:t>Nothing is hardcoded to a product name.</a:t>
            </a:r>
            <a:endParaRPr lang="en-US" sz="3000" dirty="0"/>
          </a:p>
          <a:p>
            <a:pPr indent="0" marL="0">
              <a:lnSpc>
                <a:spcPts val="3360"/>
              </a:lnSpc>
              <a:buNone/>
            </a:pPr>
            <a:r>
              <a:rPr lang="en-US" sz="3000" dirty="0">
                <a:solidFill>
                  <a:srgbClr val="14110D"/>
                </a:solidFill>
                <a:latin typeface="Cambria" pitchFamily="34" charset="0"/>
                <a:ea typeface="Cambria" pitchFamily="34" charset="-122"/>
                <a:cs typeface="Cambria" pitchFamily="34" charset="-120"/>
              </a:rPr>
              <a:t>The data decides which models it gets.</a:t>
            </a:r>
            <a:endParaRPr lang="en-US" sz="3000" dirty="0"/>
          </a:p>
        </p:txBody>
      </p:sp>
      <p:sp>
        <p:nvSpPr>
          <p:cNvPr id="4" name="Text 2"/>
          <p:cNvSpPr txBox="1"/>
          <p:nvPr/>
        </p:nvSpPr>
        <p:spPr>
          <a:xfrm>
            <a:off x="777240" y="2103120"/>
            <a:ext cx="6035040" cy="960120"/>
          </a:xfrm>
          <a:prstGeom prst="rect">
            <a:avLst/>
          </a:prstGeom>
          <a:noFill/>
          <a:ln/>
        </p:spPr>
        <p:txBody>
          <a:bodyPr wrap="square" lIns="0" tIns="0" rIns="0" bIns="0" rtlCol="0" anchor="ctr"/>
          <a:lstStyle/>
          <a:p>
            <a:pPr indent="0" marL="0">
              <a:lnSpc>
                <a:spcPts val="1700"/>
              </a:lnSpc>
              <a:buNone/>
            </a:pPr>
            <a:r>
              <a:rPr lang="en-US" sz="1250" dirty="0">
                <a:solidFill>
                  <a:srgbClr val="3B362F"/>
                </a:solidFill>
                <a:latin typeface="Calibri" pitchFamily="34" charset="0"/>
                <a:ea typeface="Calibri" pitchFamily="34" charset="-122"/>
                <a:cs typeface="Calibri" pitchFamily="34" charset="-120"/>
              </a:rPr>
              <a:t>Two numbers describe how a medicine sells. ADI is the average gap between sales — irregular TIMING. CV² is how much the sale sizes vary — erratic SIZE. They put every product in one of four quadrants, and the quadrant chooses the models. It is recomputed every night, per grain, so when a product's behaviour changes its model family changes with it.</a:t>
            </a:r>
            <a:endParaRPr lang="en-US" sz="1250" dirty="0"/>
          </a:p>
        </p:txBody>
      </p:sp>
      <p:sp>
        <p:nvSpPr>
          <p:cNvPr id="5" name="Shape 3"/>
          <p:cNvSpPr/>
          <p:nvPr/>
        </p:nvSpPr>
        <p:spPr>
          <a:xfrm>
            <a:off x="1463040" y="3127248"/>
            <a:ext cx="2423160" cy="1325880"/>
          </a:xfrm>
          <a:prstGeom prst="rect">
            <a:avLst/>
          </a:prstGeom>
          <a:solidFill>
            <a:srgbClr val="FCFAF6"/>
          </a:solidFill>
          <a:ln w="12700">
            <a:solidFill>
              <a:srgbClr val="E4DFD5"/>
            </a:solidFill>
            <a:prstDash val="solid"/>
          </a:ln>
        </p:spPr>
      </p:sp>
      <p:sp>
        <p:nvSpPr>
          <p:cNvPr id="6" name="Shape 4"/>
          <p:cNvSpPr/>
          <p:nvPr/>
        </p:nvSpPr>
        <p:spPr>
          <a:xfrm>
            <a:off x="1463040" y="3127248"/>
            <a:ext cx="2423160" cy="41148"/>
          </a:xfrm>
          <a:prstGeom prst="rect">
            <a:avLst/>
          </a:prstGeom>
          <a:solidFill>
            <a:srgbClr val="8A6410"/>
          </a:solidFill>
          <a:ln w="12700">
            <a:solidFill>
              <a:srgbClr val="8A6410"/>
            </a:solidFill>
            <a:prstDash val="solid"/>
          </a:ln>
        </p:spPr>
      </p:sp>
      <p:sp>
        <p:nvSpPr>
          <p:cNvPr id="7" name="Text 5"/>
          <p:cNvSpPr txBox="1"/>
          <p:nvPr/>
        </p:nvSpPr>
        <p:spPr>
          <a:xfrm>
            <a:off x="1591056" y="3246120"/>
            <a:ext cx="2167128" cy="237744"/>
          </a:xfrm>
          <a:prstGeom prst="rect">
            <a:avLst/>
          </a:prstGeom>
          <a:noFill/>
          <a:ln/>
        </p:spPr>
        <p:txBody>
          <a:bodyPr wrap="square" lIns="0" tIns="0" rIns="0" bIns="0" rtlCol="0" anchor="ctr"/>
          <a:lstStyle/>
          <a:p>
            <a:pPr indent="0" marL="0">
              <a:buNone/>
            </a:pPr>
            <a:r>
              <a:rPr lang="en-US" sz="1250" b="1" dirty="0">
                <a:solidFill>
                  <a:srgbClr val="8A6410"/>
                </a:solidFill>
                <a:latin typeface="Calibri" pitchFamily="34" charset="0"/>
                <a:ea typeface="Calibri" pitchFamily="34" charset="-122"/>
                <a:cs typeface="Calibri" pitchFamily="34" charset="-120"/>
              </a:rPr>
              <a:t>ERRATIC</a:t>
            </a:r>
            <a:endParaRPr lang="en-US" sz="1250" dirty="0"/>
          </a:p>
        </p:txBody>
      </p:sp>
      <p:sp>
        <p:nvSpPr>
          <p:cNvPr id="8" name="Text 6"/>
          <p:cNvSpPr txBox="1"/>
          <p:nvPr/>
        </p:nvSpPr>
        <p:spPr>
          <a:xfrm>
            <a:off x="1591056" y="3493008"/>
            <a:ext cx="2167128" cy="384048"/>
          </a:xfrm>
          <a:prstGeom prst="rect">
            <a:avLst/>
          </a:prstGeom>
          <a:noFill/>
          <a:ln/>
        </p:spPr>
        <p:txBody>
          <a:bodyPr wrap="square" lIns="0" tIns="0" rIns="0" bIns="0" rtlCol="0" anchor="ctr"/>
          <a:lstStyle/>
          <a:p>
            <a:pPr indent="0" marL="0">
              <a:lnSpc>
                <a:spcPts val="1300"/>
              </a:lnSpc>
              <a:buNone/>
            </a:pPr>
            <a:r>
              <a:rPr lang="en-US" sz="1000" dirty="0">
                <a:solidFill>
                  <a:srgbClr val="6B6459"/>
                </a:solidFill>
                <a:latin typeface="Calibri" pitchFamily="34" charset="0"/>
                <a:ea typeface="Calibri" pitchFamily="34" charset="-122"/>
                <a:cs typeface="Calibri" pitchFamily="34" charset="-120"/>
              </a:rPr>
              <a:t>steady timing,</a:t>
            </a:r>
            <a:endParaRPr lang="en-US" sz="1000" dirty="0"/>
          </a:p>
          <a:p>
            <a:pPr indent="0" marL="0">
              <a:lnSpc>
                <a:spcPts val="1300"/>
              </a:lnSpc>
              <a:buNone/>
            </a:pPr>
            <a:r>
              <a:rPr lang="en-US" sz="1000" dirty="0">
                <a:solidFill>
                  <a:srgbClr val="6B6459"/>
                </a:solidFill>
                <a:latin typeface="Calibri" pitchFamily="34" charset="0"/>
                <a:ea typeface="Calibri" pitchFamily="34" charset="-122"/>
                <a:cs typeface="Calibri" pitchFamily="34" charset="-120"/>
              </a:rPr>
              <a:t>wild sizes</a:t>
            </a:r>
            <a:endParaRPr lang="en-US" sz="1000" dirty="0"/>
          </a:p>
        </p:txBody>
      </p:sp>
      <p:sp>
        <p:nvSpPr>
          <p:cNvPr id="9" name="Text 7"/>
          <p:cNvSpPr txBox="1"/>
          <p:nvPr/>
        </p:nvSpPr>
        <p:spPr>
          <a:xfrm>
            <a:off x="1591056" y="3931920"/>
            <a:ext cx="2167128" cy="411480"/>
          </a:xfrm>
          <a:prstGeom prst="rect">
            <a:avLst/>
          </a:prstGeom>
          <a:noFill/>
          <a:ln/>
        </p:spPr>
        <p:txBody>
          <a:bodyPr wrap="square" lIns="0" tIns="0" rIns="0" bIns="0" rtlCol="0" anchor="ctr"/>
          <a:lstStyle/>
          <a:p>
            <a:pPr indent="0" marL="0">
              <a:lnSpc>
                <a:spcPts val="1100"/>
              </a:lnSpc>
              <a:buNone/>
            </a:pPr>
            <a:r>
              <a:rPr lang="en-US" sz="850" dirty="0">
                <a:solidFill>
                  <a:srgbClr val="14110D"/>
                </a:solidFill>
                <a:latin typeface="Courier New" pitchFamily="34" charset="0"/>
                <a:ea typeface="Courier New" pitchFamily="34" charset="-122"/>
                <a:cs typeface="Courier New" pitchFamily="34" charset="-120"/>
              </a:rPr>
              <a:t>LightGBM · MSTL</a:t>
            </a:r>
            <a:endParaRPr lang="en-US" sz="850" dirty="0"/>
          </a:p>
          <a:p>
            <a:pPr indent="0" marL="0">
              <a:lnSpc>
                <a:spcPts val="1100"/>
              </a:lnSpc>
              <a:buNone/>
            </a:pPr>
            <a:r>
              <a:rPr lang="en-US" sz="850" dirty="0">
                <a:solidFill>
                  <a:srgbClr val="14110D"/>
                </a:solidFill>
                <a:latin typeface="Courier New" pitchFamily="34" charset="0"/>
                <a:ea typeface="Courier New" pitchFamily="34" charset="-122"/>
                <a:cs typeface="Courier New" pitchFamily="34" charset="-120"/>
              </a:rPr>
              <a:t>SeasonalNaive · ARIMA</a:t>
            </a:r>
            <a:endParaRPr lang="en-US" sz="850" dirty="0"/>
          </a:p>
        </p:txBody>
      </p:sp>
      <p:sp>
        <p:nvSpPr>
          <p:cNvPr id="10" name="Shape 8"/>
          <p:cNvSpPr/>
          <p:nvPr/>
        </p:nvSpPr>
        <p:spPr>
          <a:xfrm>
            <a:off x="3977640" y="3127248"/>
            <a:ext cx="2423160" cy="1325880"/>
          </a:xfrm>
          <a:prstGeom prst="rect">
            <a:avLst/>
          </a:prstGeom>
          <a:solidFill>
            <a:srgbClr val="FCFAF6"/>
          </a:solidFill>
          <a:ln w="12700">
            <a:solidFill>
              <a:srgbClr val="E4DFD5"/>
            </a:solidFill>
            <a:prstDash val="solid"/>
          </a:ln>
        </p:spPr>
      </p:sp>
      <p:sp>
        <p:nvSpPr>
          <p:cNvPr id="11" name="Shape 9"/>
          <p:cNvSpPr/>
          <p:nvPr/>
        </p:nvSpPr>
        <p:spPr>
          <a:xfrm>
            <a:off x="3977640" y="3127248"/>
            <a:ext cx="2423160" cy="41148"/>
          </a:xfrm>
          <a:prstGeom prst="rect">
            <a:avLst/>
          </a:prstGeom>
          <a:solidFill>
            <a:srgbClr val="A32E22"/>
          </a:solidFill>
          <a:ln w="12700">
            <a:solidFill>
              <a:srgbClr val="A32E22"/>
            </a:solidFill>
            <a:prstDash val="solid"/>
          </a:ln>
        </p:spPr>
      </p:sp>
      <p:sp>
        <p:nvSpPr>
          <p:cNvPr id="12" name="Text 10"/>
          <p:cNvSpPr txBox="1"/>
          <p:nvPr/>
        </p:nvSpPr>
        <p:spPr>
          <a:xfrm>
            <a:off x="4105656" y="3246120"/>
            <a:ext cx="2167128" cy="237744"/>
          </a:xfrm>
          <a:prstGeom prst="rect">
            <a:avLst/>
          </a:prstGeom>
          <a:noFill/>
          <a:ln/>
        </p:spPr>
        <p:txBody>
          <a:bodyPr wrap="square" lIns="0" tIns="0" rIns="0" bIns="0" rtlCol="0" anchor="ctr"/>
          <a:lstStyle/>
          <a:p>
            <a:pPr indent="0" marL="0">
              <a:buNone/>
            </a:pPr>
            <a:r>
              <a:rPr lang="en-US" sz="1250" b="1" dirty="0">
                <a:solidFill>
                  <a:srgbClr val="A32E22"/>
                </a:solidFill>
                <a:latin typeface="Calibri" pitchFamily="34" charset="0"/>
                <a:ea typeface="Calibri" pitchFamily="34" charset="-122"/>
                <a:cs typeface="Calibri" pitchFamily="34" charset="-120"/>
              </a:rPr>
              <a:t>LUMPY</a:t>
            </a:r>
            <a:endParaRPr lang="en-US" sz="1250" dirty="0"/>
          </a:p>
        </p:txBody>
      </p:sp>
      <p:sp>
        <p:nvSpPr>
          <p:cNvPr id="13" name="Text 11"/>
          <p:cNvSpPr txBox="1"/>
          <p:nvPr/>
        </p:nvSpPr>
        <p:spPr>
          <a:xfrm>
            <a:off x="4105656" y="3493008"/>
            <a:ext cx="2167128" cy="384048"/>
          </a:xfrm>
          <a:prstGeom prst="rect">
            <a:avLst/>
          </a:prstGeom>
          <a:noFill/>
          <a:ln/>
        </p:spPr>
        <p:txBody>
          <a:bodyPr wrap="square" lIns="0" tIns="0" rIns="0" bIns="0" rtlCol="0" anchor="ctr"/>
          <a:lstStyle/>
          <a:p>
            <a:pPr indent="0" marL="0">
              <a:lnSpc>
                <a:spcPts val="1300"/>
              </a:lnSpc>
              <a:buNone/>
            </a:pPr>
            <a:r>
              <a:rPr lang="en-US" sz="1000" dirty="0">
                <a:solidFill>
                  <a:srgbClr val="6B6459"/>
                </a:solidFill>
                <a:latin typeface="Calibri" pitchFamily="34" charset="0"/>
                <a:ea typeface="Calibri" pitchFamily="34" charset="-122"/>
                <a:cs typeface="Calibri" pitchFamily="34" charset="-120"/>
              </a:rPr>
              <a:t>irregular timing</a:t>
            </a:r>
            <a:endParaRPr lang="en-US" sz="1000" dirty="0"/>
          </a:p>
          <a:p>
            <a:pPr indent="0" marL="0">
              <a:lnSpc>
                <a:spcPts val="1300"/>
              </a:lnSpc>
              <a:buNone/>
            </a:pPr>
            <a:r>
              <a:rPr lang="en-US" sz="1000" dirty="0">
                <a:solidFill>
                  <a:srgbClr val="6B6459"/>
                </a:solidFill>
                <a:latin typeface="Calibri" pitchFamily="34" charset="0"/>
                <a:ea typeface="Calibri" pitchFamily="34" charset="-122"/>
                <a:cs typeface="Calibri" pitchFamily="34" charset="-120"/>
              </a:rPr>
              <a:t>AND wild sizes</a:t>
            </a:r>
            <a:endParaRPr lang="en-US" sz="1000" dirty="0"/>
          </a:p>
        </p:txBody>
      </p:sp>
      <p:sp>
        <p:nvSpPr>
          <p:cNvPr id="14" name="Text 12"/>
          <p:cNvSpPr txBox="1"/>
          <p:nvPr/>
        </p:nvSpPr>
        <p:spPr>
          <a:xfrm>
            <a:off x="4105656" y="3931920"/>
            <a:ext cx="2167128" cy="411480"/>
          </a:xfrm>
          <a:prstGeom prst="rect">
            <a:avLst/>
          </a:prstGeom>
          <a:noFill/>
          <a:ln/>
        </p:spPr>
        <p:txBody>
          <a:bodyPr wrap="square" lIns="0" tIns="0" rIns="0" bIns="0" rtlCol="0" anchor="ctr"/>
          <a:lstStyle/>
          <a:p>
            <a:pPr indent="0" marL="0">
              <a:lnSpc>
                <a:spcPts val="1100"/>
              </a:lnSpc>
              <a:buNone/>
            </a:pPr>
            <a:r>
              <a:rPr lang="en-US" sz="850" dirty="0">
                <a:solidFill>
                  <a:srgbClr val="14110D"/>
                </a:solidFill>
                <a:latin typeface="Courier New" pitchFamily="34" charset="0"/>
                <a:ea typeface="Courier New" pitchFamily="34" charset="-122"/>
                <a:cs typeface="Courier New" pitchFamily="34" charset="-120"/>
              </a:rPr>
              <a:t>Croston · LightGBM</a:t>
            </a:r>
            <a:endParaRPr lang="en-US" sz="850" dirty="0"/>
          </a:p>
          <a:p>
            <a:pPr indent="0" marL="0">
              <a:lnSpc>
                <a:spcPts val="1100"/>
              </a:lnSpc>
              <a:buNone/>
            </a:pPr>
            <a:r>
              <a:rPr lang="en-US" sz="850" dirty="0">
                <a:solidFill>
                  <a:srgbClr val="14110D"/>
                </a:solidFill>
                <a:latin typeface="Courier New" pitchFamily="34" charset="0"/>
                <a:ea typeface="Courier New" pitchFamily="34" charset="-122"/>
                <a:cs typeface="Courier New" pitchFamily="34" charset="-120"/>
              </a:rPr>
              <a:t>SeasonalNaive</a:t>
            </a:r>
            <a:endParaRPr lang="en-US" sz="850" dirty="0"/>
          </a:p>
        </p:txBody>
      </p:sp>
      <p:sp>
        <p:nvSpPr>
          <p:cNvPr id="15" name="Shape 13"/>
          <p:cNvSpPr/>
          <p:nvPr/>
        </p:nvSpPr>
        <p:spPr>
          <a:xfrm>
            <a:off x="1463040" y="4544568"/>
            <a:ext cx="2423160" cy="1325880"/>
          </a:xfrm>
          <a:prstGeom prst="rect">
            <a:avLst/>
          </a:prstGeom>
          <a:solidFill>
            <a:srgbClr val="FCFAF6"/>
          </a:solidFill>
          <a:ln w="12700">
            <a:solidFill>
              <a:srgbClr val="E4DFD5"/>
            </a:solidFill>
            <a:prstDash val="solid"/>
          </a:ln>
        </p:spPr>
      </p:sp>
      <p:sp>
        <p:nvSpPr>
          <p:cNvPr id="16" name="Shape 14"/>
          <p:cNvSpPr/>
          <p:nvPr/>
        </p:nvSpPr>
        <p:spPr>
          <a:xfrm>
            <a:off x="1463040" y="4544568"/>
            <a:ext cx="2423160" cy="41148"/>
          </a:xfrm>
          <a:prstGeom prst="rect">
            <a:avLst/>
          </a:prstGeom>
          <a:solidFill>
            <a:srgbClr val="1F5D42"/>
          </a:solidFill>
          <a:ln w="12700">
            <a:solidFill>
              <a:srgbClr val="1F5D42"/>
            </a:solidFill>
            <a:prstDash val="solid"/>
          </a:ln>
        </p:spPr>
      </p:sp>
      <p:sp>
        <p:nvSpPr>
          <p:cNvPr id="17" name="Text 15"/>
          <p:cNvSpPr txBox="1"/>
          <p:nvPr/>
        </p:nvSpPr>
        <p:spPr>
          <a:xfrm>
            <a:off x="1591056" y="4663440"/>
            <a:ext cx="2167128" cy="237744"/>
          </a:xfrm>
          <a:prstGeom prst="rect">
            <a:avLst/>
          </a:prstGeom>
          <a:noFill/>
          <a:ln/>
        </p:spPr>
        <p:txBody>
          <a:bodyPr wrap="square" lIns="0" tIns="0" rIns="0" bIns="0" rtlCol="0" anchor="ctr"/>
          <a:lstStyle/>
          <a:p>
            <a:pPr indent="0" marL="0">
              <a:buNone/>
            </a:pPr>
            <a:r>
              <a:rPr lang="en-US" sz="1250" b="1" dirty="0">
                <a:solidFill>
                  <a:srgbClr val="1F5D42"/>
                </a:solidFill>
                <a:latin typeface="Calibri" pitchFamily="34" charset="0"/>
                <a:ea typeface="Calibri" pitchFamily="34" charset="-122"/>
                <a:cs typeface="Calibri" pitchFamily="34" charset="-120"/>
              </a:rPr>
              <a:t>SMOOTH</a:t>
            </a:r>
            <a:endParaRPr lang="en-US" sz="1250" dirty="0"/>
          </a:p>
        </p:txBody>
      </p:sp>
      <p:sp>
        <p:nvSpPr>
          <p:cNvPr id="18" name="Text 16"/>
          <p:cNvSpPr txBox="1"/>
          <p:nvPr/>
        </p:nvSpPr>
        <p:spPr>
          <a:xfrm>
            <a:off x="1591056" y="4910328"/>
            <a:ext cx="2167128" cy="384048"/>
          </a:xfrm>
          <a:prstGeom prst="rect">
            <a:avLst/>
          </a:prstGeom>
          <a:noFill/>
          <a:ln/>
        </p:spPr>
        <p:txBody>
          <a:bodyPr wrap="square" lIns="0" tIns="0" rIns="0" bIns="0" rtlCol="0" anchor="ctr"/>
          <a:lstStyle/>
          <a:p>
            <a:pPr indent="0" marL="0">
              <a:lnSpc>
                <a:spcPts val="1300"/>
              </a:lnSpc>
              <a:buNone/>
            </a:pPr>
            <a:r>
              <a:rPr lang="en-US" sz="1000" dirty="0">
                <a:solidFill>
                  <a:srgbClr val="6B6459"/>
                </a:solidFill>
                <a:latin typeface="Calibri" pitchFamily="34" charset="0"/>
                <a:ea typeface="Calibri" pitchFamily="34" charset="-122"/>
                <a:cs typeface="Calibri" pitchFamily="34" charset="-120"/>
              </a:rPr>
              <a:t>sells most days,</a:t>
            </a:r>
            <a:endParaRPr lang="en-US" sz="1000" dirty="0"/>
          </a:p>
          <a:p>
            <a:pPr indent="0" marL="0">
              <a:lnSpc>
                <a:spcPts val="1300"/>
              </a:lnSpc>
              <a:buNone/>
            </a:pPr>
            <a:r>
              <a:rPr lang="en-US" sz="1000" dirty="0">
                <a:solidFill>
                  <a:srgbClr val="6B6459"/>
                </a:solidFill>
                <a:latin typeface="Calibri" pitchFamily="34" charset="0"/>
                <a:ea typeface="Calibri" pitchFamily="34" charset="-122"/>
                <a:cs typeface="Calibri" pitchFamily="34" charset="-120"/>
              </a:rPr>
              <a:t>stable sizes</a:t>
            </a:r>
            <a:endParaRPr lang="en-US" sz="1000" dirty="0"/>
          </a:p>
        </p:txBody>
      </p:sp>
      <p:sp>
        <p:nvSpPr>
          <p:cNvPr id="19" name="Text 17"/>
          <p:cNvSpPr txBox="1"/>
          <p:nvPr/>
        </p:nvSpPr>
        <p:spPr>
          <a:xfrm>
            <a:off x="1591056" y="5349240"/>
            <a:ext cx="2167128" cy="411480"/>
          </a:xfrm>
          <a:prstGeom prst="rect">
            <a:avLst/>
          </a:prstGeom>
          <a:noFill/>
          <a:ln/>
        </p:spPr>
        <p:txBody>
          <a:bodyPr wrap="square" lIns="0" tIns="0" rIns="0" bIns="0" rtlCol="0" anchor="ctr"/>
          <a:lstStyle/>
          <a:p>
            <a:pPr indent="0" marL="0">
              <a:lnSpc>
                <a:spcPts val="1100"/>
              </a:lnSpc>
              <a:buNone/>
            </a:pPr>
            <a:r>
              <a:rPr lang="en-US" sz="850" dirty="0">
                <a:solidFill>
                  <a:srgbClr val="14110D"/>
                </a:solidFill>
                <a:latin typeface="Courier New" pitchFamily="34" charset="0"/>
                <a:ea typeface="Courier New" pitchFamily="34" charset="-122"/>
                <a:cs typeface="Courier New" pitchFamily="34" charset="-120"/>
              </a:rPr>
              <a:t>Prophet · ARIMA · MSTL</a:t>
            </a:r>
            <a:endParaRPr lang="en-US" sz="850" dirty="0"/>
          </a:p>
          <a:p>
            <a:pPr indent="0" marL="0">
              <a:lnSpc>
                <a:spcPts val="1100"/>
              </a:lnSpc>
              <a:buNone/>
            </a:pPr>
            <a:r>
              <a:rPr lang="en-US" sz="850" dirty="0">
                <a:solidFill>
                  <a:srgbClr val="14110D"/>
                </a:solidFill>
                <a:latin typeface="Courier New" pitchFamily="34" charset="0"/>
                <a:ea typeface="Courier New" pitchFamily="34" charset="-122"/>
                <a:cs typeface="Courier New" pitchFamily="34" charset="-120"/>
              </a:rPr>
              <a:t>SeasonalNaive · LightGBM</a:t>
            </a:r>
            <a:endParaRPr lang="en-US" sz="850" dirty="0"/>
          </a:p>
        </p:txBody>
      </p:sp>
      <p:sp>
        <p:nvSpPr>
          <p:cNvPr id="20" name="Shape 18"/>
          <p:cNvSpPr/>
          <p:nvPr/>
        </p:nvSpPr>
        <p:spPr>
          <a:xfrm>
            <a:off x="3977640" y="4544568"/>
            <a:ext cx="2423160" cy="1325880"/>
          </a:xfrm>
          <a:prstGeom prst="rect">
            <a:avLst/>
          </a:prstGeom>
          <a:solidFill>
            <a:srgbClr val="FCFAF6"/>
          </a:solidFill>
          <a:ln w="12700">
            <a:solidFill>
              <a:srgbClr val="E4DFD5"/>
            </a:solidFill>
            <a:prstDash val="solid"/>
          </a:ln>
        </p:spPr>
      </p:sp>
      <p:sp>
        <p:nvSpPr>
          <p:cNvPr id="21" name="Shape 19"/>
          <p:cNvSpPr/>
          <p:nvPr/>
        </p:nvSpPr>
        <p:spPr>
          <a:xfrm>
            <a:off x="3977640" y="4544568"/>
            <a:ext cx="2423160" cy="41148"/>
          </a:xfrm>
          <a:prstGeom prst="rect">
            <a:avLst/>
          </a:prstGeom>
          <a:solidFill>
            <a:srgbClr val="1C4E7A"/>
          </a:solidFill>
          <a:ln w="12700">
            <a:solidFill>
              <a:srgbClr val="1C4E7A"/>
            </a:solidFill>
            <a:prstDash val="solid"/>
          </a:ln>
        </p:spPr>
      </p:sp>
      <p:sp>
        <p:nvSpPr>
          <p:cNvPr id="22" name="Text 20"/>
          <p:cNvSpPr txBox="1"/>
          <p:nvPr/>
        </p:nvSpPr>
        <p:spPr>
          <a:xfrm>
            <a:off x="4105656" y="4663440"/>
            <a:ext cx="2167128" cy="237744"/>
          </a:xfrm>
          <a:prstGeom prst="rect">
            <a:avLst/>
          </a:prstGeom>
          <a:noFill/>
          <a:ln/>
        </p:spPr>
        <p:txBody>
          <a:bodyPr wrap="square" lIns="0" tIns="0" rIns="0" bIns="0" rtlCol="0" anchor="ctr"/>
          <a:lstStyle/>
          <a:p>
            <a:pPr indent="0" marL="0">
              <a:buNone/>
            </a:pPr>
            <a:r>
              <a:rPr lang="en-US" sz="1250" b="1" dirty="0">
                <a:solidFill>
                  <a:srgbClr val="1C4E7A"/>
                </a:solidFill>
                <a:latin typeface="Calibri" pitchFamily="34" charset="0"/>
                <a:ea typeface="Calibri" pitchFamily="34" charset="-122"/>
                <a:cs typeface="Calibri" pitchFamily="34" charset="-120"/>
              </a:rPr>
              <a:t>INTERMITTENT</a:t>
            </a:r>
            <a:endParaRPr lang="en-US" sz="1250" dirty="0"/>
          </a:p>
        </p:txBody>
      </p:sp>
      <p:sp>
        <p:nvSpPr>
          <p:cNvPr id="23" name="Text 21"/>
          <p:cNvSpPr txBox="1"/>
          <p:nvPr/>
        </p:nvSpPr>
        <p:spPr>
          <a:xfrm>
            <a:off x="4105656" y="4910328"/>
            <a:ext cx="2167128" cy="384048"/>
          </a:xfrm>
          <a:prstGeom prst="rect">
            <a:avLst/>
          </a:prstGeom>
          <a:noFill/>
          <a:ln/>
        </p:spPr>
        <p:txBody>
          <a:bodyPr wrap="square" lIns="0" tIns="0" rIns="0" bIns="0" rtlCol="0" anchor="ctr"/>
          <a:lstStyle/>
          <a:p>
            <a:pPr indent="0" marL="0">
              <a:lnSpc>
                <a:spcPts val="1300"/>
              </a:lnSpc>
              <a:buNone/>
            </a:pPr>
            <a:r>
              <a:rPr lang="en-US" sz="1000" dirty="0">
                <a:solidFill>
                  <a:srgbClr val="6B6459"/>
                </a:solidFill>
                <a:latin typeface="Calibri" pitchFamily="34" charset="0"/>
                <a:ea typeface="Calibri" pitchFamily="34" charset="-122"/>
                <a:cs typeface="Calibri" pitchFamily="34" charset="-120"/>
              </a:rPr>
              <a:t>long gaps between</a:t>
            </a:r>
            <a:endParaRPr lang="en-US" sz="1000" dirty="0"/>
          </a:p>
          <a:p>
            <a:pPr indent="0" marL="0">
              <a:lnSpc>
                <a:spcPts val="1300"/>
              </a:lnSpc>
              <a:buNone/>
            </a:pPr>
            <a:r>
              <a:rPr lang="en-US" sz="1000" dirty="0">
                <a:solidFill>
                  <a:srgbClr val="6B6459"/>
                </a:solidFill>
                <a:latin typeface="Calibri" pitchFamily="34" charset="0"/>
                <a:ea typeface="Calibri" pitchFamily="34" charset="-122"/>
                <a:cs typeface="Calibri" pitchFamily="34" charset="-120"/>
              </a:rPr>
              <a:t>sales</a:t>
            </a:r>
            <a:endParaRPr lang="en-US" sz="1000" dirty="0"/>
          </a:p>
        </p:txBody>
      </p:sp>
      <p:sp>
        <p:nvSpPr>
          <p:cNvPr id="24" name="Text 22"/>
          <p:cNvSpPr txBox="1"/>
          <p:nvPr/>
        </p:nvSpPr>
        <p:spPr>
          <a:xfrm>
            <a:off x="4105656" y="5349240"/>
            <a:ext cx="2167128" cy="411480"/>
          </a:xfrm>
          <a:prstGeom prst="rect">
            <a:avLst/>
          </a:prstGeom>
          <a:noFill/>
          <a:ln/>
        </p:spPr>
        <p:txBody>
          <a:bodyPr wrap="square" lIns="0" tIns="0" rIns="0" bIns="0" rtlCol="0" anchor="ctr"/>
          <a:lstStyle/>
          <a:p>
            <a:pPr indent="0" marL="0">
              <a:lnSpc>
                <a:spcPts val="1100"/>
              </a:lnSpc>
              <a:buNone/>
            </a:pPr>
            <a:r>
              <a:rPr lang="en-US" sz="850" dirty="0">
                <a:solidFill>
                  <a:srgbClr val="14110D"/>
                </a:solidFill>
                <a:latin typeface="Courier New" pitchFamily="34" charset="0"/>
                <a:ea typeface="Courier New" pitchFamily="34" charset="-122"/>
                <a:cs typeface="Courier New" pitchFamily="34" charset="-120"/>
              </a:rPr>
              <a:t>Croston · SeasonalNaive</a:t>
            </a:r>
            <a:endParaRPr lang="en-US" sz="850" dirty="0"/>
          </a:p>
          <a:p>
            <a:pPr indent="0" marL="0">
              <a:lnSpc>
                <a:spcPts val="1100"/>
              </a:lnSpc>
              <a:buNone/>
            </a:pPr>
            <a:r>
              <a:rPr lang="en-US" sz="850" dirty="0">
                <a:solidFill>
                  <a:srgbClr val="14110D"/>
                </a:solidFill>
                <a:latin typeface="Courier New" pitchFamily="34" charset="0"/>
                <a:ea typeface="Courier New" pitchFamily="34" charset="-122"/>
                <a:cs typeface="Courier New" pitchFamily="34" charset="-120"/>
              </a:rPr>
              <a:t>LightGBM</a:t>
            </a:r>
            <a:endParaRPr lang="en-US" sz="850" dirty="0"/>
          </a:p>
        </p:txBody>
      </p:sp>
      <p:sp>
        <p:nvSpPr>
          <p:cNvPr id="25" name="Text 23"/>
          <p:cNvSpPr txBox="1"/>
          <p:nvPr/>
        </p:nvSpPr>
        <p:spPr>
          <a:xfrm>
            <a:off x="475488" y="3127248"/>
            <a:ext cx="914400" cy="1417320"/>
          </a:xfrm>
          <a:prstGeom prst="rect">
            <a:avLst/>
          </a:prstGeom>
          <a:noFill/>
          <a:ln/>
        </p:spPr>
        <p:txBody>
          <a:bodyPr wrap="square" lIns="0" tIns="0" rIns="0" bIns="0" rtlCol="0" anchor="ctr"/>
          <a:lstStyle/>
          <a:p>
            <a:pPr indent="0" marL="0">
              <a:lnSpc>
                <a:spcPts val="1000"/>
              </a:lnSpc>
              <a:buNone/>
            </a:pPr>
            <a:r>
              <a:rPr lang="en-US" sz="800" dirty="0">
                <a:solidFill>
                  <a:srgbClr val="9A9287"/>
                </a:solidFill>
                <a:latin typeface="Courier New" pitchFamily="34" charset="0"/>
                <a:ea typeface="Courier New" pitchFamily="34" charset="-122"/>
                <a:cs typeface="Courier New" pitchFamily="34" charset="-120"/>
              </a:rPr>
              <a:t>CV² ↑</a:t>
            </a:r>
            <a:endParaRPr lang="en-US" sz="800" dirty="0"/>
          </a:p>
          <a:p>
            <a:pPr indent="0" marL="0">
              <a:lnSpc>
                <a:spcPts val="1000"/>
              </a:lnSpc>
              <a:buNone/>
            </a:pPr>
            <a:r>
              <a:rPr lang="en-US" sz="800" dirty="0">
                <a:solidFill>
                  <a:srgbClr val="9A9287"/>
                </a:solidFill>
                <a:latin typeface="Courier New" pitchFamily="34" charset="0"/>
                <a:ea typeface="Courier New" pitchFamily="34" charset="-122"/>
                <a:cs typeface="Courier New" pitchFamily="34" charset="-120"/>
              </a:rPr>
              <a:t>sale size</a:t>
            </a:r>
            <a:endParaRPr lang="en-US" sz="800" dirty="0"/>
          </a:p>
          <a:p>
            <a:pPr indent="0" marL="0">
              <a:lnSpc>
                <a:spcPts val="1000"/>
              </a:lnSpc>
              <a:buNone/>
            </a:pPr>
            <a:r>
              <a:rPr lang="en-US" sz="800" dirty="0">
                <a:solidFill>
                  <a:srgbClr val="9A9287"/>
                </a:solidFill>
                <a:latin typeface="Courier New" pitchFamily="34" charset="0"/>
                <a:ea typeface="Courier New" pitchFamily="34" charset="-122"/>
                <a:cs typeface="Courier New" pitchFamily="34" charset="-120"/>
              </a:rPr>
              <a:t>varies</a:t>
            </a:r>
            <a:endParaRPr lang="en-US" sz="800" dirty="0"/>
          </a:p>
          <a:p>
            <a:pPr indent="0" marL="0">
              <a:lnSpc>
                <a:spcPts val="1000"/>
              </a:lnSpc>
              <a:buNone/>
            </a:pPr>
            <a:endParaRPr lang="en-US" sz="800" dirty="0"/>
          </a:p>
          <a:p>
            <a:pPr indent="0" marL="0">
              <a:lnSpc>
                <a:spcPts val="1000"/>
              </a:lnSpc>
              <a:buNone/>
            </a:pPr>
            <a:r>
              <a:rPr lang="en-US" sz="800" dirty="0">
                <a:solidFill>
                  <a:srgbClr val="9A9287"/>
                </a:solidFill>
                <a:latin typeface="Courier New" pitchFamily="34" charset="0"/>
                <a:ea typeface="Courier New" pitchFamily="34" charset="-122"/>
                <a:cs typeface="Courier New" pitchFamily="34" charset="-120"/>
              </a:rPr>
              <a:t>cut at</a:t>
            </a:r>
            <a:endParaRPr lang="en-US" sz="800" dirty="0"/>
          </a:p>
          <a:p>
            <a:pPr indent="0" marL="0">
              <a:lnSpc>
                <a:spcPts val="1000"/>
              </a:lnSpc>
              <a:buNone/>
            </a:pPr>
            <a:r>
              <a:rPr lang="en-US" sz="800" dirty="0">
                <a:solidFill>
                  <a:srgbClr val="9A9287"/>
                </a:solidFill>
                <a:latin typeface="Courier New" pitchFamily="34" charset="0"/>
                <a:ea typeface="Courier New" pitchFamily="34" charset="-122"/>
                <a:cs typeface="Courier New" pitchFamily="34" charset="-120"/>
              </a:rPr>
              <a:t>0.49</a:t>
            </a:r>
            <a:endParaRPr lang="en-US" sz="800" dirty="0"/>
          </a:p>
        </p:txBody>
      </p:sp>
      <p:sp>
        <p:nvSpPr>
          <p:cNvPr id="26" name="Text 24"/>
          <p:cNvSpPr txBox="1"/>
          <p:nvPr/>
        </p:nvSpPr>
        <p:spPr>
          <a:xfrm>
            <a:off x="1463040" y="5907024"/>
            <a:ext cx="4937760" cy="182880"/>
          </a:xfrm>
          <a:prstGeom prst="rect">
            <a:avLst/>
          </a:prstGeom>
          <a:noFill/>
          <a:ln/>
        </p:spPr>
        <p:txBody>
          <a:bodyPr wrap="square" lIns="0" tIns="0" rIns="0" bIns="0" rtlCol="0" anchor="ctr"/>
          <a:lstStyle/>
          <a:p>
            <a:pPr indent="0" marL="0">
              <a:buNone/>
            </a:pPr>
            <a:r>
              <a:rPr lang="en-US" sz="850" dirty="0">
                <a:solidFill>
                  <a:srgbClr val="9A9287"/>
                </a:solidFill>
                <a:latin typeface="Courier New" pitchFamily="34" charset="0"/>
                <a:ea typeface="Courier New" pitchFamily="34" charset="-122"/>
                <a:cs typeface="Courier New" pitchFamily="34" charset="-120"/>
              </a:rPr>
              <a:t>ADI  →  gaps between sales get longer          cut at 1.32</a:t>
            </a:r>
            <a:endParaRPr lang="en-US" sz="850" dirty="0"/>
          </a:p>
        </p:txBody>
      </p:sp>
      <p:sp>
        <p:nvSpPr>
          <p:cNvPr id="27" name="Text 25"/>
          <p:cNvSpPr txBox="1"/>
          <p:nvPr/>
        </p:nvSpPr>
        <p:spPr>
          <a:xfrm>
            <a:off x="6949440" y="2212848"/>
            <a:ext cx="4480560" cy="237744"/>
          </a:xfrm>
          <a:prstGeom prst="rect">
            <a:avLst/>
          </a:prstGeom>
          <a:noFill/>
          <a:ln/>
        </p:spPr>
        <p:txBody>
          <a:bodyPr wrap="square" lIns="0" tIns="0" rIns="0" bIns="0" rtlCol="0" anchor="ctr"/>
          <a:lstStyle/>
          <a:p>
            <a:pPr indent="0" marL="0">
              <a:buNone/>
            </a:pPr>
            <a:r>
              <a:rPr lang="en-US" sz="1000" spc="180" kern="0" dirty="0">
                <a:solidFill>
                  <a:srgbClr val="9A9287"/>
                </a:solidFill>
                <a:latin typeface="Courier New" pitchFamily="34" charset="0"/>
                <a:ea typeface="Courier New" pitchFamily="34" charset="-122"/>
                <a:cs typeface="Courier New" pitchFamily="34" charset="-120"/>
              </a:rPr>
              <a:t>THE ELEVEN MODELS, BY FAMILY</a:t>
            </a:r>
            <a:endParaRPr lang="en-US" sz="1000" dirty="0"/>
          </a:p>
        </p:txBody>
      </p:sp>
      <p:sp>
        <p:nvSpPr>
          <p:cNvPr id="28" name="Text 26"/>
          <p:cNvSpPr txBox="1"/>
          <p:nvPr/>
        </p:nvSpPr>
        <p:spPr>
          <a:xfrm>
            <a:off x="6949440" y="2523744"/>
            <a:ext cx="4480560" cy="219456"/>
          </a:xfrm>
          <a:prstGeom prst="rect">
            <a:avLst/>
          </a:prstGeom>
          <a:noFill/>
          <a:ln/>
        </p:spPr>
        <p:txBody>
          <a:bodyPr wrap="square" lIns="0" tIns="0" rIns="0" bIns="0" rtlCol="0" anchor="ctr"/>
          <a:lstStyle/>
          <a:p>
            <a:pPr indent="0" marL="0">
              <a:buNone/>
            </a:pPr>
            <a:r>
              <a:rPr lang="en-US" sz="1150" b="1" dirty="0">
                <a:solidFill>
                  <a:srgbClr val="14110D"/>
                </a:solidFill>
                <a:latin typeface="Calibri" pitchFamily="34" charset="0"/>
                <a:ea typeface="Calibri" pitchFamily="34" charset="-122"/>
                <a:cs typeface="Calibri" pitchFamily="34" charset="-120"/>
              </a:rPr>
              <a:t>Baselines</a:t>
            </a:r>
            <a:endParaRPr lang="en-US" sz="1150" dirty="0"/>
          </a:p>
        </p:txBody>
      </p:sp>
      <p:sp>
        <p:nvSpPr>
          <p:cNvPr id="29" name="Text 27"/>
          <p:cNvSpPr txBox="1"/>
          <p:nvPr/>
        </p:nvSpPr>
        <p:spPr>
          <a:xfrm>
            <a:off x="6949440" y="2724912"/>
            <a:ext cx="4480560" cy="201168"/>
          </a:xfrm>
          <a:prstGeom prst="rect">
            <a:avLst/>
          </a:prstGeom>
          <a:noFill/>
          <a:ln/>
        </p:spPr>
        <p:txBody>
          <a:bodyPr wrap="square" lIns="0" tIns="0" rIns="0" bIns="0" rtlCol="0" anchor="ctr"/>
          <a:lstStyle/>
          <a:p>
            <a:pPr indent="0" marL="0">
              <a:buNone/>
            </a:pPr>
            <a:r>
              <a:rPr lang="en-US" sz="900" dirty="0">
                <a:solidFill>
                  <a:srgbClr val="3B362F"/>
                </a:solidFill>
                <a:latin typeface="Courier New" pitchFamily="34" charset="0"/>
                <a:ea typeface="Courier New" pitchFamily="34" charset="-122"/>
                <a:cs typeface="Courier New" pitchFamily="34" charset="-120"/>
              </a:rPr>
              <a:t>Naive · SeasonalNaive · WindowAverage</a:t>
            </a:r>
            <a:endParaRPr lang="en-US" sz="900" dirty="0"/>
          </a:p>
        </p:txBody>
      </p:sp>
      <p:sp>
        <p:nvSpPr>
          <p:cNvPr id="30" name="Text 28"/>
          <p:cNvSpPr txBox="1"/>
          <p:nvPr/>
        </p:nvSpPr>
        <p:spPr>
          <a:xfrm>
            <a:off x="6949440" y="2907792"/>
            <a:ext cx="4480560" cy="201168"/>
          </a:xfrm>
          <a:prstGeom prst="rect">
            <a:avLst/>
          </a:prstGeom>
          <a:noFill/>
          <a:ln/>
        </p:spPr>
        <p:txBody>
          <a:bodyPr wrap="square" lIns="0" tIns="0" rIns="0" bIns="0" rtlCol="0" anchor="ctr"/>
          <a:lstStyle/>
          <a:p>
            <a:pPr indent="0" marL="0">
              <a:buNone/>
            </a:pPr>
            <a:r>
              <a:rPr lang="en-US" sz="950" dirty="0">
                <a:solidFill>
                  <a:srgbClr val="6B6459"/>
                </a:solidFill>
                <a:latin typeface="Calibri" pitchFamily="34" charset="0"/>
                <a:ea typeface="Calibri" pitchFamily="34" charset="-122"/>
                <a:cs typeface="Calibri" pitchFamily="34" charset="-120"/>
              </a:rPr>
              <a:t>SeasonalNaive is the one to beat, not a strawman</a:t>
            </a:r>
            <a:endParaRPr lang="en-US" sz="950" dirty="0"/>
          </a:p>
        </p:txBody>
      </p:sp>
      <p:sp>
        <p:nvSpPr>
          <p:cNvPr id="31" name="Text 29"/>
          <p:cNvSpPr txBox="1"/>
          <p:nvPr/>
        </p:nvSpPr>
        <p:spPr>
          <a:xfrm>
            <a:off x="6949440" y="3127248"/>
            <a:ext cx="4480560" cy="219456"/>
          </a:xfrm>
          <a:prstGeom prst="rect">
            <a:avLst/>
          </a:prstGeom>
          <a:noFill/>
          <a:ln/>
        </p:spPr>
        <p:txBody>
          <a:bodyPr wrap="square" lIns="0" tIns="0" rIns="0" bIns="0" rtlCol="0" anchor="ctr"/>
          <a:lstStyle/>
          <a:p>
            <a:pPr indent="0" marL="0">
              <a:buNone/>
            </a:pPr>
            <a:r>
              <a:rPr lang="en-US" sz="1150" b="1" dirty="0">
                <a:solidFill>
                  <a:srgbClr val="14110D"/>
                </a:solidFill>
                <a:latin typeface="Calibri" pitchFamily="34" charset="0"/>
                <a:ea typeface="Calibri" pitchFamily="34" charset="-122"/>
                <a:cs typeface="Calibri" pitchFamily="34" charset="-120"/>
              </a:rPr>
              <a:t>Statistical</a:t>
            </a:r>
            <a:endParaRPr lang="en-US" sz="1150" dirty="0"/>
          </a:p>
        </p:txBody>
      </p:sp>
      <p:sp>
        <p:nvSpPr>
          <p:cNvPr id="32" name="Text 30"/>
          <p:cNvSpPr txBox="1"/>
          <p:nvPr/>
        </p:nvSpPr>
        <p:spPr>
          <a:xfrm>
            <a:off x="6949440" y="3328416"/>
            <a:ext cx="4480560" cy="201168"/>
          </a:xfrm>
          <a:prstGeom prst="rect">
            <a:avLst/>
          </a:prstGeom>
          <a:noFill/>
          <a:ln/>
        </p:spPr>
        <p:txBody>
          <a:bodyPr wrap="square" lIns="0" tIns="0" rIns="0" bIns="0" rtlCol="0" anchor="ctr"/>
          <a:lstStyle/>
          <a:p>
            <a:pPr indent="0" marL="0">
              <a:buNone/>
            </a:pPr>
            <a:r>
              <a:rPr lang="en-US" sz="900" dirty="0">
                <a:solidFill>
                  <a:srgbClr val="3B362F"/>
                </a:solidFill>
                <a:latin typeface="Courier New" pitchFamily="34" charset="0"/>
                <a:ea typeface="Courier New" pitchFamily="34" charset="-122"/>
                <a:cs typeface="Courier New" pitchFamily="34" charset="-120"/>
              </a:rPr>
              <a:t>AutoARIMA · AutoETS · DynamicOptimizedTheta</a:t>
            </a:r>
            <a:endParaRPr lang="en-US" sz="900" dirty="0"/>
          </a:p>
        </p:txBody>
      </p:sp>
      <p:sp>
        <p:nvSpPr>
          <p:cNvPr id="33" name="Text 31"/>
          <p:cNvSpPr txBox="1"/>
          <p:nvPr/>
        </p:nvSpPr>
        <p:spPr>
          <a:xfrm>
            <a:off x="6949440" y="3511296"/>
            <a:ext cx="4480560" cy="201168"/>
          </a:xfrm>
          <a:prstGeom prst="rect">
            <a:avLst/>
          </a:prstGeom>
          <a:noFill/>
          <a:ln/>
        </p:spPr>
        <p:txBody>
          <a:bodyPr wrap="square" lIns="0" tIns="0" rIns="0" bIns="0" rtlCol="0" anchor="ctr"/>
          <a:lstStyle/>
          <a:p>
            <a:pPr indent="0" marL="0">
              <a:buNone/>
            </a:pPr>
            <a:r>
              <a:rPr lang="en-US" sz="950" dirty="0">
                <a:solidFill>
                  <a:srgbClr val="6B6459"/>
                </a:solidFill>
                <a:latin typeface="Calibri" pitchFamily="34" charset="0"/>
                <a:ea typeface="Calibri" pitchFamily="34" charset="-122"/>
                <a:cs typeface="Calibri" pitchFamily="34" charset="-120"/>
              </a:rPr>
              <a:t>short-run autocorrelation, fitted per series</a:t>
            </a:r>
            <a:endParaRPr lang="en-US" sz="950" dirty="0"/>
          </a:p>
        </p:txBody>
      </p:sp>
      <p:sp>
        <p:nvSpPr>
          <p:cNvPr id="34" name="Text 32"/>
          <p:cNvSpPr txBox="1"/>
          <p:nvPr/>
        </p:nvSpPr>
        <p:spPr>
          <a:xfrm>
            <a:off x="6949440" y="3730752"/>
            <a:ext cx="4480560" cy="219456"/>
          </a:xfrm>
          <a:prstGeom prst="rect">
            <a:avLst/>
          </a:prstGeom>
          <a:noFill/>
          <a:ln/>
        </p:spPr>
        <p:txBody>
          <a:bodyPr wrap="square" lIns="0" tIns="0" rIns="0" bIns="0" rtlCol="0" anchor="ctr"/>
          <a:lstStyle/>
          <a:p>
            <a:pPr indent="0" marL="0">
              <a:buNone/>
            </a:pPr>
            <a:r>
              <a:rPr lang="en-US" sz="1150" b="1" dirty="0">
                <a:solidFill>
                  <a:srgbClr val="14110D"/>
                </a:solidFill>
                <a:latin typeface="Calibri" pitchFamily="34" charset="0"/>
                <a:ea typeface="Calibri" pitchFamily="34" charset="-122"/>
                <a:cs typeface="Calibri" pitchFamily="34" charset="-120"/>
              </a:rPr>
              <a:t>Decomposition</a:t>
            </a:r>
            <a:endParaRPr lang="en-US" sz="1150" dirty="0"/>
          </a:p>
        </p:txBody>
      </p:sp>
      <p:sp>
        <p:nvSpPr>
          <p:cNvPr id="35" name="Text 33"/>
          <p:cNvSpPr txBox="1"/>
          <p:nvPr/>
        </p:nvSpPr>
        <p:spPr>
          <a:xfrm>
            <a:off x="6949440" y="3931920"/>
            <a:ext cx="4480560" cy="201168"/>
          </a:xfrm>
          <a:prstGeom prst="rect">
            <a:avLst/>
          </a:prstGeom>
          <a:noFill/>
          <a:ln/>
        </p:spPr>
        <p:txBody>
          <a:bodyPr wrap="square" lIns="0" tIns="0" rIns="0" bIns="0" rtlCol="0" anchor="ctr"/>
          <a:lstStyle/>
          <a:p>
            <a:pPr indent="0" marL="0">
              <a:buNone/>
            </a:pPr>
            <a:r>
              <a:rPr lang="en-US" sz="900" dirty="0">
                <a:solidFill>
                  <a:srgbClr val="3B362F"/>
                </a:solidFill>
                <a:latin typeface="Courier New" pitchFamily="34" charset="0"/>
                <a:ea typeface="Courier New" pitchFamily="34" charset="-122"/>
                <a:cs typeface="Courier New" pitchFamily="34" charset="-120"/>
              </a:rPr>
              <a:t>MSTL</a:t>
            </a:r>
            <a:endParaRPr lang="en-US" sz="900" dirty="0"/>
          </a:p>
        </p:txBody>
      </p:sp>
      <p:sp>
        <p:nvSpPr>
          <p:cNvPr id="36" name="Text 34"/>
          <p:cNvSpPr txBox="1"/>
          <p:nvPr/>
        </p:nvSpPr>
        <p:spPr>
          <a:xfrm>
            <a:off x="6949440" y="4114800"/>
            <a:ext cx="4480560" cy="201168"/>
          </a:xfrm>
          <a:prstGeom prst="rect">
            <a:avLst/>
          </a:prstGeom>
          <a:noFill/>
          <a:ln/>
        </p:spPr>
        <p:txBody>
          <a:bodyPr wrap="square" lIns="0" tIns="0" rIns="0" bIns="0" rtlCol="0" anchor="ctr"/>
          <a:lstStyle/>
          <a:p>
            <a:pPr indent="0" marL="0">
              <a:buNone/>
            </a:pPr>
            <a:r>
              <a:rPr lang="en-US" sz="950" dirty="0">
                <a:solidFill>
                  <a:srgbClr val="6B6459"/>
                </a:solidFill>
                <a:latin typeface="Calibri" pitchFamily="34" charset="0"/>
                <a:ea typeface="Calibri" pitchFamily="34" charset="-122"/>
                <a:cs typeface="Calibri" pitchFamily="34" charset="-120"/>
              </a:rPr>
              <a:t>pulls trend and multiple seasonalities apart</a:t>
            </a:r>
            <a:endParaRPr lang="en-US" sz="950" dirty="0"/>
          </a:p>
        </p:txBody>
      </p:sp>
      <p:sp>
        <p:nvSpPr>
          <p:cNvPr id="37" name="Text 35"/>
          <p:cNvSpPr txBox="1"/>
          <p:nvPr/>
        </p:nvSpPr>
        <p:spPr>
          <a:xfrm>
            <a:off x="6949440" y="4334256"/>
            <a:ext cx="4480560" cy="219456"/>
          </a:xfrm>
          <a:prstGeom prst="rect">
            <a:avLst/>
          </a:prstGeom>
          <a:noFill/>
          <a:ln/>
        </p:spPr>
        <p:txBody>
          <a:bodyPr wrap="square" lIns="0" tIns="0" rIns="0" bIns="0" rtlCol="0" anchor="ctr"/>
          <a:lstStyle/>
          <a:p>
            <a:pPr indent="0" marL="0">
              <a:buNone/>
            </a:pPr>
            <a:r>
              <a:rPr lang="en-US" sz="1150" b="1" dirty="0">
                <a:solidFill>
                  <a:srgbClr val="1C4E7A"/>
                </a:solidFill>
                <a:latin typeface="Calibri" pitchFamily="34" charset="0"/>
                <a:ea typeface="Calibri" pitchFamily="34" charset="-122"/>
                <a:cs typeface="Calibri" pitchFamily="34" charset="-120"/>
              </a:rPr>
              <a:t>Intermittent</a:t>
            </a:r>
            <a:endParaRPr lang="en-US" sz="1150" dirty="0"/>
          </a:p>
        </p:txBody>
      </p:sp>
      <p:sp>
        <p:nvSpPr>
          <p:cNvPr id="38" name="Text 36"/>
          <p:cNvSpPr txBox="1"/>
          <p:nvPr/>
        </p:nvSpPr>
        <p:spPr>
          <a:xfrm>
            <a:off x="6949440" y="4535424"/>
            <a:ext cx="4480560" cy="201168"/>
          </a:xfrm>
          <a:prstGeom prst="rect">
            <a:avLst/>
          </a:prstGeom>
          <a:noFill/>
          <a:ln/>
        </p:spPr>
        <p:txBody>
          <a:bodyPr wrap="square" lIns="0" tIns="0" rIns="0" bIns="0" rtlCol="0" anchor="ctr"/>
          <a:lstStyle/>
          <a:p>
            <a:pPr indent="0" marL="0">
              <a:buNone/>
            </a:pPr>
            <a:r>
              <a:rPr lang="en-US" sz="900" dirty="0">
                <a:solidFill>
                  <a:srgbClr val="3B362F"/>
                </a:solidFill>
                <a:latin typeface="Courier New" pitchFamily="34" charset="0"/>
                <a:ea typeface="Courier New" pitchFamily="34" charset="-122"/>
                <a:cs typeface="Courier New" pitchFamily="34" charset="-120"/>
              </a:rPr>
              <a:t>CrostonOptimized · TSB</a:t>
            </a:r>
            <a:endParaRPr lang="en-US" sz="900" dirty="0"/>
          </a:p>
        </p:txBody>
      </p:sp>
      <p:sp>
        <p:nvSpPr>
          <p:cNvPr id="39" name="Text 37"/>
          <p:cNvSpPr txBox="1"/>
          <p:nvPr/>
        </p:nvSpPr>
        <p:spPr>
          <a:xfrm>
            <a:off x="6949440" y="4718304"/>
            <a:ext cx="4480560" cy="201168"/>
          </a:xfrm>
          <a:prstGeom prst="rect">
            <a:avLst/>
          </a:prstGeom>
          <a:noFill/>
          <a:ln/>
        </p:spPr>
        <p:txBody>
          <a:bodyPr wrap="square" lIns="0" tIns="0" rIns="0" bIns="0" rtlCol="0" anchor="ctr"/>
          <a:lstStyle/>
          <a:p>
            <a:pPr indent="0" marL="0">
              <a:buNone/>
            </a:pPr>
            <a:r>
              <a:rPr lang="en-US" sz="950" dirty="0">
                <a:solidFill>
                  <a:srgbClr val="6B6459"/>
                </a:solidFill>
                <a:latin typeface="Calibri" pitchFamily="34" charset="0"/>
                <a:ea typeface="Calibri" pitchFamily="34" charset="-122"/>
                <a:cs typeface="Calibri" pitchFamily="34" charset="-120"/>
              </a:rPr>
              <a:t>models sale size and sale timing separately</a:t>
            </a:r>
            <a:endParaRPr lang="en-US" sz="950" dirty="0"/>
          </a:p>
        </p:txBody>
      </p:sp>
      <p:sp>
        <p:nvSpPr>
          <p:cNvPr id="40" name="Text 38"/>
          <p:cNvSpPr txBox="1"/>
          <p:nvPr/>
        </p:nvSpPr>
        <p:spPr>
          <a:xfrm>
            <a:off x="6949440" y="4937760"/>
            <a:ext cx="4480560" cy="219456"/>
          </a:xfrm>
          <a:prstGeom prst="rect">
            <a:avLst/>
          </a:prstGeom>
          <a:noFill/>
          <a:ln/>
        </p:spPr>
        <p:txBody>
          <a:bodyPr wrap="square" lIns="0" tIns="0" rIns="0" bIns="0" rtlCol="0" anchor="ctr"/>
          <a:lstStyle/>
          <a:p>
            <a:pPr indent="0" marL="0">
              <a:buNone/>
            </a:pPr>
            <a:r>
              <a:rPr lang="en-US" sz="1150" b="1" dirty="0">
                <a:solidFill>
                  <a:srgbClr val="1F5D42"/>
                </a:solidFill>
                <a:latin typeface="Calibri" pitchFamily="34" charset="0"/>
                <a:ea typeface="Calibri" pitchFamily="34" charset="-122"/>
                <a:cs typeface="Calibri" pitchFamily="34" charset="-120"/>
              </a:rPr>
              <a:t>Machine learning</a:t>
            </a:r>
            <a:endParaRPr lang="en-US" sz="1150" dirty="0"/>
          </a:p>
        </p:txBody>
      </p:sp>
      <p:sp>
        <p:nvSpPr>
          <p:cNvPr id="41" name="Text 39"/>
          <p:cNvSpPr txBox="1"/>
          <p:nvPr/>
        </p:nvSpPr>
        <p:spPr>
          <a:xfrm>
            <a:off x="6949440" y="5138928"/>
            <a:ext cx="4480560" cy="201168"/>
          </a:xfrm>
          <a:prstGeom prst="rect">
            <a:avLst/>
          </a:prstGeom>
          <a:noFill/>
          <a:ln/>
        </p:spPr>
        <p:txBody>
          <a:bodyPr wrap="square" lIns="0" tIns="0" rIns="0" bIns="0" rtlCol="0" anchor="ctr"/>
          <a:lstStyle/>
          <a:p>
            <a:pPr indent="0" marL="0">
              <a:buNone/>
            </a:pPr>
            <a:r>
              <a:rPr lang="en-US" sz="900" dirty="0">
                <a:solidFill>
                  <a:srgbClr val="3B362F"/>
                </a:solidFill>
                <a:latin typeface="Courier New" pitchFamily="34" charset="0"/>
                <a:ea typeface="Courier New" pitchFamily="34" charset="-122"/>
                <a:cs typeface="Courier New" pitchFamily="34" charset="-120"/>
              </a:rPr>
              <a:t>LightGBM (global, quantile)</a:t>
            </a:r>
            <a:endParaRPr lang="en-US" sz="900" dirty="0"/>
          </a:p>
        </p:txBody>
      </p:sp>
      <p:sp>
        <p:nvSpPr>
          <p:cNvPr id="42" name="Text 40"/>
          <p:cNvSpPr txBox="1"/>
          <p:nvPr/>
        </p:nvSpPr>
        <p:spPr>
          <a:xfrm>
            <a:off x="6949440" y="5321808"/>
            <a:ext cx="4480560" cy="201168"/>
          </a:xfrm>
          <a:prstGeom prst="rect">
            <a:avLst/>
          </a:prstGeom>
          <a:noFill/>
          <a:ln/>
        </p:spPr>
        <p:txBody>
          <a:bodyPr wrap="square" lIns="0" tIns="0" rIns="0" bIns="0" rtlCol="0" anchor="ctr"/>
          <a:lstStyle/>
          <a:p>
            <a:pPr indent="0" marL="0">
              <a:buNone/>
            </a:pPr>
            <a:r>
              <a:rPr lang="en-US" sz="950" dirty="0">
                <a:solidFill>
                  <a:srgbClr val="6B6459"/>
                </a:solidFill>
                <a:latin typeface="Calibri" pitchFamily="34" charset="0"/>
                <a:ea typeface="Calibri" pitchFamily="34" charset="-122"/>
                <a:cs typeface="Calibri" pitchFamily="34" charset="-120"/>
              </a:rPr>
              <a:t>one model across all series, learns shared shape</a:t>
            </a:r>
            <a:endParaRPr lang="en-US" sz="950" dirty="0"/>
          </a:p>
        </p:txBody>
      </p:sp>
      <p:sp>
        <p:nvSpPr>
          <p:cNvPr id="43" name="Text 41"/>
          <p:cNvSpPr txBox="1"/>
          <p:nvPr/>
        </p:nvSpPr>
        <p:spPr>
          <a:xfrm>
            <a:off x="6949440" y="5541264"/>
            <a:ext cx="4480560" cy="219456"/>
          </a:xfrm>
          <a:prstGeom prst="rect">
            <a:avLst/>
          </a:prstGeom>
          <a:noFill/>
          <a:ln/>
        </p:spPr>
        <p:txBody>
          <a:bodyPr wrap="square" lIns="0" tIns="0" rIns="0" bIns="0" rtlCol="0" anchor="ctr"/>
          <a:lstStyle/>
          <a:p>
            <a:pPr indent="0" marL="0">
              <a:buNone/>
            </a:pPr>
            <a:r>
              <a:rPr lang="en-US" sz="1150" b="1" dirty="0">
                <a:solidFill>
                  <a:srgbClr val="1F5D42"/>
                </a:solidFill>
                <a:latin typeface="Calibri" pitchFamily="34" charset="0"/>
                <a:ea typeface="Calibri" pitchFamily="34" charset="-122"/>
                <a:cs typeface="Calibri" pitchFamily="34" charset="-120"/>
              </a:rPr>
              <a:t>Structural</a:t>
            </a:r>
            <a:endParaRPr lang="en-US" sz="1150" dirty="0"/>
          </a:p>
        </p:txBody>
      </p:sp>
      <p:sp>
        <p:nvSpPr>
          <p:cNvPr id="44" name="Text 42"/>
          <p:cNvSpPr txBox="1"/>
          <p:nvPr/>
        </p:nvSpPr>
        <p:spPr>
          <a:xfrm>
            <a:off x="6949440" y="5742432"/>
            <a:ext cx="4480560" cy="201168"/>
          </a:xfrm>
          <a:prstGeom prst="rect">
            <a:avLst/>
          </a:prstGeom>
          <a:noFill/>
          <a:ln/>
        </p:spPr>
        <p:txBody>
          <a:bodyPr wrap="square" lIns="0" tIns="0" rIns="0" bIns="0" rtlCol="0" anchor="ctr"/>
          <a:lstStyle/>
          <a:p>
            <a:pPr indent="0" marL="0">
              <a:buNone/>
            </a:pPr>
            <a:r>
              <a:rPr lang="en-US" sz="900" dirty="0">
                <a:solidFill>
                  <a:srgbClr val="3B362F"/>
                </a:solidFill>
                <a:latin typeface="Courier New" pitchFamily="34" charset="0"/>
                <a:ea typeface="Courier New" pitchFamily="34" charset="-122"/>
                <a:cs typeface="Courier New" pitchFamily="34" charset="-120"/>
              </a:rPr>
              <a:t>Prophet</a:t>
            </a:r>
            <a:endParaRPr lang="en-US" sz="900" dirty="0"/>
          </a:p>
        </p:txBody>
      </p:sp>
      <p:sp>
        <p:nvSpPr>
          <p:cNvPr id="45" name="Text 43"/>
          <p:cNvSpPr txBox="1"/>
          <p:nvPr/>
        </p:nvSpPr>
        <p:spPr>
          <a:xfrm>
            <a:off x="6949440" y="5925312"/>
            <a:ext cx="4480560" cy="201168"/>
          </a:xfrm>
          <a:prstGeom prst="rect">
            <a:avLst/>
          </a:prstGeom>
          <a:noFill/>
          <a:ln/>
        </p:spPr>
        <p:txBody>
          <a:bodyPr wrap="square" lIns="0" tIns="0" rIns="0" bIns="0" rtlCol="0" anchor="ctr"/>
          <a:lstStyle/>
          <a:p>
            <a:pPr indent="0" marL="0">
              <a:buNone/>
            </a:pPr>
            <a:r>
              <a:rPr lang="en-US" sz="950" dirty="0">
                <a:solidFill>
                  <a:srgbClr val="6B6459"/>
                </a:solidFill>
                <a:latin typeface="Calibri" pitchFamily="34" charset="0"/>
                <a:ea typeface="Calibri" pitchFamily="34" charset="-122"/>
                <a:cs typeface="Calibri" pitchFamily="34" charset="-120"/>
              </a:rPr>
              <a:t>trend, yearly season, holidays — and it explains</a:t>
            </a:r>
            <a:endParaRPr lang="en-US" sz="950" dirty="0"/>
          </a:p>
        </p:txBody>
      </p:sp>
      <p:sp>
        <p:nvSpPr>
          <p:cNvPr id="46" name="Text 44"/>
          <p:cNvSpPr txBox="1"/>
          <p:nvPr/>
        </p:nvSpPr>
        <p:spPr>
          <a:xfrm>
            <a:off x="777240" y="6144768"/>
            <a:ext cx="10637215" cy="237744"/>
          </a:xfrm>
          <a:prstGeom prst="rect">
            <a:avLst/>
          </a:prstGeom>
          <a:noFill/>
          <a:ln/>
        </p:spPr>
        <p:txBody>
          <a:bodyPr wrap="square" lIns="0" tIns="0" rIns="0" bIns="0" rtlCol="0" anchor="ctr"/>
          <a:lstStyle/>
          <a:p>
            <a:pPr indent="0" marL="0">
              <a:lnSpc>
                <a:spcPts val="1418"/>
              </a:lnSpc>
              <a:buNone/>
            </a:pPr>
            <a:r>
              <a:rPr lang="en-US" sz="1050" i="1" dirty="0">
                <a:solidFill>
                  <a:srgbClr val="6B6459"/>
                </a:solidFill>
                <a:latin typeface="Calibri" pitchFamily="34" charset="0"/>
                <a:ea typeface="Calibri" pitchFamily="34" charset="-122"/>
                <a:cs typeface="Calibri" pitchFamily="34" charset="-120"/>
              </a:rPr>
              <a:t>Five of the eleven make the shipped ensemble. At weekly grain all eight classify as smooth; at daily grain the sedatives route to Croston. Measured, not asserted.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RESULT 1 · FORECAST ACCURACY</a:t>
            </a:r>
            <a:endParaRPr lang="en-US" sz="1100" dirty="0"/>
          </a:p>
        </p:txBody>
      </p:sp>
      <p:sp>
        <p:nvSpPr>
          <p:cNvPr id="3" name="Text 1"/>
          <p:cNvSpPr txBox="1"/>
          <p:nvPr/>
        </p:nvSpPr>
        <p:spPr>
          <a:xfrm>
            <a:off x="777240" y="868680"/>
            <a:ext cx="6766560" cy="1600200"/>
          </a:xfrm>
          <a:prstGeom prst="rect">
            <a:avLst/>
          </a:prstGeom>
          <a:noFill/>
          <a:ln/>
        </p:spPr>
        <p:txBody>
          <a:bodyPr wrap="square" lIns="0" tIns="0" rIns="0" bIns="0" rtlCol="0" anchor="ctr"/>
          <a:lstStyle/>
          <a:p>
            <a:pPr indent="0" marL="0">
              <a:lnSpc>
                <a:spcPts val="4032"/>
              </a:lnSpc>
              <a:buNone/>
            </a:pPr>
            <a:r>
              <a:rPr lang="en-US" sz="3600" dirty="0">
                <a:solidFill>
                  <a:srgbClr val="14110D"/>
                </a:solidFill>
                <a:latin typeface="Cambria" pitchFamily="34" charset="0"/>
                <a:ea typeface="Cambria" pitchFamily="34" charset="-122"/>
                <a:cs typeface="Cambria" pitchFamily="34" charset="-120"/>
              </a:rPr>
              <a:t>18.8% better than the benchmark</a:t>
            </a:r>
            <a:endParaRPr lang="en-US" sz="3600" dirty="0"/>
          </a:p>
          <a:p>
            <a:pPr indent="0" marL="0">
              <a:lnSpc>
                <a:spcPts val="4032"/>
              </a:lnSpc>
              <a:buNone/>
            </a:pPr>
            <a:r>
              <a:rPr lang="en-US" sz="3600" dirty="0">
                <a:solidFill>
                  <a:srgbClr val="14110D"/>
                </a:solidFill>
                <a:latin typeface="Cambria" pitchFamily="34" charset="0"/>
                <a:ea typeface="Cambria" pitchFamily="34" charset="-122"/>
                <a:cs typeface="Cambria" pitchFamily="34" charset="-120"/>
              </a:rPr>
              <a:t>everything has to beat.</a:t>
            </a:r>
            <a:endParaRPr lang="en-US" sz="3600" dirty="0"/>
          </a:p>
        </p:txBody>
      </p:sp>
      <p:sp>
        <p:nvSpPr>
          <p:cNvPr id="4" name="Text 2"/>
          <p:cNvSpPr txBox="1"/>
          <p:nvPr/>
        </p:nvSpPr>
        <p:spPr>
          <a:xfrm>
            <a:off x="777240" y="2514600"/>
            <a:ext cx="1828800" cy="292608"/>
          </a:xfrm>
          <a:prstGeom prst="rect">
            <a:avLst/>
          </a:prstGeom>
          <a:noFill/>
          <a:ln/>
        </p:spPr>
        <p:txBody>
          <a:bodyPr wrap="square" lIns="0" tIns="0" rIns="0" bIns="0" rtlCol="0" anchor="ctr"/>
          <a:lstStyle/>
          <a:p>
            <a:pPr indent="0" marL="0">
              <a:buNone/>
            </a:pPr>
            <a:endParaRPr lang="en-US" sz="1250" dirty="0"/>
          </a:p>
        </p:txBody>
      </p:sp>
      <p:sp>
        <p:nvSpPr>
          <p:cNvPr id="5" name="Shape 3"/>
          <p:cNvSpPr/>
          <p:nvPr/>
        </p:nvSpPr>
        <p:spPr>
          <a:xfrm>
            <a:off x="2697480" y="2587752"/>
            <a:ext cx="5120640" cy="155448"/>
          </a:xfrm>
          <a:prstGeom prst="rect">
            <a:avLst/>
          </a:prstGeom>
          <a:solidFill>
            <a:srgbClr val="EFEBE2"/>
          </a:solidFill>
          <a:ln w="12700">
            <a:solidFill>
              <a:srgbClr val="EFEBE2"/>
            </a:solidFill>
            <a:prstDash val="solid"/>
          </a:ln>
        </p:spPr>
      </p:sp>
      <p:sp>
        <p:nvSpPr>
          <p:cNvPr id="6" name="Shape 4"/>
          <p:cNvSpPr/>
          <p:nvPr/>
        </p:nvSpPr>
        <p:spPr>
          <a:xfrm>
            <a:off x="2697480" y="2587752"/>
            <a:ext cx="3840935" cy="155448"/>
          </a:xfrm>
          <a:prstGeom prst="rect">
            <a:avLst/>
          </a:prstGeom>
          <a:solidFill>
            <a:srgbClr val="B8B0A3"/>
          </a:solidFill>
          <a:ln w="12700">
            <a:solidFill>
              <a:srgbClr val="B8B0A3"/>
            </a:solidFill>
            <a:prstDash val="solid"/>
          </a:ln>
        </p:spPr>
      </p:sp>
      <p:sp>
        <p:nvSpPr>
          <p:cNvPr id="7" name="Text 5"/>
          <p:cNvSpPr txBox="1"/>
          <p:nvPr/>
        </p:nvSpPr>
        <p:spPr>
          <a:xfrm>
            <a:off x="7955280" y="2514600"/>
            <a:ext cx="868680" cy="292608"/>
          </a:xfrm>
          <a:prstGeom prst="rect">
            <a:avLst/>
          </a:prstGeom>
          <a:noFill/>
          <a:ln/>
        </p:spPr>
        <p:txBody>
          <a:bodyPr wrap="square" lIns="0" tIns="0" rIns="0" bIns="0" rtlCol="0" anchor="ctr"/>
          <a:lstStyle/>
          <a:p>
            <a:pPr indent="0" marL="0">
              <a:buNone/>
            </a:pPr>
            <a:r>
              <a:rPr lang="en-US" sz="1200" dirty="0">
                <a:solidFill>
                  <a:srgbClr val="6B6459"/>
                </a:solidFill>
                <a:latin typeface="Courier New" pitchFamily="34" charset="0"/>
                <a:ea typeface="Courier New" pitchFamily="34" charset="-122"/>
                <a:cs typeface="Courier New" pitchFamily="34" charset="-120"/>
              </a:rPr>
              <a:t>0.843</a:t>
            </a:r>
            <a:endParaRPr lang="en-US" sz="1200" dirty="0"/>
          </a:p>
        </p:txBody>
      </p:sp>
      <p:sp>
        <p:nvSpPr>
          <p:cNvPr id="8" name="Text 6"/>
          <p:cNvSpPr txBox="1"/>
          <p:nvPr/>
        </p:nvSpPr>
        <p:spPr>
          <a:xfrm>
            <a:off x="777240" y="2898648"/>
            <a:ext cx="1828800" cy="292608"/>
          </a:xfrm>
          <a:prstGeom prst="rect">
            <a:avLst/>
          </a:prstGeom>
          <a:noFill/>
          <a:ln/>
        </p:spPr>
        <p:txBody>
          <a:bodyPr wrap="square" lIns="0" tIns="0" rIns="0" bIns="0" rtlCol="0" anchor="ctr"/>
          <a:lstStyle/>
          <a:p>
            <a:pPr indent="0" marL="0">
              <a:buNone/>
            </a:pPr>
            <a:endParaRPr lang="en-US" sz="1250" dirty="0"/>
          </a:p>
        </p:txBody>
      </p:sp>
      <p:sp>
        <p:nvSpPr>
          <p:cNvPr id="9" name="Shape 7"/>
          <p:cNvSpPr/>
          <p:nvPr/>
        </p:nvSpPr>
        <p:spPr>
          <a:xfrm>
            <a:off x="2697480" y="2971800"/>
            <a:ext cx="5120640" cy="155448"/>
          </a:xfrm>
          <a:prstGeom prst="rect">
            <a:avLst/>
          </a:prstGeom>
          <a:solidFill>
            <a:srgbClr val="EFEBE2"/>
          </a:solidFill>
          <a:ln w="12700">
            <a:solidFill>
              <a:srgbClr val="EFEBE2"/>
            </a:solidFill>
            <a:prstDash val="solid"/>
          </a:ln>
        </p:spPr>
      </p:sp>
      <p:sp>
        <p:nvSpPr>
          <p:cNvPr id="10" name="Shape 8"/>
          <p:cNvSpPr/>
          <p:nvPr/>
        </p:nvSpPr>
        <p:spPr>
          <a:xfrm>
            <a:off x="2697480" y="2971800"/>
            <a:ext cx="4130577" cy="155448"/>
          </a:xfrm>
          <a:prstGeom prst="rect">
            <a:avLst/>
          </a:prstGeom>
          <a:solidFill>
            <a:srgbClr val="1F5D42"/>
          </a:solidFill>
          <a:ln w="12700">
            <a:solidFill>
              <a:srgbClr val="1F5D42"/>
            </a:solidFill>
            <a:prstDash val="solid"/>
          </a:ln>
        </p:spPr>
      </p:sp>
      <p:sp>
        <p:nvSpPr>
          <p:cNvPr id="11" name="Text 9"/>
          <p:cNvSpPr txBox="1"/>
          <p:nvPr/>
        </p:nvSpPr>
        <p:spPr>
          <a:xfrm>
            <a:off x="7955280" y="2898648"/>
            <a:ext cx="868680" cy="292608"/>
          </a:xfrm>
          <a:prstGeom prst="rect">
            <a:avLst/>
          </a:prstGeom>
          <a:noFill/>
          <a:ln/>
        </p:spPr>
        <p:txBody>
          <a:bodyPr wrap="square" lIns="0" tIns="0" rIns="0" bIns="0" rtlCol="0" anchor="ctr"/>
          <a:lstStyle/>
          <a:p>
            <a:pPr indent="0" marL="0">
              <a:buNone/>
            </a:pPr>
            <a:r>
              <a:rPr lang="en-US" sz="1200" b="1" dirty="0">
                <a:solidFill>
                  <a:srgbClr val="1F5D42"/>
                </a:solidFill>
                <a:latin typeface="Courier New" pitchFamily="34" charset="0"/>
                <a:ea typeface="Courier New" pitchFamily="34" charset="-122"/>
                <a:cs typeface="Courier New" pitchFamily="34" charset="-120"/>
              </a:rPr>
              <a:t>0.907</a:t>
            </a:r>
            <a:endParaRPr lang="en-US" sz="1200" dirty="0"/>
          </a:p>
        </p:txBody>
      </p:sp>
      <p:sp>
        <p:nvSpPr>
          <p:cNvPr id="12" name="Text 10"/>
          <p:cNvSpPr txBox="1"/>
          <p:nvPr/>
        </p:nvSpPr>
        <p:spPr>
          <a:xfrm>
            <a:off x="777240" y="3282696"/>
            <a:ext cx="1828800" cy="292608"/>
          </a:xfrm>
          <a:prstGeom prst="rect">
            <a:avLst/>
          </a:prstGeom>
          <a:noFill/>
          <a:ln/>
        </p:spPr>
        <p:txBody>
          <a:bodyPr wrap="square" lIns="0" tIns="0" rIns="0" bIns="0" rtlCol="0" anchor="ctr"/>
          <a:lstStyle/>
          <a:p>
            <a:pPr indent="0" marL="0">
              <a:buNone/>
            </a:pPr>
            <a:endParaRPr lang="en-US" sz="1250" dirty="0"/>
          </a:p>
        </p:txBody>
      </p:sp>
      <p:sp>
        <p:nvSpPr>
          <p:cNvPr id="13" name="Shape 11"/>
          <p:cNvSpPr/>
          <p:nvPr/>
        </p:nvSpPr>
        <p:spPr>
          <a:xfrm>
            <a:off x="2697480" y="3355848"/>
            <a:ext cx="5120640" cy="155448"/>
          </a:xfrm>
          <a:prstGeom prst="rect">
            <a:avLst/>
          </a:prstGeom>
          <a:solidFill>
            <a:srgbClr val="EFEBE2"/>
          </a:solidFill>
          <a:ln w="12700">
            <a:solidFill>
              <a:srgbClr val="EFEBE2"/>
            </a:solidFill>
            <a:prstDash val="solid"/>
          </a:ln>
        </p:spPr>
      </p:sp>
      <p:sp>
        <p:nvSpPr>
          <p:cNvPr id="14" name="Shape 12"/>
          <p:cNvSpPr/>
          <p:nvPr/>
        </p:nvSpPr>
        <p:spPr>
          <a:xfrm>
            <a:off x="2697480" y="3355848"/>
            <a:ext cx="4258092" cy="155448"/>
          </a:xfrm>
          <a:prstGeom prst="rect">
            <a:avLst/>
          </a:prstGeom>
          <a:solidFill>
            <a:srgbClr val="B8B0A3"/>
          </a:solidFill>
          <a:ln w="12700">
            <a:solidFill>
              <a:srgbClr val="B8B0A3"/>
            </a:solidFill>
            <a:prstDash val="solid"/>
          </a:ln>
        </p:spPr>
      </p:sp>
      <p:sp>
        <p:nvSpPr>
          <p:cNvPr id="15" name="Text 13"/>
          <p:cNvSpPr txBox="1"/>
          <p:nvPr/>
        </p:nvSpPr>
        <p:spPr>
          <a:xfrm>
            <a:off x="7955280" y="3282696"/>
            <a:ext cx="868680" cy="292608"/>
          </a:xfrm>
          <a:prstGeom prst="rect">
            <a:avLst/>
          </a:prstGeom>
          <a:noFill/>
          <a:ln/>
        </p:spPr>
        <p:txBody>
          <a:bodyPr wrap="square" lIns="0" tIns="0" rIns="0" bIns="0" rtlCol="0" anchor="ctr"/>
          <a:lstStyle/>
          <a:p>
            <a:pPr indent="0" marL="0">
              <a:buNone/>
            </a:pPr>
            <a:r>
              <a:rPr lang="en-US" sz="1200" dirty="0">
                <a:solidFill>
                  <a:srgbClr val="6B6459"/>
                </a:solidFill>
                <a:latin typeface="Courier New" pitchFamily="34" charset="0"/>
                <a:ea typeface="Courier New" pitchFamily="34" charset="-122"/>
                <a:cs typeface="Courier New" pitchFamily="34" charset="-120"/>
              </a:rPr>
              <a:t>0.935</a:t>
            </a:r>
            <a:endParaRPr lang="en-US" sz="1200" dirty="0"/>
          </a:p>
        </p:txBody>
      </p:sp>
      <p:sp>
        <p:nvSpPr>
          <p:cNvPr id="16" name="Text 14"/>
          <p:cNvSpPr txBox="1"/>
          <p:nvPr/>
        </p:nvSpPr>
        <p:spPr>
          <a:xfrm>
            <a:off x="777240" y="3666744"/>
            <a:ext cx="1828800" cy="292608"/>
          </a:xfrm>
          <a:prstGeom prst="rect">
            <a:avLst/>
          </a:prstGeom>
          <a:noFill/>
          <a:ln/>
        </p:spPr>
        <p:txBody>
          <a:bodyPr wrap="square" lIns="0" tIns="0" rIns="0" bIns="0" rtlCol="0" anchor="ctr"/>
          <a:lstStyle/>
          <a:p>
            <a:pPr indent="0" marL="0">
              <a:buNone/>
            </a:pPr>
            <a:endParaRPr lang="en-US" sz="1250" dirty="0"/>
          </a:p>
        </p:txBody>
      </p:sp>
      <p:sp>
        <p:nvSpPr>
          <p:cNvPr id="17" name="Shape 15"/>
          <p:cNvSpPr/>
          <p:nvPr/>
        </p:nvSpPr>
        <p:spPr>
          <a:xfrm>
            <a:off x="2697480" y="3739896"/>
            <a:ext cx="5120640" cy="155448"/>
          </a:xfrm>
          <a:prstGeom prst="rect">
            <a:avLst/>
          </a:prstGeom>
          <a:solidFill>
            <a:srgbClr val="EFEBE2"/>
          </a:solidFill>
          <a:ln w="12700">
            <a:solidFill>
              <a:srgbClr val="EFEBE2"/>
            </a:solidFill>
            <a:prstDash val="solid"/>
          </a:ln>
        </p:spPr>
      </p:sp>
      <p:sp>
        <p:nvSpPr>
          <p:cNvPr id="18" name="Shape 16"/>
          <p:cNvSpPr/>
          <p:nvPr/>
        </p:nvSpPr>
        <p:spPr>
          <a:xfrm>
            <a:off x="2697480" y="3739896"/>
            <a:ext cx="4376499" cy="155448"/>
          </a:xfrm>
          <a:prstGeom prst="rect">
            <a:avLst/>
          </a:prstGeom>
          <a:solidFill>
            <a:srgbClr val="B8B0A3"/>
          </a:solidFill>
          <a:ln w="12700">
            <a:solidFill>
              <a:srgbClr val="B8B0A3"/>
            </a:solidFill>
            <a:prstDash val="solid"/>
          </a:ln>
        </p:spPr>
      </p:sp>
      <p:sp>
        <p:nvSpPr>
          <p:cNvPr id="19" name="Text 17"/>
          <p:cNvSpPr txBox="1"/>
          <p:nvPr/>
        </p:nvSpPr>
        <p:spPr>
          <a:xfrm>
            <a:off x="7955280" y="3666744"/>
            <a:ext cx="868680" cy="292608"/>
          </a:xfrm>
          <a:prstGeom prst="rect">
            <a:avLst/>
          </a:prstGeom>
          <a:noFill/>
          <a:ln/>
        </p:spPr>
        <p:txBody>
          <a:bodyPr wrap="square" lIns="0" tIns="0" rIns="0" bIns="0" rtlCol="0" anchor="ctr"/>
          <a:lstStyle/>
          <a:p>
            <a:pPr indent="0" marL="0">
              <a:buNone/>
            </a:pPr>
            <a:r>
              <a:rPr lang="en-US" sz="1200" dirty="0">
                <a:solidFill>
                  <a:srgbClr val="6B6459"/>
                </a:solidFill>
                <a:latin typeface="Courier New" pitchFamily="34" charset="0"/>
                <a:ea typeface="Courier New" pitchFamily="34" charset="-122"/>
                <a:cs typeface="Courier New" pitchFamily="34" charset="-120"/>
              </a:rPr>
              <a:t>0.961</a:t>
            </a:r>
            <a:endParaRPr lang="en-US" sz="1200" dirty="0"/>
          </a:p>
        </p:txBody>
      </p:sp>
      <p:sp>
        <p:nvSpPr>
          <p:cNvPr id="20" name="Text 18"/>
          <p:cNvSpPr txBox="1"/>
          <p:nvPr/>
        </p:nvSpPr>
        <p:spPr>
          <a:xfrm>
            <a:off x="777240" y="4050792"/>
            <a:ext cx="1828800" cy="292608"/>
          </a:xfrm>
          <a:prstGeom prst="rect">
            <a:avLst/>
          </a:prstGeom>
          <a:noFill/>
          <a:ln/>
        </p:spPr>
        <p:txBody>
          <a:bodyPr wrap="square" lIns="0" tIns="0" rIns="0" bIns="0" rtlCol="0" anchor="ctr"/>
          <a:lstStyle/>
          <a:p>
            <a:pPr indent="0" marL="0">
              <a:buNone/>
            </a:pPr>
            <a:endParaRPr lang="en-US" sz="1250" dirty="0"/>
          </a:p>
        </p:txBody>
      </p:sp>
      <p:sp>
        <p:nvSpPr>
          <p:cNvPr id="21" name="Shape 19"/>
          <p:cNvSpPr/>
          <p:nvPr/>
        </p:nvSpPr>
        <p:spPr>
          <a:xfrm>
            <a:off x="2697480" y="4123944"/>
            <a:ext cx="5120640" cy="155448"/>
          </a:xfrm>
          <a:prstGeom prst="rect">
            <a:avLst/>
          </a:prstGeom>
          <a:solidFill>
            <a:srgbClr val="EFEBE2"/>
          </a:solidFill>
          <a:ln w="12700">
            <a:solidFill>
              <a:srgbClr val="EFEBE2"/>
            </a:solidFill>
            <a:prstDash val="solid"/>
          </a:ln>
        </p:spPr>
      </p:sp>
      <p:sp>
        <p:nvSpPr>
          <p:cNvPr id="22" name="Shape 20"/>
          <p:cNvSpPr/>
          <p:nvPr/>
        </p:nvSpPr>
        <p:spPr>
          <a:xfrm>
            <a:off x="2697480" y="4123944"/>
            <a:ext cx="4619688" cy="155448"/>
          </a:xfrm>
          <a:prstGeom prst="rect">
            <a:avLst/>
          </a:prstGeom>
          <a:solidFill>
            <a:srgbClr val="B8B0A3"/>
          </a:solidFill>
          <a:ln w="12700">
            <a:solidFill>
              <a:srgbClr val="B8B0A3"/>
            </a:solidFill>
            <a:prstDash val="solid"/>
          </a:ln>
        </p:spPr>
      </p:sp>
      <p:sp>
        <p:nvSpPr>
          <p:cNvPr id="23" name="Text 21"/>
          <p:cNvSpPr txBox="1"/>
          <p:nvPr/>
        </p:nvSpPr>
        <p:spPr>
          <a:xfrm>
            <a:off x="7955280" y="4050792"/>
            <a:ext cx="868680" cy="292608"/>
          </a:xfrm>
          <a:prstGeom prst="rect">
            <a:avLst/>
          </a:prstGeom>
          <a:noFill/>
          <a:ln/>
        </p:spPr>
        <p:txBody>
          <a:bodyPr wrap="square" lIns="0" tIns="0" rIns="0" bIns="0" rtlCol="0" anchor="ctr"/>
          <a:lstStyle/>
          <a:p>
            <a:pPr indent="0" marL="0">
              <a:buNone/>
            </a:pPr>
            <a:r>
              <a:rPr lang="en-US" sz="1200" dirty="0">
                <a:solidFill>
                  <a:srgbClr val="6B6459"/>
                </a:solidFill>
                <a:latin typeface="Courier New" pitchFamily="34" charset="0"/>
                <a:ea typeface="Courier New" pitchFamily="34" charset="-122"/>
                <a:cs typeface="Courier New" pitchFamily="34" charset="-120"/>
              </a:rPr>
              <a:t>1.014</a:t>
            </a:r>
            <a:endParaRPr lang="en-US" sz="1200" dirty="0"/>
          </a:p>
        </p:txBody>
      </p:sp>
      <p:sp>
        <p:nvSpPr>
          <p:cNvPr id="24" name="Text 22"/>
          <p:cNvSpPr txBox="1"/>
          <p:nvPr/>
        </p:nvSpPr>
        <p:spPr>
          <a:xfrm>
            <a:off x="777240" y="4434840"/>
            <a:ext cx="1828800" cy="292608"/>
          </a:xfrm>
          <a:prstGeom prst="rect">
            <a:avLst/>
          </a:prstGeom>
          <a:noFill/>
          <a:ln/>
        </p:spPr>
        <p:txBody>
          <a:bodyPr wrap="square" lIns="0" tIns="0" rIns="0" bIns="0" rtlCol="0" anchor="ctr"/>
          <a:lstStyle/>
          <a:p>
            <a:pPr indent="0" marL="0">
              <a:buNone/>
            </a:pPr>
            <a:endParaRPr lang="en-US" sz="1250" dirty="0"/>
          </a:p>
        </p:txBody>
      </p:sp>
      <p:sp>
        <p:nvSpPr>
          <p:cNvPr id="25" name="Shape 23"/>
          <p:cNvSpPr/>
          <p:nvPr/>
        </p:nvSpPr>
        <p:spPr>
          <a:xfrm>
            <a:off x="2697480" y="4507992"/>
            <a:ext cx="5120640" cy="155448"/>
          </a:xfrm>
          <a:prstGeom prst="rect">
            <a:avLst/>
          </a:prstGeom>
          <a:solidFill>
            <a:srgbClr val="EFEBE2"/>
          </a:solidFill>
          <a:ln w="12700">
            <a:solidFill>
              <a:srgbClr val="EFEBE2"/>
            </a:solidFill>
            <a:prstDash val="solid"/>
          </a:ln>
        </p:spPr>
      </p:sp>
      <p:sp>
        <p:nvSpPr>
          <p:cNvPr id="26" name="Shape 24"/>
          <p:cNvSpPr/>
          <p:nvPr/>
        </p:nvSpPr>
        <p:spPr>
          <a:xfrm>
            <a:off x="2697480" y="4507992"/>
            <a:ext cx="4941664" cy="155448"/>
          </a:xfrm>
          <a:prstGeom prst="rect">
            <a:avLst/>
          </a:prstGeom>
          <a:solidFill>
            <a:srgbClr val="B8B0A3"/>
          </a:solidFill>
          <a:ln w="12700">
            <a:solidFill>
              <a:srgbClr val="B8B0A3"/>
            </a:solidFill>
            <a:prstDash val="solid"/>
          </a:ln>
        </p:spPr>
      </p:sp>
      <p:sp>
        <p:nvSpPr>
          <p:cNvPr id="27" name="Text 25"/>
          <p:cNvSpPr txBox="1"/>
          <p:nvPr/>
        </p:nvSpPr>
        <p:spPr>
          <a:xfrm>
            <a:off x="7955280" y="4434840"/>
            <a:ext cx="868680" cy="292608"/>
          </a:xfrm>
          <a:prstGeom prst="rect">
            <a:avLst/>
          </a:prstGeom>
          <a:noFill/>
          <a:ln/>
        </p:spPr>
        <p:txBody>
          <a:bodyPr wrap="square" lIns="0" tIns="0" rIns="0" bIns="0" rtlCol="0" anchor="ctr"/>
          <a:lstStyle/>
          <a:p>
            <a:pPr indent="0" marL="0">
              <a:buNone/>
            </a:pPr>
            <a:r>
              <a:rPr lang="en-US" sz="1200" dirty="0">
                <a:solidFill>
                  <a:srgbClr val="6B6459"/>
                </a:solidFill>
                <a:latin typeface="Courier New" pitchFamily="34" charset="0"/>
                <a:ea typeface="Courier New" pitchFamily="34" charset="-122"/>
                <a:cs typeface="Courier New" pitchFamily="34" charset="-120"/>
              </a:rPr>
              <a:t>1.085</a:t>
            </a:r>
            <a:endParaRPr lang="en-US" sz="1200" dirty="0"/>
          </a:p>
        </p:txBody>
      </p:sp>
      <p:sp>
        <p:nvSpPr>
          <p:cNvPr id="28" name="Text 26"/>
          <p:cNvSpPr txBox="1"/>
          <p:nvPr/>
        </p:nvSpPr>
        <p:spPr>
          <a:xfrm>
            <a:off x="777240" y="4818888"/>
            <a:ext cx="1828800" cy="292608"/>
          </a:xfrm>
          <a:prstGeom prst="rect">
            <a:avLst/>
          </a:prstGeom>
          <a:noFill/>
          <a:ln/>
        </p:spPr>
        <p:txBody>
          <a:bodyPr wrap="square" lIns="0" tIns="0" rIns="0" bIns="0" rtlCol="0" anchor="ctr"/>
          <a:lstStyle/>
          <a:p>
            <a:pPr indent="0" marL="0">
              <a:buNone/>
            </a:pPr>
            <a:endParaRPr lang="en-US" sz="1250" dirty="0"/>
          </a:p>
        </p:txBody>
      </p:sp>
      <p:sp>
        <p:nvSpPr>
          <p:cNvPr id="29" name="Shape 27"/>
          <p:cNvSpPr/>
          <p:nvPr/>
        </p:nvSpPr>
        <p:spPr>
          <a:xfrm>
            <a:off x="2697480" y="4892040"/>
            <a:ext cx="5120640" cy="155448"/>
          </a:xfrm>
          <a:prstGeom prst="rect">
            <a:avLst/>
          </a:prstGeom>
          <a:solidFill>
            <a:srgbClr val="EFEBE2"/>
          </a:solidFill>
          <a:ln w="12700">
            <a:solidFill>
              <a:srgbClr val="EFEBE2"/>
            </a:solidFill>
            <a:prstDash val="solid"/>
          </a:ln>
        </p:spPr>
      </p:sp>
      <p:sp>
        <p:nvSpPr>
          <p:cNvPr id="30" name="Shape 28"/>
          <p:cNvSpPr/>
          <p:nvPr/>
        </p:nvSpPr>
        <p:spPr>
          <a:xfrm>
            <a:off x="2697480" y="4892040"/>
            <a:ext cx="5076921" cy="155448"/>
          </a:xfrm>
          <a:prstGeom prst="rect">
            <a:avLst/>
          </a:prstGeom>
          <a:solidFill>
            <a:srgbClr val="B8B0A3"/>
          </a:solidFill>
          <a:ln w="12700">
            <a:solidFill>
              <a:srgbClr val="B8B0A3"/>
            </a:solidFill>
            <a:prstDash val="solid"/>
          </a:ln>
        </p:spPr>
      </p:sp>
      <p:sp>
        <p:nvSpPr>
          <p:cNvPr id="31" name="Text 29"/>
          <p:cNvSpPr txBox="1"/>
          <p:nvPr/>
        </p:nvSpPr>
        <p:spPr>
          <a:xfrm>
            <a:off x="7955280" y="4818888"/>
            <a:ext cx="868680" cy="292608"/>
          </a:xfrm>
          <a:prstGeom prst="rect">
            <a:avLst/>
          </a:prstGeom>
          <a:noFill/>
          <a:ln/>
        </p:spPr>
        <p:txBody>
          <a:bodyPr wrap="square" lIns="0" tIns="0" rIns="0" bIns="0" rtlCol="0" anchor="ctr"/>
          <a:lstStyle/>
          <a:p>
            <a:pPr indent="0" marL="0">
              <a:buNone/>
            </a:pPr>
            <a:r>
              <a:rPr lang="en-US" sz="1200" dirty="0">
                <a:solidFill>
                  <a:srgbClr val="6B6459"/>
                </a:solidFill>
                <a:latin typeface="Courier New" pitchFamily="34" charset="0"/>
                <a:ea typeface="Courier New" pitchFamily="34" charset="-122"/>
                <a:cs typeface="Courier New" pitchFamily="34" charset="-120"/>
              </a:rPr>
              <a:t>1.115</a:t>
            </a:r>
            <a:endParaRPr lang="en-US" sz="1200" dirty="0"/>
          </a:p>
        </p:txBody>
      </p:sp>
      <p:sp>
        <p:nvSpPr>
          <p:cNvPr id="32" name="Text 30"/>
          <p:cNvSpPr txBox="1"/>
          <p:nvPr/>
        </p:nvSpPr>
        <p:spPr>
          <a:xfrm>
            <a:off x="777240" y="5202936"/>
            <a:ext cx="1828800" cy="292608"/>
          </a:xfrm>
          <a:prstGeom prst="rect">
            <a:avLst/>
          </a:prstGeom>
          <a:noFill/>
          <a:ln/>
        </p:spPr>
        <p:txBody>
          <a:bodyPr wrap="square" lIns="0" tIns="0" rIns="0" bIns="0" rtlCol="0" anchor="ctr"/>
          <a:lstStyle/>
          <a:p>
            <a:pPr indent="0" marL="0">
              <a:buNone/>
            </a:pPr>
            <a:endParaRPr lang="en-US" sz="1250" dirty="0"/>
          </a:p>
        </p:txBody>
      </p:sp>
      <p:sp>
        <p:nvSpPr>
          <p:cNvPr id="33" name="Shape 31"/>
          <p:cNvSpPr/>
          <p:nvPr/>
        </p:nvSpPr>
        <p:spPr>
          <a:xfrm>
            <a:off x="2697480" y="5276088"/>
            <a:ext cx="5120640" cy="155448"/>
          </a:xfrm>
          <a:prstGeom prst="rect">
            <a:avLst/>
          </a:prstGeom>
          <a:solidFill>
            <a:srgbClr val="EFEBE2"/>
          </a:solidFill>
          <a:ln w="12700">
            <a:solidFill>
              <a:srgbClr val="EFEBE2"/>
            </a:solidFill>
            <a:prstDash val="solid"/>
          </a:ln>
        </p:spPr>
      </p:sp>
      <p:sp>
        <p:nvSpPr>
          <p:cNvPr id="34" name="Shape 32"/>
          <p:cNvSpPr/>
          <p:nvPr/>
        </p:nvSpPr>
        <p:spPr>
          <a:xfrm>
            <a:off x="2697480" y="5276088"/>
            <a:ext cx="5089217" cy="155448"/>
          </a:xfrm>
          <a:prstGeom prst="rect">
            <a:avLst/>
          </a:prstGeom>
          <a:solidFill>
            <a:srgbClr val="8A6410"/>
          </a:solidFill>
          <a:ln w="12700">
            <a:solidFill>
              <a:srgbClr val="8A6410"/>
            </a:solidFill>
            <a:prstDash val="solid"/>
          </a:ln>
        </p:spPr>
      </p:sp>
      <p:sp>
        <p:nvSpPr>
          <p:cNvPr id="35" name="Text 33"/>
          <p:cNvSpPr txBox="1"/>
          <p:nvPr/>
        </p:nvSpPr>
        <p:spPr>
          <a:xfrm>
            <a:off x="7955280" y="5202936"/>
            <a:ext cx="868680" cy="292608"/>
          </a:xfrm>
          <a:prstGeom prst="rect">
            <a:avLst/>
          </a:prstGeom>
          <a:noFill/>
          <a:ln/>
        </p:spPr>
        <p:txBody>
          <a:bodyPr wrap="square" lIns="0" tIns="0" rIns="0" bIns="0" rtlCol="0" anchor="ctr"/>
          <a:lstStyle/>
          <a:p>
            <a:pPr indent="0" marL="0">
              <a:buNone/>
            </a:pPr>
            <a:r>
              <a:rPr lang="en-US" sz="1200" dirty="0">
                <a:solidFill>
                  <a:srgbClr val="6B6459"/>
                </a:solidFill>
                <a:latin typeface="Courier New" pitchFamily="34" charset="0"/>
                <a:ea typeface="Courier New" pitchFamily="34" charset="-122"/>
                <a:cs typeface="Courier New" pitchFamily="34" charset="-120"/>
              </a:rPr>
              <a:t>1.117</a:t>
            </a:r>
            <a:endParaRPr lang="en-US" sz="1200" dirty="0"/>
          </a:p>
        </p:txBody>
      </p:sp>
      <p:sp>
        <p:nvSpPr>
          <p:cNvPr id="36" name="Text 34"/>
          <p:cNvSpPr txBox="1"/>
          <p:nvPr/>
        </p:nvSpPr>
        <p:spPr>
          <a:xfrm>
            <a:off x="777240" y="5586984"/>
            <a:ext cx="1828800" cy="292608"/>
          </a:xfrm>
          <a:prstGeom prst="rect">
            <a:avLst/>
          </a:prstGeom>
          <a:noFill/>
          <a:ln/>
        </p:spPr>
        <p:txBody>
          <a:bodyPr wrap="square" lIns="0" tIns="0" rIns="0" bIns="0" rtlCol="0" anchor="ctr"/>
          <a:lstStyle/>
          <a:p>
            <a:pPr indent="0" marL="0">
              <a:buNone/>
            </a:pPr>
            <a:endParaRPr lang="en-US" sz="1250" dirty="0"/>
          </a:p>
        </p:txBody>
      </p:sp>
      <p:sp>
        <p:nvSpPr>
          <p:cNvPr id="37" name="Shape 35"/>
          <p:cNvSpPr/>
          <p:nvPr/>
        </p:nvSpPr>
        <p:spPr>
          <a:xfrm>
            <a:off x="2697480" y="5660136"/>
            <a:ext cx="5120640" cy="155448"/>
          </a:xfrm>
          <a:prstGeom prst="rect">
            <a:avLst/>
          </a:prstGeom>
          <a:solidFill>
            <a:srgbClr val="EFEBE2"/>
          </a:solidFill>
          <a:ln w="12700">
            <a:solidFill>
              <a:srgbClr val="EFEBE2"/>
            </a:solidFill>
            <a:prstDash val="solid"/>
          </a:ln>
        </p:spPr>
      </p:sp>
      <p:sp>
        <p:nvSpPr>
          <p:cNvPr id="38" name="Shape 36"/>
          <p:cNvSpPr/>
          <p:nvPr/>
        </p:nvSpPr>
        <p:spPr>
          <a:xfrm>
            <a:off x="2697480" y="5660136"/>
            <a:ext cx="5120640" cy="155448"/>
          </a:xfrm>
          <a:prstGeom prst="rect">
            <a:avLst/>
          </a:prstGeom>
          <a:solidFill>
            <a:srgbClr val="B8B0A3"/>
          </a:solidFill>
          <a:ln w="12700">
            <a:solidFill>
              <a:srgbClr val="B8B0A3"/>
            </a:solidFill>
            <a:prstDash val="solid"/>
          </a:ln>
        </p:spPr>
      </p:sp>
      <p:sp>
        <p:nvSpPr>
          <p:cNvPr id="39" name="Text 37"/>
          <p:cNvSpPr txBox="1"/>
          <p:nvPr/>
        </p:nvSpPr>
        <p:spPr>
          <a:xfrm>
            <a:off x="7955280" y="5586984"/>
            <a:ext cx="868680" cy="292608"/>
          </a:xfrm>
          <a:prstGeom prst="rect">
            <a:avLst/>
          </a:prstGeom>
          <a:noFill/>
          <a:ln/>
        </p:spPr>
        <p:txBody>
          <a:bodyPr wrap="square" lIns="0" tIns="0" rIns="0" bIns="0" rtlCol="0" anchor="ctr"/>
          <a:lstStyle/>
          <a:p>
            <a:pPr indent="0" marL="0">
              <a:buNone/>
            </a:pPr>
            <a:r>
              <a:rPr lang="en-US" sz="1200" dirty="0">
                <a:solidFill>
                  <a:srgbClr val="6B6459"/>
                </a:solidFill>
                <a:latin typeface="Courier New" pitchFamily="34" charset="0"/>
                <a:ea typeface="Courier New" pitchFamily="34" charset="-122"/>
                <a:cs typeface="Courier New" pitchFamily="34" charset="-120"/>
              </a:rPr>
              <a:t>1.124</a:t>
            </a:r>
            <a:endParaRPr lang="en-US" sz="1200" dirty="0"/>
          </a:p>
        </p:txBody>
      </p:sp>
      <p:sp>
        <p:nvSpPr>
          <p:cNvPr id="40" name="Text 38"/>
          <p:cNvSpPr txBox="1"/>
          <p:nvPr/>
        </p:nvSpPr>
        <p:spPr>
          <a:xfrm>
            <a:off x="9006840" y="2468880"/>
            <a:ext cx="2423160" cy="868680"/>
          </a:xfrm>
          <a:prstGeom prst="rect">
            <a:avLst/>
          </a:prstGeom>
          <a:noFill/>
          <a:ln/>
        </p:spPr>
        <p:txBody>
          <a:bodyPr wrap="square" lIns="0" tIns="0" rIns="0" bIns="0" rtlCol="0" anchor="ctr"/>
          <a:lstStyle/>
          <a:p>
            <a:pPr indent="0" marL="0">
              <a:buNone/>
            </a:pPr>
            <a:r>
              <a:rPr lang="en-US" sz="4400" b="1" dirty="0">
                <a:solidFill>
                  <a:srgbClr val="1F5D42"/>
                </a:solidFill>
                <a:latin typeface="Courier New" pitchFamily="34" charset="0"/>
                <a:ea typeface="Courier New" pitchFamily="34" charset="-122"/>
                <a:cs typeface="Courier New" pitchFamily="34" charset="-120"/>
              </a:rPr>
              <a:t>0.907</a:t>
            </a:r>
            <a:endParaRPr lang="en-US" sz="4400" dirty="0"/>
          </a:p>
        </p:txBody>
      </p:sp>
      <p:sp>
        <p:nvSpPr>
          <p:cNvPr id="41" name="Text 39"/>
          <p:cNvSpPr txBox="1"/>
          <p:nvPr/>
        </p:nvSpPr>
        <p:spPr>
          <a:xfrm>
            <a:off x="9006840" y="3337560"/>
            <a:ext cx="2423160" cy="822960"/>
          </a:xfrm>
          <a:prstGeom prst="rect">
            <a:avLst/>
          </a:prstGeom>
          <a:noFill/>
          <a:ln/>
        </p:spPr>
        <p:txBody>
          <a:bodyPr wrap="square" lIns="0" tIns="0" rIns="0" bIns="0" rtlCol="0" anchor="ctr"/>
          <a:lstStyle/>
          <a:p>
            <a:pPr indent="0" marL="0">
              <a:lnSpc>
                <a:spcPts val="1600"/>
              </a:lnSpc>
              <a:buNone/>
            </a:pPr>
            <a:r>
              <a:rPr lang="en-US" sz="1250" dirty="0">
                <a:solidFill>
                  <a:srgbClr val="6B6459"/>
                </a:solidFill>
                <a:latin typeface="Calibri" pitchFamily="34" charset="0"/>
                <a:ea typeface="Calibri" pitchFamily="34" charset="-122"/>
                <a:cs typeface="Calibri" pitchFamily="34" charset="-120"/>
              </a:rPr>
              <a:t>what we ship — the median of</a:t>
            </a:r>
            <a:endParaRPr lang="en-US" sz="1250" dirty="0"/>
          </a:p>
          <a:p>
            <a:pPr indent="0" marL="0">
              <a:lnSpc>
                <a:spcPts val="1600"/>
              </a:lnSpc>
              <a:buNone/>
            </a:pPr>
            <a:r>
              <a:rPr lang="en-US" sz="1250" dirty="0">
                <a:solidFill>
                  <a:srgbClr val="6B6459"/>
                </a:solidFill>
                <a:latin typeface="Calibri" pitchFamily="34" charset="0"/>
                <a:ea typeface="Calibri" pitchFamily="34" charset="-122"/>
                <a:cs typeface="Calibri" pitchFamily="34" charset="-120"/>
              </a:rPr>
              <a:t>five independent models</a:t>
            </a:r>
            <a:endParaRPr lang="en-US" sz="1250" dirty="0"/>
          </a:p>
        </p:txBody>
      </p:sp>
      <p:sp>
        <p:nvSpPr>
          <p:cNvPr id="42" name="Text 40"/>
          <p:cNvSpPr txBox="1"/>
          <p:nvPr/>
        </p:nvSpPr>
        <p:spPr>
          <a:xfrm>
            <a:off x="9006840" y="4114800"/>
            <a:ext cx="2423160" cy="868680"/>
          </a:xfrm>
          <a:prstGeom prst="rect">
            <a:avLst/>
          </a:prstGeom>
          <a:noFill/>
          <a:ln/>
        </p:spPr>
        <p:txBody>
          <a:bodyPr wrap="square" lIns="0" tIns="0" rIns="0" bIns="0" rtlCol="0" anchor="ctr"/>
          <a:lstStyle/>
          <a:p>
            <a:pPr indent="0" marL="0">
              <a:buNone/>
            </a:pPr>
            <a:r>
              <a:rPr lang="en-US" sz="4400" b="1" dirty="0">
                <a:solidFill>
                  <a:srgbClr val="8A6410"/>
                </a:solidFill>
                <a:latin typeface="Courier New" pitchFamily="34" charset="0"/>
                <a:ea typeface="Courier New" pitchFamily="34" charset="-122"/>
                <a:cs typeface="Courier New" pitchFamily="34" charset="-120"/>
              </a:rPr>
              <a:t>1.117</a:t>
            </a:r>
            <a:endParaRPr lang="en-US" sz="4400" dirty="0"/>
          </a:p>
        </p:txBody>
      </p:sp>
      <p:sp>
        <p:nvSpPr>
          <p:cNvPr id="43" name="Text 41"/>
          <p:cNvSpPr txBox="1"/>
          <p:nvPr/>
        </p:nvSpPr>
        <p:spPr>
          <a:xfrm>
            <a:off x="9006840" y="4983480"/>
            <a:ext cx="2423160" cy="822960"/>
          </a:xfrm>
          <a:prstGeom prst="rect">
            <a:avLst/>
          </a:prstGeom>
          <a:noFill/>
          <a:ln/>
        </p:spPr>
        <p:txBody>
          <a:bodyPr wrap="square" lIns="0" tIns="0" rIns="0" bIns="0" rtlCol="0" anchor="ctr"/>
          <a:lstStyle/>
          <a:p>
            <a:pPr indent="0" marL="0">
              <a:lnSpc>
                <a:spcPts val="1600"/>
              </a:lnSpc>
              <a:buNone/>
            </a:pPr>
            <a:r>
              <a:rPr lang="en-US" sz="1250" dirty="0">
                <a:solidFill>
                  <a:srgbClr val="6B6459"/>
                </a:solidFill>
                <a:latin typeface="Calibri" pitchFamily="34" charset="0"/>
                <a:ea typeface="Calibri" pitchFamily="34" charset="-122"/>
                <a:cs typeface="Calibri" pitchFamily="34" charset="-120"/>
              </a:rPr>
              <a:t>SeasonalNaive — repeat what happened</a:t>
            </a:r>
            <a:endParaRPr lang="en-US" sz="1250" dirty="0"/>
          </a:p>
          <a:p>
            <a:pPr indent="0" marL="0">
              <a:lnSpc>
                <a:spcPts val="1600"/>
              </a:lnSpc>
              <a:buNone/>
            </a:pPr>
            <a:r>
              <a:rPr lang="en-US" sz="1250" dirty="0">
                <a:solidFill>
                  <a:srgbClr val="6B6459"/>
                </a:solidFill>
                <a:latin typeface="Calibri" pitchFamily="34" charset="0"/>
                <a:ea typeface="Calibri" pitchFamily="34" charset="-122"/>
                <a:cs typeface="Calibri" pitchFamily="34" charset="-120"/>
              </a:rPr>
              <a:t>this week last year. The honest</a:t>
            </a:r>
            <a:endParaRPr lang="en-US" sz="1250" dirty="0"/>
          </a:p>
          <a:p>
            <a:pPr indent="0" marL="0">
              <a:lnSpc>
                <a:spcPts val="1600"/>
              </a:lnSpc>
              <a:buNone/>
            </a:pPr>
            <a:r>
              <a:rPr lang="en-US" sz="1250" dirty="0">
                <a:solidFill>
                  <a:srgbClr val="6B6459"/>
                </a:solidFill>
                <a:latin typeface="Calibri" pitchFamily="34" charset="0"/>
                <a:ea typeface="Calibri" pitchFamily="34" charset="-122"/>
                <a:cs typeface="Calibri" pitchFamily="34" charset="-120"/>
              </a:rPr>
              <a:t>benchmark, and a hard one.</a:t>
            </a:r>
            <a:endParaRPr lang="en-US" sz="1250" dirty="0"/>
          </a:p>
        </p:txBody>
      </p:sp>
      <p:sp>
        <p:nvSpPr>
          <p:cNvPr id="44" name="Text 42"/>
          <p:cNvSpPr txBox="1"/>
          <p:nvPr/>
        </p:nvSpPr>
        <p:spPr>
          <a:xfrm>
            <a:off x="777240" y="5943600"/>
            <a:ext cx="10637215" cy="411480"/>
          </a:xfrm>
          <a:prstGeom prst="rect">
            <a:avLst/>
          </a:prstGeom>
          <a:noFill/>
          <a:ln/>
        </p:spPr>
        <p:txBody>
          <a:bodyPr wrap="square" lIns="0" tIns="0" rIns="0" bIns="0" rtlCol="0" anchor="ctr"/>
          <a:lstStyle/>
          <a:p>
            <a:pPr indent="0" marL="0">
              <a:lnSpc>
                <a:spcPts val="1485"/>
              </a:lnSpc>
              <a:buNone/>
            </a:pPr>
            <a:r>
              <a:rPr lang="en-US" sz="1100" i="1" dirty="0">
                <a:solidFill>
                  <a:srgbClr val="6B6459"/>
                </a:solidFill>
                <a:latin typeface="Calibri" pitchFamily="34" charset="0"/>
                <a:ea typeface="Calibri" pitchFamily="34" charset="-122"/>
                <a:cs typeface="Calibri" pitchFamily="34" charset="-120"/>
              </a:rPr>
              <a:t>Weekly grain · horizon 8 · rolling-origin CV over 4 non-overlapping folds · MASE against an in-sample naive denominator · 8 series · seed 42. MAPE is undefined on a series with zero-sale days, and one of ours has them on 67.9% of days.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10D"/>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RESULT 2 · THE FINDING WORTH LEADING WITH</a:t>
            </a:r>
            <a:endParaRPr lang="en-US" sz="1100" dirty="0"/>
          </a:p>
        </p:txBody>
      </p:sp>
      <p:sp>
        <p:nvSpPr>
          <p:cNvPr id="3" name="Text 1"/>
          <p:cNvSpPr txBox="1"/>
          <p:nvPr/>
        </p:nvSpPr>
        <p:spPr>
          <a:xfrm>
            <a:off x="777240" y="868680"/>
            <a:ext cx="10637215" cy="1600200"/>
          </a:xfrm>
          <a:prstGeom prst="rect">
            <a:avLst/>
          </a:prstGeom>
          <a:noFill/>
          <a:ln/>
        </p:spPr>
        <p:txBody>
          <a:bodyPr wrap="square" lIns="0" tIns="0" rIns="0" bIns="0" rtlCol="0" anchor="ctr"/>
          <a:lstStyle/>
          <a:p>
            <a:pPr indent="0" marL="0">
              <a:lnSpc>
                <a:spcPts val="4480"/>
              </a:lnSpc>
              <a:buNone/>
            </a:pPr>
            <a:r>
              <a:rPr lang="en-US" sz="4000" dirty="0">
                <a:solidFill>
                  <a:srgbClr val="F7F4EE"/>
                </a:solidFill>
                <a:latin typeface="Cambria" pitchFamily="34" charset="0"/>
                <a:ea typeface="Cambria" pitchFamily="34" charset="-122"/>
                <a:cs typeface="Cambria" pitchFamily="34" charset="-120"/>
              </a:rPr>
              <a:t>We implemented the obvious approach</a:t>
            </a:r>
            <a:endParaRPr lang="en-US" sz="4000" dirty="0"/>
          </a:p>
          <a:p>
            <a:pPr indent="0" marL="0">
              <a:lnSpc>
                <a:spcPts val="4480"/>
              </a:lnSpc>
              <a:buNone/>
            </a:pPr>
            <a:r>
              <a:rPr lang="en-US" sz="4000" dirty="0">
                <a:solidFill>
                  <a:srgbClr val="F7F4EE"/>
                </a:solidFill>
                <a:latin typeface="Cambria" pitchFamily="34" charset="0"/>
                <a:ea typeface="Cambria" pitchFamily="34" charset="-122"/>
                <a:cs typeface="Cambria" pitchFamily="34" charset="-120"/>
              </a:rPr>
              <a:t>and measured it losing.</a:t>
            </a:r>
            <a:endParaRPr lang="en-US" sz="4000" dirty="0"/>
          </a:p>
        </p:txBody>
      </p:sp>
      <p:sp>
        <p:nvSpPr>
          <p:cNvPr id="4" name="Text 2"/>
          <p:cNvSpPr txBox="1"/>
          <p:nvPr/>
        </p:nvSpPr>
        <p:spPr>
          <a:xfrm>
            <a:off x="777240" y="2743200"/>
            <a:ext cx="3383280" cy="914400"/>
          </a:xfrm>
          <a:prstGeom prst="rect">
            <a:avLst/>
          </a:prstGeom>
          <a:noFill/>
          <a:ln/>
        </p:spPr>
        <p:txBody>
          <a:bodyPr wrap="square" lIns="0" tIns="0" rIns="0" bIns="0" rtlCol="0" anchor="ctr"/>
          <a:lstStyle/>
          <a:p>
            <a:pPr indent="0" marL="0">
              <a:buNone/>
            </a:pPr>
            <a:r>
              <a:rPr lang="en-US" sz="5600" b="1" dirty="0">
                <a:solidFill>
                  <a:srgbClr val="A32E22"/>
                </a:solidFill>
                <a:latin typeface="Courier New" pitchFamily="34" charset="0"/>
                <a:ea typeface="Courier New" pitchFamily="34" charset="-122"/>
                <a:cs typeface="Courier New" pitchFamily="34" charset="-120"/>
              </a:rPr>
              <a:t>0.968</a:t>
            </a:r>
            <a:endParaRPr lang="en-US" sz="5600" dirty="0"/>
          </a:p>
        </p:txBody>
      </p:sp>
      <p:sp>
        <p:nvSpPr>
          <p:cNvPr id="5" name="Text 3"/>
          <p:cNvSpPr txBox="1"/>
          <p:nvPr/>
        </p:nvSpPr>
        <p:spPr>
          <a:xfrm>
            <a:off x="777240" y="3703320"/>
            <a:ext cx="3383280" cy="640080"/>
          </a:xfrm>
          <a:prstGeom prst="rect">
            <a:avLst/>
          </a:prstGeom>
          <a:noFill/>
          <a:ln/>
        </p:spPr>
        <p:txBody>
          <a:bodyPr wrap="square" lIns="0" tIns="0" rIns="0" bIns="0" rtlCol="0" anchor="ctr"/>
          <a:lstStyle/>
          <a:p>
            <a:pPr indent="0" marL="0">
              <a:lnSpc>
                <a:spcPts val="1900"/>
              </a:lnSpc>
              <a:buNone/>
            </a:pPr>
            <a:r>
              <a:rPr lang="en-US" sz="1400" dirty="0">
                <a:solidFill>
                  <a:srgbClr val="C9C2B6"/>
                </a:solidFill>
                <a:latin typeface="Calibri" pitchFamily="34" charset="0"/>
                <a:ea typeface="Calibri" pitchFamily="34" charset="-122"/>
                <a:cs typeface="Calibri" pitchFamily="34" charset="-120"/>
              </a:rPr>
              <a:t>Pick each product's</a:t>
            </a:r>
            <a:endParaRPr lang="en-US" sz="1400" dirty="0"/>
          </a:p>
          <a:p>
            <a:pPr indent="0" marL="0">
              <a:lnSpc>
                <a:spcPts val="1900"/>
              </a:lnSpc>
              <a:buNone/>
            </a:pPr>
            <a:r>
              <a:rPr lang="en-US" sz="1400" dirty="0">
                <a:solidFill>
                  <a:srgbClr val="C9C2B6"/>
                </a:solidFill>
                <a:latin typeface="Calibri" pitchFamily="34" charset="0"/>
                <a:ea typeface="Calibri" pitchFamily="34" charset="-122"/>
                <a:cs typeface="Calibri" pitchFamily="34" charset="-120"/>
              </a:rPr>
              <a:t>best model</a:t>
            </a:r>
            <a:endParaRPr lang="en-US" sz="1400" dirty="0"/>
          </a:p>
        </p:txBody>
      </p:sp>
      <p:sp>
        <p:nvSpPr>
          <p:cNvPr id="6" name="Text 4"/>
          <p:cNvSpPr txBox="1"/>
          <p:nvPr/>
        </p:nvSpPr>
        <p:spPr>
          <a:xfrm>
            <a:off x="777240" y="4370832"/>
            <a:ext cx="3383280" cy="548640"/>
          </a:xfrm>
          <a:prstGeom prst="rect">
            <a:avLst/>
          </a:prstGeom>
          <a:noFill/>
          <a:ln/>
        </p:spPr>
        <p:txBody>
          <a:bodyPr wrap="square" lIns="0" tIns="0" rIns="0" bIns="0" rtlCol="0" anchor="ctr"/>
          <a:lstStyle/>
          <a:p>
            <a:pPr indent="0" marL="0">
              <a:lnSpc>
                <a:spcPts val="1500"/>
              </a:lnSpc>
              <a:buNone/>
            </a:pPr>
            <a:r>
              <a:rPr lang="en-US" sz="1100" dirty="0">
                <a:solidFill>
                  <a:srgbClr val="6B6459"/>
                </a:solidFill>
                <a:latin typeface="Calibri" pitchFamily="34" charset="0"/>
                <a:ea typeface="Calibri" pitchFamily="34" charset="-122"/>
                <a:cs typeface="Calibri" pitchFamily="34" charset="-120"/>
              </a:rPr>
              <a:t>the intuitive answer — and</a:t>
            </a:r>
            <a:endParaRPr lang="en-US" sz="1100" dirty="0"/>
          </a:p>
          <a:p>
            <a:pPr indent="0" marL="0">
              <a:lnSpc>
                <a:spcPts val="1500"/>
              </a:lnSpc>
              <a:buNone/>
            </a:pPr>
            <a:r>
              <a:rPr lang="en-US" sz="1100" dirty="0">
                <a:solidFill>
                  <a:srgbClr val="6B6459"/>
                </a:solidFill>
                <a:latin typeface="Calibri" pitchFamily="34" charset="0"/>
                <a:ea typeface="Calibri" pitchFamily="34" charset="-122"/>
                <a:cs typeface="Calibri" pitchFamily="34" charset="-120"/>
              </a:rPr>
              <a:t>the one most teams ship</a:t>
            </a:r>
            <a:endParaRPr lang="en-US" sz="1100" dirty="0"/>
          </a:p>
        </p:txBody>
      </p:sp>
      <p:sp>
        <p:nvSpPr>
          <p:cNvPr id="7" name="Text 5"/>
          <p:cNvSpPr txBox="1"/>
          <p:nvPr/>
        </p:nvSpPr>
        <p:spPr>
          <a:xfrm>
            <a:off x="4434840" y="2743200"/>
            <a:ext cx="3383280" cy="914400"/>
          </a:xfrm>
          <a:prstGeom prst="rect">
            <a:avLst/>
          </a:prstGeom>
          <a:noFill/>
          <a:ln/>
        </p:spPr>
        <p:txBody>
          <a:bodyPr wrap="square" lIns="0" tIns="0" rIns="0" bIns="0" rtlCol="0" anchor="ctr"/>
          <a:lstStyle/>
          <a:p>
            <a:pPr indent="0" marL="0">
              <a:buNone/>
            </a:pPr>
            <a:r>
              <a:rPr lang="en-US" sz="5600" b="1" dirty="0">
                <a:solidFill>
                  <a:srgbClr val="5FD39B"/>
                </a:solidFill>
                <a:latin typeface="Courier New" pitchFamily="34" charset="0"/>
                <a:ea typeface="Courier New" pitchFamily="34" charset="-122"/>
                <a:cs typeface="Courier New" pitchFamily="34" charset="-120"/>
              </a:rPr>
              <a:t>0.907</a:t>
            </a:r>
            <a:endParaRPr lang="en-US" sz="5600" dirty="0"/>
          </a:p>
        </p:txBody>
      </p:sp>
      <p:sp>
        <p:nvSpPr>
          <p:cNvPr id="8" name="Text 6"/>
          <p:cNvSpPr txBox="1"/>
          <p:nvPr/>
        </p:nvSpPr>
        <p:spPr>
          <a:xfrm>
            <a:off x="4434840" y="3703320"/>
            <a:ext cx="3383280" cy="640080"/>
          </a:xfrm>
          <a:prstGeom prst="rect">
            <a:avLst/>
          </a:prstGeom>
          <a:noFill/>
          <a:ln/>
        </p:spPr>
        <p:txBody>
          <a:bodyPr wrap="square" lIns="0" tIns="0" rIns="0" bIns="0" rtlCol="0" anchor="ctr"/>
          <a:lstStyle/>
          <a:p>
            <a:pPr indent="0" marL="0">
              <a:lnSpc>
                <a:spcPts val="1900"/>
              </a:lnSpc>
              <a:buNone/>
            </a:pPr>
            <a:r>
              <a:rPr lang="en-US" sz="1400" dirty="0">
                <a:solidFill>
                  <a:srgbClr val="C9C2B6"/>
                </a:solidFill>
                <a:latin typeface="Calibri" pitchFamily="34" charset="0"/>
                <a:ea typeface="Calibri" pitchFamily="34" charset="-122"/>
                <a:cs typeface="Calibri" pitchFamily="34" charset="-120"/>
              </a:rPr>
              <a:t>Combine them</a:t>
            </a:r>
            <a:endParaRPr lang="en-US" sz="1400" dirty="0"/>
          </a:p>
          <a:p>
            <a:pPr indent="0" marL="0">
              <a:lnSpc>
                <a:spcPts val="1900"/>
              </a:lnSpc>
              <a:buNone/>
            </a:pPr>
            <a:r>
              <a:rPr lang="en-US" sz="1400" dirty="0">
                <a:solidFill>
                  <a:srgbClr val="C9C2B6"/>
                </a:solidFill>
                <a:latin typeface="Calibri" pitchFamily="34" charset="0"/>
                <a:ea typeface="Calibri" pitchFamily="34" charset="-122"/>
                <a:cs typeface="Calibri" pitchFamily="34" charset="-120"/>
              </a:rPr>
              <a:t>(median of five)</a:t>
            </a:r>
            <a:endParaRPr lang="en-US" sz="1400" dirty="0"/>
          </a:p>
        </p:txBody>
      </p:sp>
      <p:sp>
        <p:nvSpPr>
          <p:cNvPr id="9" name="Text 7"/>
          <p:cNvSpPr txBox="1"/>
          <p:nvPr/>
        </p:nvSpPr>
        <p:spPr>
          <a:xfrm>
            <a:off x="4434840" y="4370832"/>
            <a:ext cx="3383280" cy="548640"/>
          </a:xfrm>
          <a:prstGeom prst="rect">
            <a:avLst/>
          </a:prstGeom>
          <a:noFill/>
          <a:ln/>
        </p:spPr>
        <p:txBody>
          <a:bodyPr wrap="square" lIns="0" tIns="0" rIns="0" bIns="0" rtlCol="0" anchor="ctr"/>
          <a:lstStyle/>
          <a:p>
            <a:pPr indent="0" marL="0">
              <a:lnSpc>
                <a:spcPts val="1500"/>
              </a:lnSpc>
              <a:buNone/>
            </a:pPr>
            <a:r>
              <a:rPr lang="en-US" sz="1100" dirty="0">
                <a:solidFill>
                  <a:srgbClr val="6B6459"/>
                </a:solidFill>
                <a:latin typeface="Calibri" pitchFamily="34" charset="0"/>
                <a:ea typeface="Calibri" pitchFamily="34" charset="-122"/>
                <a:cs typeface="Calibri" pitchFamily="34" charset="-120"/>
              </a:rPr>
              <a:t>what we ship</a:t>
            </a:r>
            <a:endParaRPr lang="en-US" sz="1100" dirty="0"/>
          </a:p>
        </p:txBody>
      </p:sp>
      <p:sp>
        <p:nvSpPr>
          <p:cNvPr id="10" name="Text 8"/>
          <p:cNvSpPr txBox="1"/>
          <p:nvPr/>
        </p:nvSpPr>
        <p:spPr>
          <a:xfrm>
            <a:off x="8092440" y="2743200"/>
            <a:ext cx="3383280" cy="914400"/>
          </a:xfrm>
          <a:prstGeom prst="rect">
            <a:avLst/>
          </a:prstGeom>
          <a:noFill/>
          <a:ln/>
        </p:spPr>
        <p:txBody>
          <a:bodyPr wrap="square" lIns="0" tIns="0" rIns="0" bIns="0" rtlCol="0" anchor="ctr"/>
          <a:lstStyle/>
          <a:p>
            <a:pPr indent="0" marL="0">
              <a:buNone/>
            </a:pPr>
            <a:r>
              <a:rPr lang="en-US" sz="5600" b="1" dirty="0">
                <a:solidFill>
                  <a:srgbClr val="9A9287"/>
                </a:solidFill>
                <a:latin typeface="Courier New" pitchFamily="34" charset="0"/>
                <a:ea typeface="Courier New" pitchFamily="34" charset="-122"/>
                <a:cs typeface="Courier New" pitchFamily="34" charset="-120"/>
              </a:rPr>
              <a:t>0.843</a:t>
            </a:r>
            <a:endParaRPr lang="en-US" sz="5600" dirty="0"/>
          </a:p>
        </p:txBody>
      </p:sp>
      <p:sp>
        <p:nvSpPr>
          <p:cNvPr id="11" name="Text 9"/>
          <p:cNvSpPr txBox="1"/>
          <p:nvPr/>
        </p:nvSpPr>
        <p:spPr>
          <a:xfrm>
            <a:off x="8092440" y="3703320"/>
            <a:ext cx="3383280" cy="640080"/>
          </a:xfrm>
          <a:prstGeom prst="rect">
            <a:avLst/>
          </a:prstGeom>
          <a:noFill/>
          <a:ln/>
        </p:spPr>
        <p:txBody>
          <a:bodyPr wrap="square" lIns="0" tIns="0" rIns="0" bIns="0" rtlCol="0" anchor="ctr"/>
          <a:lstStyle/>
          <a:p>
            <a:pPr indent="0" marL="0">
              <a:lnSpc>
                <a:spcPts val="1900"/>
              </a:lnSpc>
              <a:buNone/>
            </a:pPr>
            <a:r>
              <a:rPr lang="en-US" sz="1400" dirty="0">
                <a:solidFill>
                  <a:srgbClr val="C9C2B6"/>
                </a:solidFill>
                <a:latin typeface="Calibri" pitchFamily="34" charset="0"/>
                <a:ea typeface="Calibri" pitchFamily="34" charset="-122"/>
                <a:cs typeface="Calibri" pitchFamily="34" charset="-120"/>
              </a:rPr>
              <a:t>Perfect hindsight</a:t>
            </a:r>
            <a:endParaRPr lang="en-US" sz="1400" dirty="0"/>
          </a:p>
        </p:txBody>
      </p:sp>
      <p:sp>
        <p:nvSpPr>
          <p:cNvPr id="12" name="Text 10"/>
          <p:cNvSpPr txBox="1"/>
          <p:nvPr/>
        </p:nvSpPr>
        <p:spPr>
          <a:xfrm>
            <a:off x="8092440" y="4370832"/>
            <a:ext cx="3383280" cy="548640"/>
          </a:xfrm>
          <a:prstGeom prst="rect">
            <a:avLst/>
          </a:prstGeom>
          <a:noFill/>
          <a:ln/>
        </p:spPr>
        <p:txBody>
          <a:bodyPr wrap="square" lIns="0" tIns="0" rIns="0" bIns="0" rtlCol="0" anchor="ctr"/>
          <a:lstStyle/>
          <a:p>
            <a:pPr indent="0" marL="0">
              <a:lnSpc>
                <a:spcPts val="1500"/>
              </a:lnSpc>
              <a:buNone/>
            </a:pPr>
            <a:r>
              <a:rPr lang="en-US" sz="1100" dirty="0">
                <a:solidFill>
                  <a:srgbClr val="6B6459"/>
                </a:solidFill>
                <a:latin typeface="Calibri" pitchFamily="34" charset="0"/>
                <a:ea typeface="Calibri" pitchFamily="34" charset="-122"/>
                <a:cs typeface="Calibri" pitchFamily="34" charset="-120"/>
              </a:rPr>
              <a:t>a bound, not a model</a:t>
            </a:r>
            <a:endParaRPr lang="en-US" sz="1100" dirty="0"/>
          </a:p>
        </p:txBody>
      </p:sp>
      <p:sp>
        <p:nvSpPr>
          <p:cNvPr id="13" name="Text 11"/>
          <p:cNvSpPr txBox="1"/>
          <p:nvPr/>
        </p:nvSpPr>
        <p:spPr>
          <a:xfrm>
            <a:off x="777240" y="5029200"/>
            <a:ext cx="10637215" cy="960120"/>
          </a:xfrm>
          <a:prstGeom prst="rect">
            <a:avLst/>
          </a:prstGeom>
          <a:noFill/>
          <a:ln/>
        </p:spPr>
        <p:txBody>
          <a:bodyPr wrap="square" lIns="0" tIns="0" rIns="0" bIns="0" rtlCol="0" anchor="ctr"/>
          <a:lstStyle/>
          <a:p>
            <a:pPr indent="0" marL="0">
              <a:lnSpc>
                <a:spcPts val="2100"/>
              </a:lnSpc>
              <a:buNone/>
            </a:pPr>
            <a:r>
              <a:rPr lang="en-US" sz="1400" dirty="0">
                <a:solidFill>
                  <a:srgbClr val="C9C2B6"/>
                </a:solidFill>
                <a:latin typeface="Calibri" pitchFamily="34" charset="0"/>
                <a:ea typeface="Calibri" pitchFamily="34" charset="-122"/>
                <a:cs typeface="Calibri" pitchFamily="34" charset="-120"/>
              </a:rPr>
              <a:t>Five different models win across the eight series, so per-series selection looks obviously right. But with ~300 weekly observations, “best on the last fold” is mostly noise — selection chases the noise and locks in whichever model got lucky. Combination does the opposite: independent models make independent mistakes, and the median cancels them.</a:t>
            </a:r>
            <a:endParaRPr lang="en-US" sz="1400" dirty="0"/>
          </a:p>
        </p:txBody>
      </p:sp>
      <p:sp>
        <p:nvSpPr>
          <p:cNvPr id="14" name="Text 12"/>
          <p:cNvSpPr txBox="1"/>
          <p:nvPr/>
        </p:nvSpPr>
        <p:spPr>
          <a:xfrm>
            <a:off x="777240" y="6053328"/>
            <a:ext cx="10637215" cy="347472"/>
          </a:xfrm>
          <a:prstGeom prst="rect">
            <a:avLst/>
          </a:prstGeom>
          <a:noFill/>
          <a:ln/>
        </p:spPr>
        <p:txBody>
          <a:bodyPr wrap="square" lIns="0" tIns="0" rIns="0" bIns="0" rtlCol="0" anchor="ctr"/>
          <a:lstStyle/>
          <a:p>
            <a:pPr indent="0" marL="0">
              <a:buNone/>
            </a:pPr>
            <a:r>
              <a:rPr lang="en-US" sz="1050" dirty="0">
                <a:solidFill>
                  <a:srgbClr val="9A9287"/>
                </a:solidFill>
                <a:latin typeface="Courier New" pitchFamily="34" charset="0"/>
                <a:ea typeface="Courier New" pitchFamily="34" charset="-122"/>
                <a:cs typeface="Courier New" pitchFamily="34" charset="-120"/>
              </a:rPr>
              <a:t>Scored honestly: the choice for fold k uses only folds 1…k−1, so it never sees the answer it is graded on.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RESULT 3 · ARE OUR OWN CONFIDENCE INTERVALS TRUE?</a:t>
            </a:r>
            <a:endParaRPr lang="en-US" sz="1100" dirty="0"/>
          </a:p>
        </p:txBody>
      </p:sp>
      <p:sp>
        <p:nvSpPr>
          <p:cNvPr id="3" name="Text 1"/>
          <p:cNvSpPr txBox="1"/>
          <p:nvPr/>
        </p:nvSpPr>
        <p:spPr>
          <a:xfrm>
            <a:off x="777240" y="868680"/>
            <a:ext cx="6035040" cy="1097280"/>
          </a:xfrm>
          <a:prstGeom prst="rect">
            <a:avLst/>
          </a:prstGeom>
          <a:noFill/>
          <a:ln/>
        </p:spPr>
        <p:txBody>
          <a:bodyPr wrap="square" lIns="0" tIns="0" rIns="0" bIns="0" rtlCol="0" anchor="ctr"/>
          <a:lstStyle/>
          <a:p>
            <a:pPr indent="0" marL="0">
              <a:lnSpc>
                <a:spcPts val="3360"/>
              </a:lnSpc>
              <a:buNone/>
            </a:pPr>
            <a:r>
              <a:rPr lang="en-US" sz="3000" dirty="0">
                <a:solidFill>
                  <a:srgbClr val="14110D"/>
                </a:solidFill>
                <a:latin typeface="Cambria" pitchFamily="34" charset="0"/>
                <a:ea typeface="Cambria" pitchFamily="34" charset="-122"/>
                <a:cs typeface="Cambria" pitchFamily="34" charset="-120"/>
              </a:rPr>
              <a:t>We measured whether to believe</a:t>
            </a:r>
            <a:endParaRPr lang="en-US" sz="3000" dirty="0"/>
          </a:p>
          <a:p>
            <a:pPr indent="0" marL="0">
              <a:lnSpc>
                <a:spcPts val="3360"/>
              </a:lnSpc>
              <a:buNone/>
            </a:pPr>
            <a:r>
              <a:rPr lang="en-US" sz="3000" dirty="0">
                <a:solidFill>
                  <a:srgbClr val="14110D"/>
                </a:solidFill>
                <a:latin typeface="Cambria" pitchFamily="34" charset="0"/>
                <a:ea typeface="Cambria" pitchFamily="34" charset="-122"/>
                <a:cs typeface="Cambria" pitchFamily="34" charset="-120"/>
              </a:rPr>
              <a:t>ourselves, then corrected it.</a:t>
            </a:r>
            <a:endParaRPr lang="en-US" sz="3000" dirty="0"/>
          </a:p>
        </p:txBody>
      </p:sp>
      <p:sp>
        <p:nvSpPr>
          <p:cNvPr id="4" name="Text 2"/>
          <p:cNvSpPr txBox="1"/>
          <p:nvPr/>
        </p:nvSpPr>
        <p:spPr>
          <a:xfrm>
            <a:off x="777240" y="2286000"/>
            <a:ext cx="5852160" cy="1051560"/>
          </a:xfrm>
          <a:prstGeom prst="rect">
            <a:avLst/>
          </a:prstGeom>
          <a:noFill/>
          <a:ln/>
        </p:spPr>
        <p:txBody>
          <a:bodyPr wrap="square" lIns="0" tIns="0" rIns="0" bIns="0" rtlCol="0" anchor="ctr"/>
          <a:lstStyle/>
          <a:p>
            <a:pPr indent="0" marL="0">
              <a:lnSpc>
                <a:spcPts val="1900"/>
              </a:lnSpc>
              <a:buNone/>
            </a:pPr>
            <a:r>
              <a:rPr lang="en-US" sz="1350" dirty="0">
                <a:solidFill>
                  <a:srgbClr val="3B362F"/>
                </a:solidFill>
                <a:latin typeface="Calibri" pitchFamily="34" charset="0"/>
                <a:ea typeface="Calibri" pitchFamily="34" charset="-122"/>
                <a:cs typeface="Calibri" pitchFamily="34" charset="-120"/>
              </a:rPr>
              <a:t>A stated 80% interval actually covered 92.2% of outcomes. Too wide — which sounds like the safe direction and is not: an over-wide interval pushes the order quantity up, and the buyer pays holding cost for confidence the model has not earned.</a:t>
            </a:r>
            <a:endParaRPr lang="en-US" sz="1350" dirty="0"/>
          </a:p>
        </p:txBody>
      </p:sp>
      <p:sp>
        <p:nvSpPr>
          <p:cNvPr id="5" name="Text 3"/>
          <p:cNvSpPr txBox="1"/>
          <p:nvPr/>
        </p:nvSpPr>
        <p:spPr>
          <a:xfrm>
            <a:off x="777240" y="3474720"/>
            <a:ext cx="2651760" cy="868680"/>
          </a:xfrm>
          <a:prstGeom prst="rect">
            <a:avLst/>
          </a:prstGeom>
          <a:noFill/>
          <a:ln/>
        </p:spPr>
        <p:txBody>
          <a:bodyPr wrap="square" lIns="0" tIns="0" rIns="0" bIns="0" rtlCol="0" anchor="ctr"/>
          <a:lstStyle/>
          <a:p>
            <a:pPr indent="0" marL="0">
              <a:buNone/>
            </a:pPr>
            <a:r>
              <a:rPr lang="en-US" sz="4400" b="1" dirty="0">
                <a:solidFill>
                  <a:srgbClr val="A32E22"/>
                </a:solidFill>
                <a:latin typeface="Courier New" pitchFamily="34" charset="0"/>
                <a:ea typeface="Courier New" pitchFamily="34" charset="-122"/>
                <a:cs typeface="Courier New" pitchFamily="34" charset="-120"/>
              </a:rPr>
              <a:t>92.2%</a:t>
            </a:r>
            <a:endParaRPr lang="en-US" sz="4400" dirty="0"/>
          </a:p>
        </p:txBody>
      </p:sp>
      <p:sp>
        <p:nvSpPr>
          <p:cNvPr id="6" name="Text 4"/>
          <p:cNvSpPr txBox="1"/>
          <p:nvPr/>
        </p:nvSpPr>
        <p:spPr>
          <a:xfrm>
            <a:off x="777240" y="4343400"/>
            <a:ext cx="2651760" cy="822960"/>
          </a:xfrm>
          <a:prstGeom prst="rect">
            <a:avLst/>
          </a:prstGeom>
          <a:noFill/>
          <a:ln/>
        </p:spPr>
        <p:txBody>
          <a:bodyPr wrap="square" lIns="0" tIns="0" rIns="0" bIns="0" rtlCol="0" anchor="ctr"/>
          <a:lstStyle/>
          <a:p>
            <a:pPr indent="0" marL="0">
              <a:lnSpc>
                <a:spcPts val="1600"/>
              </a:lnSpc>
              <a:buNone/>
            </a:pPr>
            <a:r>
              <a:rPr lang="en-US" sz="1250" dirty="0">
                <a:solidFill>
                  <a:srgbClr val="6B6459"/>
                </a:solidFill>
                <a:latin typeface="Calibri" pitchFamily="34" charset="0"/>
                <a:ea typeface="Calibri" pitchFamily="34" charset="-122"/>
                <a:cs typeface="Calibri" pitchFamily="34" charset="-120"/>
              </a:rPr>
              <a:t>the raw model interval,</a:t>
            </a:r>
            <a:endParaRPr lang="en-US" sz="1250" dirty="0"/>
          </a:p>
          <a:p>
            <a:pPr indent="0" marL="0">
              <a:lnSpc>
                <a:spcPts val="1600"/>
              </a:lnSpc>
              <a:buNone/>
            </a:pPr>
            <a:r>
              <a:rPr lang="en-US" sz="1250" dirty="0">
                <a:solidFill>
                  <a:srgbClr val="6B6459"/>
                </a:solidFill>
                <a:latin typeface="Calibri" pitchFamily="34" charset="0"/>
                <a:ea typeface="Calibri" pitchFamily="34" charset="-122"/>
                <a:cs typeface="Calibri" pitchFamily="34" charset="-120"/>
              </a:rPr>
              <a:t>at a stated 80%</a:t>
            </a:r>
            <a:endParaRPr lang="en-US" sz="1250" dirty="0"/>
          </a:p>
        </p:txBody>
      </p:sp>
      <p:sp>
        <p:nvSpPr>
          <p:cNvPr id="7" name="Text 5"/>
          <p:cNvSpPr txBox="1"/>
          <p:nvPr/>
        </p:nvSpPr>
        <p:spPr>
          <a:xfrm>
            <a:off x="3657600" y="3474720"/>
            <a:ext cx="2971800" cy="868680"/>
          </a:xfrm>
          <a:prstGeom prst="rect">
            <a:avLst/>
          </a:prstGeom>
          <a:noFill/>
          <a:ln/>
        </p:spPr>
        <p:txBody>
          <a:bodyPr wrap="square" lIns="0" tIns="0" rIns="0" bIns="0" rtlCol="0" anchor="ctr"/>
          <a:lstStyle/>
          <a:p>
            <a:pPr indent="0" marL="0">
              <a:buNone/>
            </a:pPr>
            <a:r>
              <a:rPr lang="en-US" sz="4400" b="1" dirty="0">
                <a:solidFill>
                  <a:srgbClr val="1F5D42"/>
                </a:solidFill>
                <a:latin typeface="Courier New" pitchFamily="34" charset="0"/>
                <a:ea typeface="Courier New" pitchFamily="34" charset="-122"/>
                <a:cs typeface="Courier New" pitchFamily="34" charset="-120"/>
              </a:rPr>
              <a:t>82.0%</a:t>
            </a:r>
            <a:endParaRPr lang="en-US" sz="4400" dirty="0"/>
          </a:p>
        </p:txBody>
      </p:sp>
      <p:sp>
        <p:nvSpPr>
          <p:cNvPr id="8" name="Text 6"/>
          <p:cNvSpPr txBox="1"/>
          <p:nvPr/>
        </p:nvSpPr>
        <p:spPr>
          <a:xfrm>
            <a:off x="3657600" y="4343400"/>
            <a:ext cx="2971800" cy="822960"/>
          </a:xfrm>
          <a:prstGeom prst="rect">
            <a:avLst/>
          </a:prstGeom>
          <a:noFill/>
          <a:ln/>
        </p:spPr>
        <p:txBody>
          <a:bodyPr wrap="square" lIns="0" tIns="0" rIns="0" bIns="0" rtlCol="0" anchor="ctr"/>
          <a:lstStyle/>
          <a:p>
            <a:pPr indent="0" marL="0">
              <a:lnSpc>
                <a:spcPts val="1600"/>
              </a:lnSpc>
              <a:buNone/>
            </a:pPr>
            <a:r>
              <a:rPr lang="en-US" sz="1250" dirty="0">
                <a:solidFill>
                  <a:srgbClr val="6B6459"/>
                </a:solidFill>
                <a:latin typeface="Calibri" pitchFamily="34" charset="0"/>
                <a:ea typeface="Calibri" pitchFamily="34" charset="-122"/>
                <a:cs typeface="Calibri" pitchFamily="34" charset="-120"/>
              </a:rPr>
              <a:t>after conformal correction —</a:t>
            </a:r>
            <a:endParaRPr lang="en-US" sz="1250" dirty="0"/>
          </a:p>
          <a:p>
            <a:pPr indent="0" marL="0">
              <a:lnSpc>
                <a:spcPts val="1600"/>
              </a:lnSpc>
              <a:buNone/>
            </a:pPr>
            <a:r>
              <a:rPr lang="en-US" sz="1250" dirty="0">
                <a:solidFill>
                  <a:srgbClr val="6B6459"/>
                </a:solidFill>
                <a:latin typeface="Calibri" pitchFamily="34" charset="0"/>
                <a:ea typeface="Calibri" pitchFamily="34" charset="-122"/>
                <a:cs typeface="Calibri" pitchFamily="34" charset="-120"/>
              </a:rPr>
              <a:t>distribution-free, assuming nothing</a:t>
            </a:r>
            <a:endParaRPr lang="en-US" sz="1250" dirty="0"/>
          </a:p>
          <a:p>
            <a:pPr indent="0" marL="0">
              <a:lnSpc>
                <a:spcPts val="1600"/>
              </a:lnSpc>
              <a:buNone/>
            </a:pPr>
            <a:r>
              <a:rPr lang="en-US" sz="1250" dirty="0">
                <a:solidFill>
                  <a:srgbClr val="6B6459"/>
                </a:solidFill>
                <a:latin typeface="Calibri" pitchFamily="34" charset="0"/>
                <a:ea typeface="Calibri" pitchFamily="34" charset="-122"/>
                <a:cs typeface="Calibri" pitchFamily="34" charset="-120"/>
              </a:rPr>
              <a:t>about the shape of the residuals</a:t>
            </a:r>
            <a:endParaRPr lang="en-US" sz="1250" dirty="0"/>
          </a:p>
        </p:txBody>
      </p:sp>
      <p:sp>
        <p:nvSpPr>
          <p:cNvPr id="9" name="Text 7"/>
          <p:cNvSpPr txBox="1"/>
          <p:nvPr/>
        </p:nvSpPr>
        <p:spPr>
          <a:xfrm>
            <a:off x="777240" y="5303520"/>
            <a:ext cx="5852160" cy="822960"/>
          </a:xfrm>
          <a:prstGeom prst="rect">
            <a:avLst/>
          </a:prstGeom>
          <a:noFill/>
          <a:ln/>
        </p:spPr>
        <p:txBody>
          <a:bodyPr wrap="square" lIns="0" tIns="0" rIns="0" bIns="0" rtlCol="0" anchor="ctr"/>
          <a:lstStyle/>
          <a:p>
            <a:pPr indent="0" marL="0">
              <a:lnSpc>
                <a:spcPts val="1700"/>
              </a:lnSpc>
              <a:buNone/>
            </a:pPr>
            <a:r>
              <a:rPr lang="en-US" sz="1200" i="1" dirty="0">
                <a:solidFill>
                  <a:srgbClr val="6B6459"/>
                </a:solidFill>
                <a:latin typeface="Calibri" pitchFamily="34" charset="0"/>
                <a:ea typeface="Calibri" pitchFamily="34" charset="-122"/>
                <a:cs typeface="Calibri" pitchFamily="34" charset="-120"/>
              </a:rPr>
              <a:t>Our own design document predicted the opposite direction — 75%, over-confident. The measurement contradicts it. The lesson is unchanged; the business story flips, and we say so out loud.</a:t>
            </a:r>
            <a:endParaRPr lang="en-US" sz="1200" dirty="0"/>
          </a:p>
        </p:txBody>
      </p:sp>
      <p:sp>
        <p:nvSpPr>
          <p:cNvPr id="10" name="Shape 8"/>
          <p:cNvSpPr/>
          <p:nvPr/>
        </p:nvSpPr>
        <p:spPr>
          <a:xfrm>
            <a:off x="6858000" y="1645920"/>
            <a:ext cx="4617720" cy="3886200"/>
          </a:xfrm>
          <a:prstGeom prst="rect">
            <a:avLst/>
          </a:prstGeom>
          <a:solidFill>
            <a:srgbClr val="EFEBE2"/>
          </a:solidFill>
          <a:ln w="15875">
            <a:solidFill>
              <a:srgbClr val="14110D"/>
            </a:solidFill>
            <a:prstDash val="solid"/>
          </a:ln>
        </p:spPr>
      </p:sp>
      <p:pic>
        <p:nvPicPr>
          <p:cNvPr id="11" name="Image 0" descr="C:\Users\ASUS\Desktop\CS\Projects\pharmapulse\deck\img\why_calibration.png">    </p:cNvPr>
          <p:cNvPicPr>
            <a:picLocks noChangeAspect="1"/>
          </p:cNvPicPr>
          <p:nvPr/>
        </p:nvPicPr>
        <p:blipFill>
          <a:blip r:embed="rId1"/>
          <a:stretch>
            <a:fillRect/>
          </a:stretch>
        </p:blipFill>
        <p:spPr>
          <a:xfrm>
            <a:off x="6903720" y="1691640"/>
            <a:ext cx="4526280" cy="3794760"/>
          </a:xfrm>
          <a:prstGeom prst="rect">
            <a:avLst/>
          </a:prstGeom>
        </p:spPr>
      </p:pic>
      <p:sp>
        <p:nvSpPr>
          <p:cNvPr id="12" name="Text 9"/>
          <p:cNvSpPr txBox="1"/>
          <p:nvPr/>
        </p:nvSpPr>
        <p:spPr>
          <a:xfrm>
            <a:off x="6903720" y="5715000"/>
            <a:ext cx="4526280" cy="274320"/>
          </a:xfrm>
          <a:prstGeom prst="rect">
            <a:avLst/>
          </a:prstGeom>
          <a:noFill/>
          <a:ln/>
        </p:spPr>
        <p:txBody>
          <a:bodyPr wrap="square" lIns="0" tIns="0" rIns="0" bIns="0" rtlCol="0" anchor="ctr"/>
          <a:lstStyle/>
          <a:p>
            <a:pPr indent="0" marL="0">
              <a:buNone/>
            </a:pPr>
            <a:r>
              <a:rPr lang="en-US" sz="950" spc="120" kern="0" dirty="0">
                <a:solidFill>
                  <a:srgbClr val="9A9287"/>
                </a:solidFill>
                <a:latin typeface="Courier New" pitchFamily="34" charset="0"/>
                <a:ea typeface="Courier New" pitchFamily="34" charset="-122"/>
                <a:cs typeface="Courier New" pitchFamily="34" charset="-120"/>
              </a:rPr>
              <a:t>the same diagram, inside the product's Why screen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RESULT 4 · WHAT IT IS ACTUALLY WORTH</a:t>
            </a:r>
            <a:endParaRPr lang="en-US" sz="1100" dirty="0"/>
          </a:p>
        </p:txBody>
      </p:sp>
      <p:sp>
        <p:nvSpPr>
          <p:cNvPr id="3" name="Text 1"/>
          <p:cNvSpPr txBox="1"/>
          <p:nvPr/>
        </p:nvSpPr>
        <p:spPr>
          <a:xfrm>
            <a:off x="777240" y="868680"/>
            <a:ext cx="10637215" cy="1143000"/>
          </a:xfrm>
          <a:prstGeom prst="rect">
            <a:avLst/>
          </a:prstGeom>
          <a:noFill/>
          <a:ln/>
        </p:spPr>
        <p:txBody>
          <a:bodyPr wrap="square" lIns="0" tIns="0" rIns="0" bIns="0" rtlCol="0" anchor="ctr"/>
          <a:lstStyle/>
          <a:p>
            <a:pPr indent="0" marL="0">
              <a:lnSpc>
                <a:spcPts val="3360"/>
              </a:lnSpc>
              <a:buNone/>
            </a:pPr>
            <a:r>
              <a:rPr lang="en-US" sz="3000" dirty="0">
                <a:solidFill>
                  <a:srgbClr val="14110D"/>
                </a:solidFill>
                <a:latin typeface="Cambria" pitchFamily="34" charset="0"/>
                <a:ea typeface="Cambria" pitchFamily="34" charset="-122"/>
                <a:cs typeface="Cambria" pitchFamily="34" charset="-120"/>
              </a:rPr>
              <a:t>Against four policies, including the two</a:t>
            </a:r>
            <a:endParaRPr lang="en-US" sz="3000" dirty="0"/>
          </a:p>
          <a:p>
            <a:pPr indent="0" marL="0">
              <a:lnSpc>
                <a:spcPts val="3360"/>
              </a:lnSpc>
              <a:buNone/>
            </a:pPr>
            <a:r>
              <a:rPr lang="en-US" sz="3000" dirty="0">
                <a:solidFill>
                  <a:srgbClr val="14110D"/>
                </a:solidFill>
                <a:latin typeface="Cambria" pitchFamily="34" charset="0"/>
                <a:ea typeface="Cambria" pitchFamily="34" charset="-122"/>
                <a:cs typeface="Cambria" pitchFamily="34" charset="-120"/>
              </a:rPr>
              <a:t>that are hard to beat.</a:t>
            </a:r>
            <a:endParaRPr lang="en-US" sz="3000" dirty="0"/>
          </a:p>
        </p:txBody>
      </p:sp>
      <p:sp>
        <p:nvSpPr>
          <p:cNvPr id="4" name="Text 2"/>
          <p:cNvSpPr txBox="1"/>
          <p:nvPr/>
        </p:nvSpPr>
        <p:spPr>
          <a:xfrm>
            <a:off x="777240" y="2084832"/>
            <a:ext cx="10637215" cy="640080"/>
          </a:xfrm>
          <a:prstGeom prst="rect">
            <a:avLst/>
          </a:prstGeom>
          <a:noFill/>
          <a:ln/>
        </p:spPr>
        <p:txBody>
          <a:bodyPr wrap="square" lIns="0" tIns="0" rIns="0" bIns="0" rtlCol="0" anchor="ctr"/>
          <a:lstStyle/>
          <a:p>
            <a:pPr indent="0" marL="0">
              <a:lnSpc>
                <a:spcPts val="1700"/>
              </a:lnSpc>
              <a:buNone/>
            </a:pPr>
            <a:r>
              <a:rPr lang="en-US" sz="1250" dirty="0">
                <a:solidFill>
                  <a:srgbClr val="3B362F"/>
                </a:solidFill>
                <a:latin typeface="Calibri" pitchFamily="34" charset="0"/>
                <a:ea typeface="Calibri" pitchFamily="34" charset="-122"/>
                <a:cs typeface="Calibri" pitchFamily="34" charset="-120"/>
              </a:rPr>
              <a:t>Every policy sizes off the same trailing window of real sales, so the only thing being compared is how the quantity is chosen. The rung that carries the claim is the third one: it gets our forecast and our service level, and differs in exactly one thing — it sizes with a normal approximation instead of reading the quantile off the calibrated distribution.</a:t>
            </a:r>
            <a:endParaRPr lang="en-US" sz="1250" dirty="0"/>
          </a:p>
        </p:txBody>
      </p:sp>
      <p:sp>
        <p:nvSpPr>
          <p:cNvPr id="5" name="Shape 3"/>
          <p:cNvSpPr/>
          <p:nvPr/>
        </p:nvSpPr>
        <p:spPr>
          <a:xfrm>
            <a:off x="777240" y="2880360"/>
            <a:ext cx="3362858" cy="2286000"/>
          </a:xfrm>
          <a:prstGeom prst="rect">
            <a:avLst/>
          </a:prstGeom>
          <a:solidFill>
            <a:srgbClr val="FCFAF6"/>
          </a:solidFill>
          <a:ln w="12700">
            <a:solidFill>
              <a:srgbClr val="E4DFD5"/>
            </a:solidFill>
            <a:prstDash val="solid"/>
          </a:ln>
        </p:spPr>
      </p:sp>
      <p:sp>
        <p:nvSpPr>
          <p:cNvPr id="6" name="Text 4"/>
          <p:cNvSpPr txBox="1"/>
          <p:nvPr/>
        </p:nvSpPr>
        <p:spPr>
          <a:xfrm>
            <a:off x="1005840" y="3035808"/>
            <a:ext cx="2905658" cy="292608"/>
          </a:xfrm>
          <a:prstGeom prst="rect">
            <a:avLst/>
          </a:prstGeom>
          <a:noFill/>
          <a:ln/>
        </p:spPr>
        <p:txBody>
          <a:bodyPr wrap="square" lIns="0" tIns="0" rIns="0" bIns="0" rtlCol="0" anchor="ctr"/>
          <a:lstStyle/>
          <a:p>
            <a:pPr indent="0" marL="0">
              <a:buNone/>
            </a:pPr>
            <a:r>
              <a:rPr lang="en-US" sz="1350" b="1" dirty="0">
                <a:solidFill>
                  <a:srgbClr val="14110D"/>
                </a:solidFill>
                <a:latin typeface="Calibri" pitchFamily="34" charset="0"/>
                <a:ea typeface="Calibri" pitchFamily="34" charset="-122"/>
                <a:cs typeface="Calibri" pitchFamily="34" charset="-120"/>
              </a:rPr>
              <a:t>Min/max on the mean</a:t>
            </a:r>
            <a:endParaRPr lang="en-US" sz="1350" dirty="0"/>
          </a:p>
        </p:txBody>
      </p:sp>
      <p:sp>
        <p:nvSpPr>
          <p:cNvPr id="7" name="Text 5"/>
          <p:cNvSpPr txBox="1"/>
          <p:nvPr/>
        </p:nvSpPr>
        <p:spPr>
          <a:xfrm>
            <a:off x="1005840" y="3319272"/>
            <a:ext cx="2905658" cy="237744"/>
          </a:xfrm>
          <a:prstGeom prst="rect">
            <a:avLst/>
          </a:prstGeom>
          <a:noFill/>
          <a:ln/>
        </p:spPr>
        <p:txBody>
          <a:bodyPr wrap="square" lIns="0" tIns="0" rIns="0" bIns="0" rtlCol="0" anchor="ctr"/>
          <a:lstStyle/>
          <a:p>
            <a:pPr indent="0" marL="0">
              <a:buNone/>
            </a:pPr>
            <a:r>
              <a:rPr lang="en-US" sz="950" dirty="0">
                <a:solidFill>
                  <a:srgbClr val="9A9287"/>
                </a:solidFill>
                <a:latin typeface="Courier New" pitchFamily="34" charset="0"/>
                <a:ea typeface="Courier New" pitchFamily="34" charset="-122"/>
                <a:cs typeface="Courier New" pitchFamily="34" charset="-120"/>
              </a:rPr>
              <a:t>no system at all</a:t>
            </a:r>
            <a:endParaRPr lang="en-US" sz="950" dirty="0"/>
          </a:p>
        </p:txBody>
      </p:sp>
      <p:sp>
        <p:nvSpPr>
          <p:cNvPr id="8" name="Text 6"/>
          <p:cNvSpPr txBox="1"/>
          <p:nvPr/>
        </p:nvSpPr>
        <p:spPr>
          <a:xfrm>
            <a:off x="1005840" y="3657600"/>
            <a:ext cx="1554480" cy="274320"/>
          </a:xfrm>
          <a:prstGeom prst="rect">
            <a:avLst/>
          </a:prstGeom>
          <a:noFill/>
          <a:ln/>
        </p:spPr>
        <p:txBody>
          <a:bodyPr wrap="square" lIns="0" tIns="0" rIns="0" bIns="0" rtlCol="0" anchor="ctr"/>
          <a:lstStyle/>
          <a:p>
            <a:pPr indent="0" marL="0">
              <a:buNone/>
            </a:pPr>
            <a:r>
              <a:rPr lang="en-US" sz="1100" dirty="0">
                <a:solidFill>
                  <a:srgbClr val="6B6459"/>
                </a:solidFill>
                <a:latin typeface="Calibri" pitchFamily="34" charset="0"/>
                <a:ea typeface="Calibri" pitchFamily="34" charset="-122"/>
                <a:cs typeface="Calibri" pitchFamily="34" charset="-120"/>
              </a:rPr>
              <a:t>Jan–Mar 19</a:t>
            </a:r>
            <a:endParaRPr lang="en-US" sz="1100" dirty="0"/>
          </a:p>
        </p:txBody>
      </p:sp>
      <p:sp>
        <p:nvSpPr>
          <p:cNvPr id="9" name="Text 7"/>
          <p:cNvSpPr txBox="1"/>
          <p:nvPr/>
        </p:nvSpPr>
        <p:spPr>
          <a:xfrm>
            <a:off x="2560320" y="3657600"/>
            <a:ext cx="1188720" cy="274320"/>
          </a:xfrm>
          <a:prstGeom prst="rect">
            <a:avLst/>
          </a:prstGeom>
          <a:noFill/>
          <a:ln/>
        </p:spPr>
        <p:txBody>
          <a:bodyPr wrap="square" lIns="0" tIns="0" rIns="0" bIns="0" rtlCol="0" anchor="ctr"/>
          <a:lstStyle/>
          <a:p>
            <a:pPr algn="r" indent="0" marL="0">
              <a:buNone/>
            </a:pPr>
            <a:r>
              <a:rPr lang="en-US" sz="1300" b="1" dirty="0">
                <a:solidFill>
                  <a:srgbClr val="1F5D42"/>
                </a:solidFill>
                <a:latin typeface="Courier New" pitchFamily="34" charset="0"/>
                <a:ea typeface="Courier New" pitchFamily="34" charset="-122"/>
                <a:cs typeface="Courier New" pitchFamily="34" charset="-120"/>
              </a:rPr>
              <a:t>+6.0%</a:t>
            </a:r>
            <a:endParaRPr lang="en-US" sz="1300" dirty="0"/>
          </a:p>
        </p:txBody>
      </p:sp>
      <p:sp>
        <p:nvSpPr>
          <p:cNvPr id="10" name="Text 8"/>
          <p:cNvSpPr txBox="1"/>
          <p:nvPr/>
        </p:nvSpPr>
        <p:spPr>
          <a:xfrm>
            <a:off x="1005840" y="4114800"/>
            <a:ext cx="1554480" cy="274320"/>
          </a:xfrm>
          <a:prstGeom prst="rect">
            <a:avLst/>
          </a:prstGeom>
          <a:noFill/>
          <a:ln/>
        </p:spPr>
        <p:txBody>
          <a:bodyPr wrap="square" lIns="0" tIns="0" rIns="0" bIns="0" rtlCol="0" anchor="ctr"/>
          <a:lstStyle/>
          <a:p>
            <a:pPr indent="0" marL="0">
              <a:buNone/>
            </a:pPr>
            <a:r>
              <a:rPr lang="en-US" sz="1100" dirty="0">
                <a:solidFill>
                  <a:srgbClr val="6B6459"/>
                </a:solidFill>
                <a:latin typeface="Calibri" pitchFamily="34" charset="0"/>
                <a:ea typeface="Calibri" pitchFamily="34" charset="-122"/>
                <a:cs typeface="Calibri" pitchFamily="34" charset="-120"/>
              </a:rPr>
              <a:t>Apr–Jun 19</a:t>
            </a:r>
            <a:endParaRPr lang="en-US" sz="1100" dirty="0"/>
          </a:p>
        </p:txBody>
      </p:sp>
      <p:sp>
        <p:nvSpPr>
          <p:cNvPr id="11" name="Text 9"/>
          <p:cNvSpPr txBox="1"/>
          <p:nvPr/>
        </p:nvSpPr>
        <p:spPr>
          <a:xfrm>
            <a:off x="2560320" y="4114800"/>
            <a:ext cx="1188720" cy="274320"/>
          </a:xfrm>
          <a:prstGeom prst="rect">
            <a:avLst/>
          </a:prstGeom>
          <a:noFill/>
          <a:ln/>
        </p:spPr>
        <p:txBody>
          <a:bodyPr wrap="square" lIns="0" tIns="0" rIns="0" bIns="0" rtlCol="0" anchor="ctr"/>
          <a:lstStyle/>
          <a:p>
            <a:pPr algn="r" indent="0" marL="0">
              <a:buNone/>
            </a:pPr>
            <a:r>
              <a:rPr lang="en-US" sz="1300" b="1" dirty="0">
                <a:solidFill>
                  <a:srgbClr val="1F5D42"/>
                </a:solidFill>
                <a:latin typeface="Courier New" pitchFamily="34" charset="0"/>
                <a:ea typeface="Courier New" pitchFamily="34" charset="-122"/>
                <a:cs typeface="Courier New" pitchFamily="34" charset="-120"/>
              </a:rPr>
              <a:t>+48.8%</a:t>
            </a:r>
            <a:endParaRPr lang="en-US" sz="1300" dirty="0"/>
          </a:p>
        </p:txBody>
      </p:sp>
      <p:sp>
        <p:nvSpPr>
          <p:cNvPr id="12" name="Text 10"/>
          <p:cNvSpPr txBox="1"/>
          <p:nvPr/>
        </p:nvSpPr>
        <p:spPr>
          <a:xfrm>
            <a:off x="1005840" y="4572000"/>
            <a:ext cx="1554480" cy="274320"/>
          </a:xfrm>
          <a:prstGeom prst="rect">
            <a:avLst/>
          </a:prstGeom>
          <a:noFill/>
          <a:ln/>
        </p:spPr>
        <p:txBody>
          <a:bodyPr wrap="square" lIns="0" tIns="0" rIns="0" bIns="0" rtlCol="0" anchor="ctr"/>
          <a:lstStyle/>
          <a:p>
            <a:pPr indent="0" marL="0">
              <a:buNone/>
            </a:pPr>
            <a:r>
              <a:rPr lang="en-US" sz="1100" dirty="0">
                <a:solidFill>
                  <a:srgbClr val="6B6459"/>
                </a:solidFill>
                <a:latin typeface="Calibri" pitchFamily="34" charset="0"/>
                <a:ea typeface="Calibri" pitchFamily="34" charset="-122"/>
                <a:cs typeface="Calibri" pitchFamily="34" charset="-120"/>
              </a:rPr>
              <a:t>Oct–Dec 18</a:t>
            </a:r>
            <a:endParaRPr lang="en-US" sz="1100" dirty="0"/>
          </a:p>
        </p:txBody>
      </p:sp>
      <p:sp>
        <p:nvSpPr>
          <p:cNvPr id="13" name="Text 11"/>
          <p:cNvSpPr txBox="1"/>
          <p:nvPr/>
        </p:nvSpPr>
        <p:spPr>
          <a:xfrm>
            <a:off x="2560320" y="4572000"/>
            <a:ext cx="1188720" cy="274320"/>
          </a:xfrm>
          <a:prstGeom prst="rect">
            <a:avLst/>
          </a:prstGeom>
          <a:noFill/>
          <a:ln/>
        </p:spPr>
        <p:txBody>
          <a:bodyPr wrap="square" lIns="0" tIns="0" rIns="0" bIns="0" rtlCol="0" anchor="ctr"/>
          <a:lstStyle/>
          <a:p>
            <a:pPr algn="r" indent="0" marL="0">
              <a:buNone/>
            </a:pPr>
            <a:r>
              <a:rPr lang="en-US" sz="1300" b="1" dirty="0">
                <a:solidFill>
                  <a:srgbClr val="1F5D42"/>
                </a:solidFill>
                <a:latin typeface="Courier New" pitchFamily="34" charset="0"/>
                <a:ea typeface="Courier New" pitchFamily="34" charset="-122"/>
                <a:cs typeface="Courier New" pitchFamily="34" charset="-120"/>
              </a:rPr>
              <a:t>+61.1%</a:t>
            </a:r>
            <a:endParaRPr lang="en-US" sz="1300" dirty="0"/>
          </a:p>
        </p:txBody>
      </p:sp>
      <p:sp>
        <p:nvSpPr>
          <p:cNvPr id="14" name="Text 12"/>
          <p:cNvSpPr txBox="1"/>
          <p:nvPr/>
        </p:nvSpPr>
        <p:spPr>
          <a:xfrm>
            <a:off x="1005840" y="4828032"/>
            <a:ext cx="2905658" cy="237744"/>
          </a:xfrm>
          <a:prstGeom prst="rect">
            <a:avLst/>
          </a:prstGeom>
          <a:noFill/>
          <a:ln/>
        </p:spPr>
        <p:txBody>
          <a:bodyPr wrap="square" lIns="0" tIns="0" rIns="0" bIns="0" rtlCol="0" anchor="ctr"/>
          <a:lstStyle/>
          <a:p>
            <a:pPr indent="0" marL="0">
              <a:buNone/>
            </a:pPr>
            <a:r>
              <a:rPr lang="en-US" sz="1050" i="1" dirty="0">
                <a:solidFill>
                  <a:srgbClr val="1F5D42"/>
                </a:solidFill>
                <a:latin typeface="Calibri" pitchFamily="34" charset="0"/>
                <a:ea typeface="Calibri" pitchFamily="34" charset="-122"/>
                <a:cs typeface="Calibri" pitchFamily="34" charset="-120"/>
              </a:rPr>
              <a:t>we win all three</a:t>
            </a:r>
            <a:endParaRPr lang="en-US" sz="1050" dirty="0"/>
          </a:p>
        </p:txBody>
      </p:sp>
      <p:sp>
        <p:nvSpPr>
          <p:cNvPr id="15" name="Shape 13"/>
          <p:cNvSpPr/>
          <p:nvPr/>
        </p:nvSpPr>
        <p:spPr>
          <a:xfrm>
            <a:off x="4414418" y="2880360"/>
            <a:ext cx="3362858" cy="2286000"/>
          </a:xfrm>
          <a:prstGeom prst="rect">
            <a:avLst/>
          </a:prstGeom>
          <a:solidFill>
            <a:srgbClr val="FCFAF6"/>
          </a:solidFill>
          <a:ln w="12700">
            <a:solidFill>
              <a:srgbClr val="E4DFD5"/>
            </a:solidFill>
            <a:prstDash val="solid"/>
          </a:ln>
        </p:spPr>
      </p:sp>
      <p:sp>
        <p:nvSpPr>
          <p:cNvPr id="16" name="Text 14"/>
          <p:cNvSpPr txBox="1"/>
          <p:nvPr/>
        </p:nvSpPr>
        <p:spPr>
          <a:xfrm>
            <a:off x="4643018" y="3035808"/>
            <a:ext cx="2905658" cy="292608"/>
          </a:xfrm>
          <a:prstGeom prst="rect">
            <a:avLst/>
          </a:prstGeom>
          <a:noFill/>
          <a:ln/>
        </p:spPr>
        <p:txBody>
          <a:bodyPr wrap="square" lIns="0" tIns="0" rIns="0" bIns="0" rtlCol="0" anchor="ctr"/>
          <a:lstStyle/>
          <a:p>
            <a:pPr indent="0" marL="0">
              <a:buNone/>
            </a:pPr>
            <a:r>
              <a:rPr lang="en-US" sz="1350" b="1" dirty="0">
                <a:solidFill>
                  <a:srgbClr val="14110D"/>
                </a:solidFill>
                <a:latin typeface="Calibri" pitchFamily="34" charset="0"/>
                <a:ea typeface="Calibri" pitchFamily="34" charset="-122"/>
                <a:cs typeface="Calibri" pitchFamily="34" charset="-120"/>
              </a:rPr>
              <a:t>(s, S) safety stock</a:t>
            </a:r>
            <a:endParaRPr lang="en-US" sz="1350" dirty="0"/>
          </a:p>
        </p:txBody>
      </p:sp>
      <p:sp>
        <p:nvSpPr>
          <p:cNvPr id="17" name="Text 15"/>
          <p:cNvSpPr txBox="1"/>
          <p:nvPr/>
        </p:nvSpPr>
        <p:spPr>
          <a:xfrm>
            <a:off x="4643018" y="3319272"/>
            <a:ext cx="2905658" cy="237744"/>
          </a:xfrm>
          <a:prstGeom prst="rect">
            <a:avLst/>
          </a:prstGeom>
          <a:noFill/>
          <a:ln/>
        </p:spPr>
        <p:txBody>
          <a:bodyPr wrap="square" lIns="0" tIns="0" rIns="0" bIns="0" rtlCol="0" anchor="ctr"/>
          <a:lstStyle/>
          <a:p>
            <a:pPr indent="0" marL="0">
              <a:buNone/>
            </a:pPr>
            <a:r>
              <a:rPr lang="en-US" sz="950" dirty="0">
                <a:solidFill>
                  <a:srgbClr val="9A9287"/>
                </a:solidFill>
                <a:latin typeface="Courier New" pitchFamily="34" charset="0"/>
                <a:ea typeface="Courier New" pitchFamily="34" charset="-122"/>
                <a:cs typeface="Courier New" pitchFamily="34" charset="-120"/>
              </a:rPr>
              <a:t>what an ERP does</a:t>
            </a:r>
            <a:endParaRPr lang="en-US" sz="950" dirty="0"/>
          </a:p>
        </p:txBody>
      </p:sp>
      <p:sp>
        <p:nvSpPr>
          <p:cNvPr id="18" name="Text 16"/>
          <p:cNvSpPr txBox="1"/>
          <p:nvPr/>
        </p:nvSpPr>
        <p:spPr>
          <a:xfrm>
            <a:off x="4643018" y="3657600"/>
            <a:ext cx="1554480" cy="274320"/>
          </a:xfrm>
          <a:prstGeom prst="rect">
            <a:avLst/>
          </a:prstGeom>
          <a:noFill/>
          <a:ln/>
        </p:spPr>
        <p:txBody>
          <a:bodyPr wrap="square" lIns="0" tIns="0" rIns="0" bIns="0" rtlCol="0" anchor="ctr"/>
          <a:lstStyle/>
          <a:p>
            <a:pPr indent="0" marL="0">
              <a:buNone/>
            </a:pPr>
            <a:r>
              <a:rPr lang="en-US" sz="1100" dirty="0">
                <a:solidFill>
                  <a:srgbClr val="6B6459"/>
                </a:solidFill>
                <a:latin typeface="Calibri" pitchFamily="34" charset="0"/>
                <a:ea typeface="Calibri" pitchFamily="34" charset="-122"/>
                <a:cs typeface="Calibri" pitchFamily="34" charset="-120"/>
              </a:rPr>
              <a:t>Jan–Mar 19</a:t>
            </a:r>
            <a:endParaRPr lang="en-US" sz="1100" dirty="0"/>
          </a:p>
        </p:txBody>
      </p:sp>
      <p:sp>
        <p:nvSpPr>
          <p:cNvPr id="19" name="Text 17"/>
          <p:cNvSpPr txBox="1"/>
          <p:nvPr/>
        </p:nvSpPr>
        <p:spPr>
          <a:xfrm>
            <a:off x="6197498" y="3657600"/>
            <a:ext cx="1188720" cy="274320"/>
          </a:xfrm>
          <a:prstGeom prst="rect">
            <a:avLst/>
          </a:prstGeom>
          <a:noFill/>
          <a:ln/>
        </p:spPr>
        <p:txBody>
          <a:bodyPr wrap="square" lIns="0" tIns="0" rIns="0" bIns="0" rtlCol="0" anchor="ctr"/>
          <a:lstStyle/>
          <a:p>
            <a:pPr algn="r" indent="0" marL="0">
              <a:buNone/>
            </a:pPr>
            <a:r>
              <a:rPr lang="en-US" sz="1300" b="1" dirty="0">
                <a:solidFill>
                  <a:srgbClr val="8A6410"/>
                </a:solidFill>
                <a:latin typeface="Courier New" pitchFamily="34" charset="0"/>
                <a:ea typeface="Courier New" pitchFamily="34" charset="-122"/>
                <a:cs typeface="Courier New" pitchFamily="34" charset="-120"/>
              </a:rPr>
              <a:t>-2.9%</a:t>
            </a:r>
            <a:endParaRPr lang="en-US" sz="1300" dirty="0"/>
          </a:p>
        </p:txBody>
      </p:sp>
      <p:sp>
        <p:nvSpPr>
          <p:cNvPr id="20" name="Text 18"/>
          <p:cNvSpPr txBox="1"/>
          <p:nvPr/>
        </p:nvSpPr>
        <p:spPr>
          <a:xfrm>
            <a:off x="4643018" y="4114800"/>
            <a:ext cx="1554480" cy="274320"/>
          </a:xfrm>
          <a:prstGeom prst="rect">
            <a:avLst/>
          </a:prstGeom>
          <a:noFill/>
          <a:ln/>
        </p:spPr>
        <p:txBody>
          <a:bodyPr wrap="square" lIns="0" tIns="0" rIns="0" bIns="0" rtlCol="0" anchor="ctr"/>
          <a:lstStyle/>
          <a:p>
            <a:pPr indent="0" marL="0">
              <a:buNone/>
            </a:pPr>
            <a:r>
              <a:rPr lang="en-US" sz="1100" dirty="0">
                <a:solidFill>
                  <a:srgbClr val="6B6459"/>
                </a:solidFill>
                <a:latin typeface="Calibri" pitchFamily="34" charset="0"/>
                <a:ea typeface="Calibri" pitchFamily="34" charset="-122"/>
                <a:cs typeface="Calibri" pitchFamily="34" charset="-120"/>
              </a:rPr>
              <a:t>Apr–Jun 19</a:t>
            </a:r>
            <a:endParaRPr lang="en-US" sz="1100" dirty="0"/>
          </a:p>
        </p:txBody>
      </p:sp>
      <p:sp>
        <p:nvSpPr>
          <p:cNvPr id="21" name="Text 19"/>
          <p:cNvSpPr txBox="1"/>
          <p:nvPr/>
        </p:nvSpPr>
        <p:spPr>
          <a:xfrm>
            <a:off x="6197498" y="4114800"/>
            <a:ext cx="1188720" cy="274320"/>
          </a:xfrm>
          <a:prstGeom prst="rect">
            <a:avLst/>
          </a:prstGeom>
          <a:noFill/>
          <a:ln/>
        </p:spPr>
        <p:txBody>
          <a:bodyPr wrap="square" lIns="0" tIns="0" rIns="0" bIns="0" rtlCol="0" anchor="ctr"/>
          <a:lstStyle/>
          <a:p>
            <a:pPr algn="r" indent="0" marL="0">
              <a:buNone/>
            </a:pPr>
            <a:r>
              <a:rPr lang="en-US" sz="1300" b="1" dirty="0">
                <a:solidFill>
                  <a:srgbClr val="1F5D42"/>
                </a:solidFill>
                <a:latin typeface="Courier New" pitchFamily="34" charset="0"/>
                <a:ea typeface="Courier New" pitchFamily="34" charset="-122"/>
                <a:cs typeface="Courier New" pitchFamily="34" charset="-120"/>
              </a:rPr>
              <a:t>+23.1%</a:t>
            </a:r>
            <a:endParaRPr lang="en-US" sz="1300" dirty="0"/>
          </a:p>
        </p:txBody>
      </p:sp>
      <p:sp>
        <p:nvSpPr>
          <p:cNvPr id="22" name="Text 20"/>
          <p:cNvSpPr txBox="1"/>
          <p:nvPr/>
        </p:nvSpPr>
        <p:spPr>
          <a:xfrm>
            <a:off x="4643018" y="4572000"/>
            <a:ext cx="1554480" cy="274320"/>
          </a:xfrm>
          <a:prstGeom prst="rect">
            <a:avLst/>
          </a:prstGeom>
          <a:noFill/>
          <a:ln/>
        </p:spPr>
        <p:txBody>
          <a:bodyPr wrap="square" lIns="0" tIns="0" rIns="0" bIns="0" rtlCol="0" anchor="ctr"/>
          <a:lstStyle/>
          <a:p>
            <a:pPr indent="0" marL="0">
              <a:buNone/>
            </a:pPr>
            <a:r>
              <a:rPr lang="en-US" sz="1100" dirty="0">
                <a:solidFill>
                  <a:srgbClr val="6B6459"/>
                </a:solidFill>
                <a:latin typeface="Calibri" pitchFamily="34" charset="0"/>
                <a:ea typeface="Calibri" pitchFamily="34" charset="-122"/>
                <a:cs typeface="Calibri" pitchFamily="34" charset="-120"/>
              </a:rPr>
              <a:t>Oct–Dec 18</a:t>
            </a:r>
            <a:endParaRPr lang="en-US" sz="1100" dirty="0"/>
          </a:p>
        </p:txBody>
      </p:sp>
      <p:sp>
        <p:nvSpPr>
          <p:cNvPr id="23" name="Text 21"/>
          <p:cNvSpPr txBox="1"/>
          <p:nvPr/>
        </p:nvSpPr>
        <p:spPr>
          <a:xfrm>
            <a:off x="6197498" y="4572000"/>
            <a:ext cx="1188720" cy="274320"/>
          </a:xfrm>
          <a:prstGeom prst="rect">
            <a:avLst/>
          </a:prstGeom>
          <a:noFill/>
          <a:ln/>
        </p:spPr>
        <p:txBody>
          <a:bodyPr wrap="square" lIns="0" tIns="0" rIns="0" bIns="0" rtlCol="0" anchor="ctr"/>
          <a:lstStyle/>
          <a:p>
            <a:pPr algn="r" indent="0" marL="0">
              <a:buNone/>
            </a:pPr>
            <a:r>
              <a:rPr lang="en-US" sz="1300" b="1" dirty="0">
                <a:solidFill>
                  <a:srgbClr val="8A6410"/>
                </a:solidFill>
                <a:latin typeface="Courier New" pitchFamily="34" charset="0"/>
                <a:ea typeface="Courier New" pitchFamily="34" charset="-122"/>
                <a:cs typeface="Courier New" pitchFamily="34" charset="-120"/>
              </a:rPr>
              <a:t>-1.8%</a:t>
            </a:r>
            <a:endParaRPr lang="en-US" sz="1300" dirty="0"/>
          </a:p>
        </p:txBody>
      </p:sp>
      <p:sp>
        <p:nvSpPr>
          <p:cNvPr id="24" name="Text 22"/>
          <p:cNvSpPr txBox="1"/>
          <p:nvPr/>
        </p:nvSpPr>
        <p:spPr>
          <a:xfrm>
            <a:off x="4643018" y="4828032"/>
            <a:ext cx="2905658" cy="237744"/>
          </a:xfrm>
          <a:prstGeom prst="rect">
            <a:avLst/>
          </a:prstGeom>
          <a:noFill/>
          <a:ln/>
        </p:spPr>
        <p:txBody>
          <a:bodyPr wrap="square" lIns="0" tIns="0" rIns="0" bIns="0" rtlCol="0" anchor="ctr"/>
          <a:lstStyle/>
          <a:p>
            <a:pPr indent="0" marL="0">
              <a:buNone/>
            </a:pPr>
            <a:r>
              <a:rPr lang="en-US" sz="1050" i="1" dirty="0">
                <a:solidFill>
                  <a:srgbClr val="8A6410"/>
                </a:solidFill>
                <a:latin typeface="Calibri" pitchFamily="34" charset="0"/>
                <a:ea typeface="Calibri" pitchFamily="34" charset="-122"/>
                <a:cs typeface="Calibri" pitchFamily="34" charset="-120"/>
              </a:rPr>
              <a:t>we lose two of three</a:t>
            </a:r>
            <a:endParaRPr lang="en-US" sz="1050" dirty="0"/>
          </a:p>
        </p:txBody>
      </p:sp>
      <p:sp>
        <p:nvSpPr>
          <p:cNvPr id="25" name="Shape 23"/>
          <p:cNvSpPr/>
          <p:nvPr/>
        </p:nvSpPr>
        <p:spPr>
          <a:xfrm>
            <a:off x="8051597" y="2880360"/>
            <a:ext cx="3362858" cy="2286000"/>
          </a:xfrm>
          <a:prstGeom prst="rect">
            <a:avLst/>
          </a:prstGeom>
          <a:solidFill>
            <a:srgbClr val="EFEBE2"/>
          </a:solidFill>
          <a:ln w="12700">
            <a:solidFill>
              <a:srgbClr val="14110D"/>
            </a:solidFill>
            <a:prstDash val="solid"/>
          </a:ln>
        </p:spPr>
      </p:sp>
      <p:sp>
        <p:nvSpPr>
          <p:cNvPr id="26" name="Text 24"/>
          <p:cNvSpPr txBox="1"/>
          <p:nvPr/>
        </p:nvSpPr>
        <p:spPr>
          <a:xfrm>
            <a:off x="8280197" y="3035808"/>
            <a:ext cx="2905658" cy="292608"/>
          </a:xfrm>
          <a:prstGeom prst="rect">
            <a:avLst/>
          </a:prstGeom>
          <a:noFill/>
          <a:ln/>
        </p:spPr>
        <p:txBody>
          <a:bodyPr wrap="square" lIns="0" tIns="0" rIns="0" bIns="0" rtlCol="0" anchor="ctr"/>
          <a:lstStyle/>
          <a:p>
            <a:pPr indent="0" marL="0">
              <a:buNone/>
            </a:pPr>
            <a:r>
              <a:rPr lang="en-US" sz="1350" b="1" dirty="0">
                <a:solidFill>
                  <a:srgbClr val="14110D"/>
                </a:solidFill>
                <a:latin typeface="Calibri" pitchFamily="34" charset="0"/>
                <a:ea typeface="Calibri" pitchFamily="34" charset="-122"/>
                <a:cs typeface="Calibri" pitchFamily="34" charset="-120"/>
              </a:rPr>
              <a:t>Our forecast, normal sizing</a:t>
            </a:r>
            <a:endParaRPr lang="en-US" sz="1350" dirty="0"/>
          </a:p>
        </p:txBody>
      </p:sp>
      <p:sp>
        <p:nvSpPr>
          <p:cNvPr id="27" name="Text 25"/>
          <p:cNvSpPr txBox="1"/>
          <p:nvPr/>
        </p:nvSpPr>
        <p:spPr>
          <a:xfrm>
            <a:off x="8280197" y="3319272"/>
            <a:ext cx="2905658" cy="237744"/>
          </a:xfrm>
          <a:prstGeom prst="rect">
            <a:avLst/>
          </a:prstGeom>
          <a:noFill/>
          <a:ln/>
        </p:spPr>
        <p:txBody>
          <a:bodyPr wrap="square" lIns="0" tIns="0" rIns="0" bIns="0" rtlCol="0" anchor="ctr"/>
          <a:lstStyle/>
          <a:p>
            <a:pPr indent="0" marL="0">
              <a:buNone/>
            </a:pPr>
            <a:r>
              <a:rPr lang="en-US" sz="950" dirty="0">
                <a:solidFill>
                  <a:srgbClr val="1F5D42"/>
                </a:solidFill>
                <a:latin typeface="Courier New" pitchFamily="34" charset="0"/>
                <a:ea typeface="Courier New" pitchFamily="34" charset="-122"/>
                <a:cs typeface="Courier New" pitchFamily="34" charset="-120"/>
              </a:rPr>
              <a:t>the claim</a:t>
            </a:r>
            <a:endParaRPr lang="en-US" sz="950" dirty="0"/>
          </a:p>
        </p:txBody>
      </p:sp>
      <p:sp>
        <p:nvSpPr>
          <p:cNvPr id="28" name="Text 26"/>
          <p:cNvSpPr txBox="1"/>
          <p:nvPr/>
        </p:nvSpPr>
        <p:spPr>
          <a:xfrm>
            <a:off x="8280197" y="3657600"/>
            <a:ext cx="1554480" cy="274320"/>
          </a:xfrm>
          <a:prstGeom prst="rect">
            <a:avLst/>
          </a:prstGeom>
          <a:noFill/>
          <a:ln/>
        </p:spPr>
        <p:txBody>
          <a:bodyPr wrap="square" lIns="0" tIns="0" rIns="0" bIns="0" rtlCol="0" anchor="ctr"/>
          <a:lstStyle/>
          <a:p>
            <a:pPr indent="0" marL="0">
              <a:buNone/>
            </a:pPr>
            <a:r>
              <a:rPr lang="en-US" sz="1100" dirty="0">
                <a:solidFill>
                  <a:srgbClr val="6B6459"/>
                </a:solidFill>
                <a:latin typeface="Calibri" pitchFamily="34" charset="0"/>
                <a:ea typeface="Calibri" pitchFamily="34" charset="-122"/>
                <a:cs typeface="Calibri" pitchFamily="34" charset="-120"/>
              </a:rPr>
              <a:t>Jan–Mar 19</a:t>
            </a:r>
            <a:endParaRPr lang="en-US" sz="1100" dirty="0"/>
          </a:p>
        </p:txBody>
      </p:sp>
      <p:sp>
        <p:nvSpPr>
          <p:cNvPr id="29" name="Text 27"/>
          <p:cNvSpPr txBox="1"/>
          <p:nvPr/>
        </p:nvSpPr>
        <p:spPr>
          <a:xfrm>
            <a:off x="9834677" y="3657600"/>
            <a:ext cx="1188720" cy="274320"/>
          </a:xfrm>
          <a:prstGeom prst="rect">
            <a:avLst/>
          </a:prstGeom>
          <a:noFill/>
          <a:ln/>
        </p:spPr>
        <p:txBody>
          <a:bodyPr wrap="square" lIns="0" tIns="0" rIns="0" bIns="0" rtlCol="0" anchor="ctr"/>
          <a:lstStyle/>
          <a:p>
            <a:pPr algn="r" indent="0" marL="0">
              <a:buNone/>
            </a:pPr>
            <a:r>
              <a:rPr lang="en-US" sz="1300" b="1" dirty="0">
                <a:solidFill>
                  <a:srgbClr val="1F5D42"/>
                </a:solidFill>
                <a:latin typeface="Courier New" pitchFamily="34" charset="0"/>
                <a:ea typeface="Courier New" pitchFamily="34" charset="-122"/>
                <a:cs typeface="Courier New" pitchFamily="34" charset="-120"/>
              </a:rPr>
              <a:t>+17.9%</a:t>
            </a:r>
            <a:endParaRPr lang="en-US" sz="1300" dirty="0"/>
          </a:p>
        </p:txBody>
      </p:sp>
      <p:sp>
        <p:nvSpPr>
          <p:cNvPr id="30" name="Text 28"/>
          <p:cNvSpPr txBox="1"/>
          <p:nvPr/>
        </p:nvSpPr>
        <p:spPr>
          <a:xfrm>
            <a:off x="8280197" y="4114800"/>
            <a:ext cx="1554480" cy="274320"/>
          </a:xfrm>
          <a:prstGeom prst="rect">
            <a:avLst/>
          </a:prstGeom>
          <a:noFill/>
          <a:ln/>
        </p:spPr>
        <p:txBody>
          <a:bodyPr wrap="square" lIns="0" tIns="0" rIns="0" bIns="0" rtlCol="0" anchor="ctr"/>
          <a:lstStyle/>
          <a:p>
            <a:pPr indent="0" marL="0">
              <a:buNone/>
            </a:pPr>
            <a:r>
              <a:rPr lang="en-US" sz="1100" dirty="0">
                <a:solidFill>
                  <a:srgbClr val="6B6459"/>
                </a:solidFill>
                <a:latin typeface="Calibri" pitchFamily="34" charset="0"/>
                <a:ea typeface="Calibri" pitchFamily="34" charset="-122"/>
                <a:cs typeface="Calibri" pitchFamily="34" charset="-120"/>
              </a:rPr>
              <a:t>Apr–Jun 19</a:t>
            </a:r>
            <a:endParaRPr lang="en-US" sz="1100" dirty="0"/>
          </a:p>
        </p:txBody>
      </p:sp>
      <p:sp>
        <p:nvSpPr>
          <p:cNvPr id="31" name="Text 29"/>
          <p:cNvSpPr txBox="1"/>
          <p:nvPr/>
        </p:nvSpPr>
        <p:spPr>
          <a:xfrm>
            <a:off x="9834677" y="4114800"/>
            <a:ext cx="1188720" cy="274320"/>
          </a:xfrm>
          <a:prstGeom prst="rect">
            <a:avLst/>
          </a:prstGeom>
          <a:noFill/>
          <a:ln/>
        </p:spPr>
        <p:txBody>
          <a:bodyPr wrap="square" lIns="0" tIns="0" rIns="0" bIns="0" rtlCol="0" anchor="ctr"/>
          <a:lstStyle/>
          <a:p>
            <a:pPr algn="r" indent="0" marL="0">
              <a:buNone/>
            </a:pPr>
            <a:r>
              <a:rPr lang="en-US" sz="1300" b="1" dirty="0">
                <a:solidFill>
                  <a:srgbClr val="1F5D42"/>
                </a:solidFill>
                <a:latin typeface="Courier New" pitchFamily="34" charset="0"/>
                <a:ea typeface="Courier New" pitchFamily="34" charset="-122"/>
                <a:cs typeface="Courier New" pitchFamily="34" charset="-120"/>
              </a:rPr>
              <a:t>+8.1%</a:t>
            </a:r>
            <a:endParaRPr lang="en-US" sz="1300" dirty="0"/>
          </a:p>
        </p:txBody>
      </p:sp>
      <p:sp>
        <p:nvSpPr>
          <p:cNvPr id="32" name="Text 30"/>
          <p:cNvSpPr txBox="1"/>
          <p:nvPr/>
        </p:nvSpPr>
        <p:spPr>
          <a:xfrm>
            <a:off x="8280197" y="4572000"/>
            <a:ext cx="1554480" cy="274320"/>
          </a:xfrm>
          <a:prstGeom prst="rect">
            <a:avLst/>
          </a:prstGeom>
          <a:noFill/>
          <a:ln/>
        </p:spPr>
        <p:txBody>
          <a:bodyPr wrap="square" lIns="0" tIns="0" rIns="0" bIns="0" rtlCol="0" anchor="ctr"/>
          <a:lstStyle/>
          <a:p>
            <a:pPr indent="0" marL="0">
              <a:buNone/>
            </a:pPr>
            <a:r>
              <a:rPr lang="en-US" sz="1100" dirty="0">
                <a:solidFill>
                  <a:srgbClr val="6B6459"/>
                </a:solidFill>
                <a:latin typeface="Calibri" pitchFamily="34" charset="0"/>
                <a:ea typeface="Calibri" pitchFamily="34" charset="-122"/>
                <a:cs typeface="Calibri" pitchFamily="34" charset="-120"/>
              </a:rPr>
              <a:t>Oct–Dec 18</a:t>
            </a:r>
            <a:endParaRPr lang="en-US" sz="1100" dirty="0"/>
          </a:p>
        </p:txBody>
      </p:sp>
      <p:sp>
        <p:nvSpPr>
          <p:cNvPr id="33" name="Text 31"/>
          <p:cNvSpPr txBox="1"/>
          <p:nvPr/>
        </p:nvSpPr>
        <p:spPr>
          <a:xfrm>
            <a:off x="9834677" y="4572000"/>
            <a:ext cx="1188720" cy="274320"/>
          </a:xfrm>
          <a:prstGeom prst="rect">
            <a:avLst/>
          </a:prstGeom>
          <a:noFill/>
          <a:ln/>
        </p:spPr>
        <p:txBody>
          <a:bodyPr wrap="square" lIns="0" tIns="0" rIns="0" bIns="0" rtlCol="0" anchor="ctr"/>
          <a:lstStyle/>
          <a:p>
            <a:pPr algn="r" indent="0" marL="0">
              <a:buNone/>
            </a:pPr>
            <a:r>
              <a:rPr lang="en-US" sz="1300" b="1" dirty="0">
                <a:solidFill>
                  <a:srgbClr val="1F5D42"/>
                </a:solidFill>
                <a:latin typeface="Courier New" pitchFamily="34" charset="0"/>
                <a:ea typeface="Courier New" pitchFamily="34" charset="-122"/>
                <a:cs typeface="Courier New" pitchFamily="34" charset="-120"/>
              </a:rPr>
              <a:t>+0.4%</a:t>
            </a:r>
            <a:endParaRPr lang="en-US" sz="1300" dirty="0"/>
          </a:p>
        </p:txBody>
      </p:sp>
      <p:sp>
        <p:nvSpPr>
          <p:cNvPr id="34" name="Text 32"/>
          <p:cNvSpPr txBox="1"/>
          <p:nvPr/>
        </p:nvSpPr>
        <p:spPr>
          <a:xfrm>
            <a:off x="8280197" y="4828032"/>
            <a:ext cx="2905658" cy="237744"/>
          </a:xfrm>
          <a:prstGeom prst="rect">
            <a:avLst/>
          </a:prstGeom>
          <a:noFill/>
          <a:ln/>
        </p:spPr>
        <p:txBody>
          <a:bodyPr wrap="square" lIns="0" tIns="0" rIns="0" bIns="0" rtlCol="0" anchor="ctr"/>
          <a:lstStyle/>
          <a:p>
            <a:pPr indent="0" marL="0">
              <a:buNone/>
            </a:pPr>
            <a:r>
              <a:rPr lang="en-US" sz="1050" i="1" dirty="0">
                <a:solidFill>
                  <a:srgbClr val="1F5D42"/>
                </a:solidFill>
                <a:latin typeface="Calibri" pitchFamily="34" charset="0"/>
                <a:ea typeface="Calibri" pitchFamily="34" charset="-122"/>
                <a:cs typeface="Calibri" pitchFamily="34" charset="-120"/>
              </a:rPr>
              <a:t>we win all three</a:t>
            </a:r>
            <a:endParaRPr lang="en-US" sz="1050" dirty="0"/>
          </a:p>
        </p:txBody>
      </p:sp>
      <p:sp>
        <p:nvSpPr>
          <p:cNvPr id="35" name="Shape 33"/>
          <p:cNvSpPr/>
          <p:nvPr/>
        </p:nvSpPr>
        <p:spPr>
          <a:xfrm>
            <a:off x="777240" y="5349240"/>
            <a:ext cx="10637215" cy="1005840"/>
          </a:xfrm>
          <a:prstGeom prst="rect">
            <a:avLst/>
          </a:prstGeom>
          <a:solidFill>
            <a:srgbClr val="EFEBE2"/>
          </a:solidFill>
          <a:ln w="12700">
            <a:solidFill>
              <a:srgbClr val="14110D"/>
            </a:solidFill>
            <a:prstDash val="solid"/>
          </a:ln>
        </p:spPr>
      </p:sp>
      <p:sp>
        <p:nvSpPr>
          <p:cNvPr id="36" name="Text 34"/>
          <p:cNvSpPr txBox="1"/>
          <p:nvPr/>
        </p:nvSpPr>
        <p:spPr>
          <a:xfrm>
            <a:off x="1051560" y="5468112"/>
            <a:ext cx="3840480" cy="256032"/>
          </a:xfrm>
          <a:prstGeom prst="rect">
            <a:avLst/>
          </a:prstGeom>
          <a:noFill/>
          <a:ln/>
        </p:spPr>
        <p:txBody>
          <a:bodyPr wrap="square" lIns="0" tIns="0" rIns="0" bIns="0" rtlCol="0" anchor="ctr"/>
          <a:lstStyle/>
          <a:p>
            <a:pPr indent="0" marL="0">
              <a:buNone/>
            </a:pPr>
            <a:r>
              <a:rPr lang="en-US" sz="1200" b="1" dirty="0">
                <a:solidFill>
                  <a:srgbClr val="14110D"/>
                </a:solidFill>
                <a:latin typeface="Calibri" pitchFamily="34" charset="0"/>
                <a:ea typeface="Calibri" pitchFamily="34" charset="-122"/>
                <a:cs typeface="Calibri" pitchFamily="34" charset="-120"/>
              </a:rPr>
              <a:t>What this says, and what it does not</a:t>
            </a:r>
            <a:endParaRPr lang="en-US" sz="1200" dirty="0"/>
          </a:p>
        </p:txBody>
      </p:sp>
      <p:sp>
        <p:nvSpPr>
          <p:cNvPr id="37" name="Text 35"/>
          <p:cNvSpPr txBox="1"/>
          <p:nvPr/>
        </p:nvSpPr>
        <p:spPr>
          <a:xfrm>
            <a:off x="4937760" y="5440680"/>
            <a:ext cx="6263640" cy="822960"/>
          </a:xfrm>
          <a:prstGeom prst="rect">
            <a:avLst/>
          </a:prstGeom>
          <a:noFill/>
          <a:ln/>
        </p:spPr>
        <p:txBody>
          <a:bodyPr wrap="square" lIns="0" tIns="0" rIns="0" bIns="0" rtlCol="0" anchor="ctr"/>
          <a:lstStyle/>
          <a:p>
            <a:pPr indent="0" marL="0">
              <a:lnSpc>
                <a:spcPts val="1350"/>
              </a:lnSpc>
              <a:buNone/>
            </a:pPr>
            <a:r>
              <a:rPr lang="en-US" sz="1050" dirty="0">
                <a:solidFill>
                  <a:srgbClr val="3B362F"/>
                </a:solidFill>
                <a:latin typeface="Calibri" pitchFamily="34" charset="0"/>
                <a:ea typeface="Calibri" pitchFamily="34" charset="-122"/>
                <a:cs typeface="Calibri" pitchFamily="34" charset="-120"/>
              </a:rPr>
              <a:t>We beat the normal approximation on every window with forecast quality held constant — so the distribution is earning its place. Against a well-tuned ERP policy we are level, winning one and losing two by a couple of percent, and we say so. What separates us there is not cost: it is that z comes from the pharmacy's own margins instead of a consultant, the interval behind it is calibrated, and the number explains itself.</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WHERE IT DOES NOT WORK</a:t>
            </a:r>
            <a:endParaRPr lang="en-US" sz="1100" dirty="0"/>
          </a:p>
        </p:txBody>
      </p:sp>
      <p:sp>
        <p:nvSpPr>
          <p:cNvPr id="3" name="Text 1"/>
          <p:cNvSpPr txBox="1"/>
          <p:nvPr/>
        </p:nvSpPr>
        <p:spPr>
          <a:xfrm>
            <a:off x="777240" y="868680"/>
            <a:ext cx="10637215" cy="1600200"/>
          </a:xfrm>
          <a:prstGeom prst="rect">
            <a:avLst/>
          </a:prstGeom>
          <a:noFill/>
          <a:ln/>
        </p:spPr>
        <p:txBody>
          <a:bodyPr wrap="square" lIns="0" tIns="0" rIns="0" bIns="0" rtlCol="0" anchor="ctr"/>
          <a:lstStyle/>
          <a:p>
            <a:pPr indent="0" marL="0">
              <a:lnSpc>
                <a:spcPts val="3584"/>
              </a:lnSpc>
              <a:buNone/>
            </a:pPr>
            <a:r>
              <a:rPr lang="en-US" sz="3200" dirty="0">
                <a:solidFill>
                  <a:srgbClr val="14110D"/>
                </a:solidFill>
                <a:latin typeface="Cambria" pitchFamily="34" charset="0"/>
                <a:ea typeface="Cambria" pitchFamily="34" charset="-122"/>
                <a:cs typeface="Cambria" pitchFamily="34" charset="-120"/>
              </a:rPr>
              <a:t>A system that only shows you where it wins</a:t>
            </a:r>
            <a:endParaRPr lang="en-US" sz="3200" dirty="0"/>
          </a:p>
          <a:p>
            <a:pPr indent="0" marL="0">
              <a:lnSpc>
                <a:spcPts val="3584"/>
              </a:lnSpc>
              <a:buNone/>
            </a:pPr>
            <a:r>
              <a:rPr lang="en-US" sz="3200" dirty="0">
                <a:solidFill>
                  <a:srgbClr val="14110D"/>
                </a:solidFill>
                <a:latin typeface="Cambria" pitchFamily="34" charset="0"/>
                <a:ea typeface="Cambria" pitchFamily="34" charset="-122"/>
                <a:cs typeface="Cambria" pitchFamily="34" charset="-120"/>
              </a:rPr>
              <a:t>is not telling you anything.</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2468880"/>
          <a:ext cx="6309360" cy="914400"/>
        </p:xfrm>
        <a:graphic>
          <a:graphicData uri="http://schemas.openxmlformats.org/drawingml/2006/table">
            <a:tbl>
              <a:tblPr/>
              <a:tblGrid>
                <a:gridCol w="1143000"/>
                <a:gridCol w="1691640"/>
                <a:gridCol w="1371600"/>
                <a:gridCol w="2103120"/>
              </a:tblGrid>
              <a:tr h="310896">
                <a:tc>
                  <a:txBody>
                    <a:bodyPr/>
                    <a:lstStyle/>
                    <a:p>
                      <a:pPr algn="l" indent="0" marL="0">
                        <a:buNone/>
                      </a:pPr>
                      <a:r>
                        <a:rPr lang="en-US" sz="1200" b="1" dirty="0">
                          <a:solidFill>
                            <a:srgbClr val="14110D"/>
                          </a:solidFill>
                          <a:latin typeface="Calibri" pitchFamily="34" charset="0"/>
                          <a:ea typeface="Calibri" pitchFamily="34" charset="-122"/>
                          <a:cs typeface="Calibri" pitchFamily="34" charset="-120"/>
                        </a:rPr>
                        <a:t>Series</a:t>
                      </a:r>
                      <a:endParaRPr lang="en-US" sz="1200" dirty="0">
                        <a:latin typeface="Calibri" charset="0"/>
                        <a:ea typeface="Calibri" charset="0"/>
                        <a:cs typeface="Calibri"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200" b="1" dirty="0">
                          <a:solidFill>
                            <a:srgbClr val="14110D"/>
                          </a:solidFill>
                          <a:latin typeface="Calibri" pitchFamily="34" charset="0"/>
                          <a:ea typeface="Calibri" pitchFamily="34" charset="-122"/>
                          <a:cs typeface="Calibri" pitchFamily="34" charset="-120"/>
                        </a:rPr>
                        <a:t>SeasonalNaive</a:t>
                      </a:r>
                      <a:endParaRPr lang="en-US" sz="1200" dirty="0">
                        <a:latin typeface="Calibri" charset="0"/>
                        <a:ea typeface="Calibri" charset="0"/>
                        <a:cs typeface="Calibri"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200" b="1" dirty="0">
                          <a:solidFill>
                            <a:srgbClr val="14110D"/>
                          </a:solidFill>
                          <a:latin typeface="Calibri" pitchFamily="34" charset="0"/>
                          <a:ea typeface="Calibri" pitchFamily="34" charset="-122"/>
                          <a:cs typeface="Calibri" pitchFamily="34" charset="-120"/>
                        </a:rPr>
                        <a:t>Ensemble</a:t>
                      </a:r>
                      <a:endParaRPr lang="en-US" sz="1200" dirty="0">
                        <a:latin typeface="Calibri" charset="0"/>
                        <a:ea typeface="Calibri" charset="0"/>
                        <a:cs typeface="Calibri"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200" b="1" dirty="0">
                          <a:solidFill>
                            <a:srgbClr val="14110D"/>
                          </a:solidFill>
                          <a:latin typeface="Calibri" pitchFamily="34" charset="0"/>
                          <a:ea typeface="Calibri" pitchFamily="34" charset="-122"/>
                          <a:cs typeface="Calibri" pitchFamily="34" charset="-120"/>
                        </a:rPr>
                        <a:t>Best single model</a:t>
                      </a:r>
                      <a:endParaRPr lang="en-US" sz="1200" dirty="0">
                        <a:latin typeface="Calibri" charset="0"/>
                        <a:ea typeface="Calibri" charset="0"/>
                        <a:cs typeface="Calibri"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r>
              <a:tr h="310896">
                <a:tc>
                  <a:txBody>
                    <a:bodyPr/>
                    <a:lstStyle/>
                    <a:p>
                      <a:pPr algn="l" indent="0" marL="0">
                        <a:buNone/>
                      </a:pPr>
                      <a:r>
                        <a:rPr lang="en-US" sz="1150" dirty="0">
                          <a:solidFill>
                            <a:srgbClr val="3B362F"/>
                          </a:solidFill>
                          <a:latin typeface="Courier New" pitchFamily="34" charset="0"/>
                          <a:ea typeface="Courier New" pitchFamily="34" charset="-122"/>
                          <a:cs typeface="Courier New" pitchFamily="34" charset="-120"/>
                        </a:rPr>
                        <a:t>M01AB</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dirty="0">
                          <a:solidFill>
                            <a:srgbClr val="6B6459"/>
                          </a:solidFill>
                          <a:latin typeface="Courier New" pitchFamily="34" charset="0"/>
                          <a:ea typeface="Courier New" pitchFamily="34" charset="-122"/>
                          <a:cs typeface="Courier New" pitchFamily="34" charset="-120"/>
                        </a:rPr>
                        <a:t>0.971</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b="1" dirty="0">
                          <a:solidFill>
                            <a:srgbClr val="1F5D42"/>
                          </a:solidFill>
                          <a:latin typeface="Courier New" pitchFamily="34" charset="0"/>
                          <a:ea typeface="Courier New" pitchFamily="34" charset="-122"/>
                          <a:cs typeface="Courier New" pitchFamily="34" charset="-120"/>
                        </a:rPr>
                        <a:t>0.651</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dirty="0">
                          <a:solidFill>
                            <a:srgbClr val="6B6459"/>
                          </a:solidFill>
                          <a:latin typeface="Calibri" pitchFamily="34" charset="0"/>
                          <a:ea typeface="Calibri" pitchFamily="34" charset="-122"/>
                          <a:cs typeface="Calibri" pitchFamily="34" charset="-120"/>
                        </a:rPr>
                        <a:t>AutoARIMA</a:t>
                      </a:r>
                      <a:endParaRPr lang="en-US" sz="1150" dirty="0">
                        <a:latin typeface="Calibri" charset="0"/>
                        <a:ea typeface="Calibri" charset="0"/>
                        <a:cs typeface="Calibri"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r>
              <a:tr h="310896">
                <a:tc>
                  <a:txBody>
                    <a:bodyPr/>
                    <a:lstStyle/>
                    <a:p>
                      <a:pPr algn="l" indent="0" marL="0">
                        <a:buNone/>
                      </a:pPr>
                      <a:r>
                        <a:rPr lang="en-US" sz="1150" dirty="0">
                          <a:solidFill>
                            <a:srgbClr val="3B362F"/>
                          </a:solidFill>
                          <a:latin typeface="Courier New" pitchFamily="34" charset="0"/>
                          <a:ea typeface="Courier New" pitchFamily="34" charset="-122"/>
                          <a:cs typeface="Courier New" pitchFamily="34" charset="-120"/>
                        </a:rPr>
                        <a:t>M01AE</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dirty="0">
                          <a:solidFill>
                            <a:srgbClr val="6B6459"/>
                          </a:solidFill>
                          <a:latin typeface="Courier New" pitchFamily="34" charset="0"/>
                          <a:ea typeface="Courier New" pitchFamily="34" charset="-122"/>
                          <a:cs typeface="Courier New" pitchFamily="34" charset="-120"/>
                        </a:rPr>
                        <a:t>1.019</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b="1" dirty="0">
                          <a:solidFill>
                            <a:srgbClr val="A32E22"/>
                          </a:solidFill>
                          <a:latin typeface="Courier New" pitchFamily="34" charset="0"/>
                          <a:ea typeface="Courier New" pitchFamily="34" charset="-122"/>
                          <a:cs typeface="Courier New" pitchFamily="34" charset="-120"/>
                        </a:rPr>
                        <a:t>1.000</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dirty="0">
                          <a:solidFill>
                            <a:srgbClr val="6B6459"/>
                          </a:solidFill>
                          <a:latin typeface="Calibri" pitchFamily="34" charset="0"/>
                          <a:ea typeface="Calibri" pitchFamily="34" charset="-122"/>
                          <a:cs typeface="Calibri" pitchFamily="34" charset="-120"/>
                        </a:rPr>
                        <a:t>Naive</a:t>
                      </a:r>
                      <a:endParaRPr lang="en-US" sz="1150" dirty="0">
                        <a:latin typeface="Calibri" charset="0"/>
                        <a:ea typeface="Calibri" charset="0"/>
                        <a:cs typeface="Calibri"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r>
              <a:tr h="310896">
                <a:tc>
                  <a:txBody>
                    <a:bodyPr/>
                    <a:lstStyle/>
                    <a:p>
                      <a:pPr algn="l" indent="0" marL="0">
                        <a:buNone/>
                      </a:pPr>
                      <a:r>
                        <a:rPr lang="en-US" sz="1150" dirty="0">
                          <a:solidFill>
                            <a:srgbClr val="3B362F"/>
                          </a:solidFill>
                          <a:latin typeface="Courier New" pitchFamily="34" charset="0"/>
                          <a:ea typeface="Courier New" pitchFamily="34" charset="-122"/>
                          <a:cs typeface="Courier New" pitchFamily="34" charset="-120"/>
                        </a:rPr>
                        <a:t>N02BA</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dirty="0">
                          <a:solidFill>
                            <a:srgbClr val="6B6459"/>
                          </a:solidFill>
                          <a:latin typeface="Courier New" pitchFamily="34" charset="0"/>
                          <a:ea typeface="Courier New" pitchFamily="34" charset="-122"/>
                          <a:cs typeface="Courier New" pitchFamily="34" charset="-120"/>
                        </a:rPr>
                        <a:t>0.671</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b="1" dirty="0">
                          <a:solidFill>
                            <a:srgbClr val="1F5D42"/>
                          </a:solidFill>
                          <a:latin typeface="Courier New" pitchFamily="34" charset="0"/>
                          <a:ea typeface="Courier New" pitchFamily="34" charset="-122"/>
                          <a:cs typeface="Courier New" pitchFamily="34" charset="-120"/>
                        </a:rPr>
                        <a:t>0.618</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dirty="0">
                          <a:solidFill>
                            <a:srgbClr val="6B6459"/>
                          </a:solidFill>
                          <a:latin typeface="Calibri" pitchFamily="34" charset="0"/>
                          <a:ea typeface="Calibri" pitchFamily="34" charset="-122"/>
                          <a:cs typeface="Calibri" pitchFamily="34" charset="-120"/>
                        </a:rPr>
                        <a:t>SeasonalNaive</a:t>
                      </a:r>
                      <a:endParaRPr lang="en-US" sz="1150" dirty="0">
                        <a:latin typeface="Calibri" charset="0"/>
                        <a:ea typeface="Calibri" charset="0"/>
                        <a:cs typeface="Calibri"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r>
              <a:tr h="310896">
                <a:tc>
                  <a:txBody>
                    <a:bodyPr/>
                    <a:lstStyle/>
                    <a:p>
                      <a:pPr algn="l" indent="0" marL="0">
                        <a:buNone/>
                      </a:pPr>
                      <a:r>
                        <a:rPr lang="en-US" sz="1150" dirty="0">
                          <a:solidFill>
                            <a:srgbClr val="3B362F"/>
                          </a:solidFill>
                          <a:latin typeface="Courier New" pitchFamily="34" charset="0"/>
                          <a:ea typeface="Courier New" pitchFamily="34" charset="-122"/>
                          <a:cs typeface="Courier New" pitchFamily="34" charset="-120"/>
                        </a:rPr>
                        <a:t>N02BE</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dirty="0">
                          <a:solidFill>
                            <a:srgbClr val="6B6459"/>
                          </a:solidFill>
                          <a:latin typeface="Courier New" pitchFamily="34" charset="0"/>
                          <a:ea typeface="Courier New" pitchFamily="34" charset="-122"/>
                          <a:cs typeface="Courier New" pitchFamily="34" charset="-120"/>
                        </a:rPr>
                        <a:t>0.993</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b="1" dirty="0">
                          <a:solidFill>
                            <a:srgbClr val="1F5D42"/>
                          </a:solidFill>
                          <a:latin typeface="Courier New" pitchFamily="34" charset="0"/>
                          <a:ea typeface="Courier New" pitchFamily="34" charset="-122"/>
                          <a:cs typeface="Courier New" pitchFamily="34" charset="-120"/>
                        </a:rPr>
                        <a:t>0.799</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dirty="0">
                          <a:solidFill>
                            <a:srgbClr val="6B6459"/>
                          </a:solidFill>
                          <a:latin typeface="Calibri" pitchFamily="34" charset="0"/>
                          <a:ea typeface="Calibri" pitchFamily="34" charset="-122"/>
                          <a:cs typeface="Calibri" pitchFamily="34" charset="-120"/>
                        </a:rPr>
                        <a:t>Prophet</a:t>
                      </a:r>
                      <a:endParaRPr lang="en-US" sz="1150" dirty="0">
                        <a:latin typeface="Calibri" charset="0"/>
                        <a:ea typeface="Calibri" charset="0"/>
                        <a:cs typeface="Calibri"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r>
              <a:tr h="310896">
                <a:tc>
                  <a:txBody>
                    <a:bodyPr/>
                    <a:lstStyle/>
                    <a:p>
                      <a:pPr algn="l" indent="0" marL="0">
                        <a:buNone/>
                      </a:pPr>
                      <a:r>
                        <a:rPr lang="en-US" sz="1150" dirty="0">
                          <a:solidFill>
                            <a:srgbClr val="3B362F"/>
                          </a:solidFill>
                          <a:latin typeface="Courier New" pitchFamily="34" charset="0"/>
                          <a:ea typeface="Courier New" pitchFamily="34" charset="-122"/>
                          <a:cs typeface="Courier New" pitchFamily="34" charset="-120"/>
                        </a:rPr>
                        <a:t>N05B</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dirty="0">
                          <a:solidFill>
                            <a:srgbClr val="6B6459"/>
                          </a:solidFill>
                          <a:latin typeface="Courier New" pitchFamily="34" charset="0"/>
                          <a:ea typeface="Courier New" pitchFamily="34" charset="-122"/>
                          <a:cs typeface="Courier New" pitchFamily="34" charset="-120"/>
                        </a:rPr>
                        <a:t>0.939</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b="1" dirty="0">
                          <a:solidFill>
                            <a:srgbClr val="1F5D42"/>
                          </a:solidFill>
                          <a:latin typeface="Courier New" pitchFamily="34" charset="0"/>
                          <a:ea typeface="Courier New" pitchFamily="34" charset="-122"/>
                          <a:cs typeface="Courier New" pitchFamily="34" charset="-120"/>
                        </a:rPr>
                        <a:t>0.621</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dirty="0">
                          <a:solidFill>
                            <a:srgbClr val="6B6459"/>
                          </a:solidFill>
                          <a:latin typeface="Calibri" pitchFamily="34" charset="0"/>
                          <a:ea typeface="Calibri" pitchFamily="34" charset="-122"/>
                          <a:cs typeface="Calibri" pitchFamily="34" charset="-120"/>
                        </a:rPr>
                        <a:t>WindowAverage</a:t>
                      </a:r>
                      <a:endParaRPr lang="en-US" sz="1150" dirty="0">
                        <a:latin typeface="Calibri" charset="0"/>
                        <a:ea typeface="Calibri" charset="0"/>
                        <a:cs typeface="Calibri"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r>
              <a:tr h="310896">
                <a:tc>
                  <a:txBody>
                    <a:bodyPr/>
                    <a:lstStyle/>
                    <a:p>
                      <a:pPr algn="l" indent="0" marL="0">
                        <a:buNone/>
                      </a:pPr>
                      <a:r>
                        <a:rPr lang="en-US" sz="1150" dirty="0">
                          <a:solidFill>
                            <a:srgbClr val="3B362F"/>
                          </a:solidFill>
                          <a:latin typeface="Courier New" pitchFamily="34" charset="0"/>
                          <a:ea typeface="Courier New" pitchFamily="34" charset="-122"/>
                          <a:cs typeface="Courier New" pitchFamily="34" charset="-120"/>
                        </a:rPr>
                        <a:t>N05C</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dirty="0">
                          <a:solidFill>
                            <a:srgbClr val="6B6459"/>
                          </a:solidFill>
                          <a:latin typeface="Courier New" pitchFamily="34" charset="0"/>
                          <a:ea typeface="Courier New" pitchFamily="34" charset="-122"/>
                          <a:cs typeface="Courier New" pitchFamily="34" charset="-120"/>
                        </a:rPr>
                        <a:t>1.174</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b="1" dirty="0">
                          <a:solidFill>
                            <a:srgbClr val="1F5D42"/>
                          </a:solidFill>
                          <a:latin typeface="Courier New" pitchFamily="34" charset="0"/>
                          <a:ea typeface="Courier New" pitchFamily="34" charset="-122"/>
                          <a:cs typeface="Courier New" pitchFamily="34" charset="-120"/>
                        </a:rPr>
                        <a:t>0.785</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dirty="0">
                          <a:solidFill>
                            <a:srgbClr val="6B6459"/>
                          </a:solidFill>
                          <a:latin typeface="Calibri" pitchFamily="34" charset="0"/>
                          <a:ea typeface="Calibri" pitchFamily="34" charset="-122"/>
                          <a:cs typeface="Calibri" pitchFamily="34" charset="-120"/>
                        </a:rPr>
                        <a:t>CrostonOptimized</a:t>
                      </a:r>
                      <a:endParaRPr lang="en-US" sz="1150" dirty="0">
                        <a:latin typeface="Calibri" charset="0"/>
                        <a:ea typeface="Calibri" charset="0"/>
                        <a:cs typeface="Calibri"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r>
              <a:tr h="310896">
                <a:tc>
                  <a:txBody>
                    <a:bodyPr/>
                    <a:lstStyle/>
                    <a:p>
                      <a:pPr algn="l" indent="0" marL="0">
                        <a:buNone/>
                      </a:pPr>
                      <a:r>
                        <a:rPr lang="en-US" sz="1150" dirty="0">
                          <a:solidFill>
                            <a:srgbClr val="3B362F"/>
                          </a:solidFill>
                          <a:latin typeface="Courier New" pitchFamily="34" charset="0"/>
                          <a:ea typeface="Courier New" pitchFamily="34" charset="-122"/>
                          <a:cs typeface="Courier New" pitchFamily="34" charset="-120"/>
                        </a:rPr>
                        <a:t>R03</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dirty="0">
                          <a:solidFill>
                            <a:srgbClr val="6B6459"/>
                          </a:solidFill>
                          <a:latin typeface="Courier New" pitchFamily="34" charset="0"/>
                          <a:ea typeface="Courier New" pitchFamily="34" charset="-122"/>
                          <a:cs typeface="Courier New" pitchFamily="34" charset="-120"/>
                        </a:rPr>
                        <a:t>1.294</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b="1" dirty="0">
                          <a:solidFill>
                            <a:srgbClr val="A32E22"/>
                          </a:solidFill>
                          <a:latin typeface="Courier New" pitchFamily="34" charset="0"/>
                          <a:ea typeface="Courier New" pitchFamily="34" charset="-122"/>
                          <a:cs typeface="Courier New" pitchFamily="34" charset="-120"/>
                        </a:rPr>
                        <a:t>1.137</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dirty="0">
                          <a:solidFill>
                            <a:srgbClr val="6B6459"/>
                          </a:solidFill>
                          <a:latin typeface="Calibri" pitchFamily="34" charset="0"/>
                          <a:ea typeface="Calibri" pitchFamily="34" charset="-122"/>
                          <a:cs typeface="Calibri" pitchFamily="34" charset="-120"/>
                        </a:rPr>
                        <a:t>CrostonOptimized</a:t>
                      </a:r>
                      <a:endParaRPr lang="en-US" sz="1150" dirty="0">
                        <a:latin typeface="Calibri" charset="0"/>
                        <a:ea typeface="Calibri" charset="0"/>
                        <a:cs typeface="Calibri"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r>
              <a:tr h="310896">
                <a:tc>
                  <a:txBody>
                    <a:bodyPr/>
                    <a:lstStyle/>
                    <a:p>
                      <a:pPr algn="l" indent="0" marL="0">
                        <a:buNone/>
                      </a:pPr>
                      <a:r>
                        <a:rPr lang="en-US" sz="1150" dirty="0">
                          <a:solidFill>
                            <a:srgbClr val="3B362F"/>
                          </a:solidFill>
                          <a:latin typeface="Courier New" pitchFamily="34" charset="0"/>
                          <a:ea typeface="Courier New" pitchFamily="34" charset="-122"/>
                          <a:cs typeface="Courier New" pitchFamily="34" charset="-120"/>
                        </a:rPr>
                        <a:t>R06</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dirty="0">
                          <a:solidFill>
                            <a:srgbClr val="6B6459"/>
                          </a:solidFill>
                          <a:latin typeface="Courier New" pitchFamily="34" charset="0"/>
                          <a:ea typeface="Courier New" pitchFamily="34" charset="-122"/>
                          <a:cs typeface="Courier New" pitchFamily="34" charset="-120"/>
                        </a:rPr>
                        <a:t>1.880</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b="1" dirty="0">
                          <a:solidFill>
                            <a:srgbClr val="A32E22"/>
                          </a:solidFill>
                          <a:latin typeface="Courier New" pitchFamily="34" charset="0"/>
                          <a:ea typeface="Courier New" pitchFamily="34" charset="-122"/>
                          <a:cs typeface="Courier New" pitchFamily="34" charset="-120"/>
                        </a:rPr>
                        <a:t>1.646</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c>
                  <a:txBody>
                    <a:bodyPr/>
                    <a:lstStyle/>
                    <a:p>
                      <a:pPr algn="l" indent="0" marL="0">
                        <a:buNone/>
                      </a:pPr>
                      <a:r>
                        <a:rPr lang="en-US" sz="1150" dirty="0">
                          <a:solidFill>
                            <a:srgbClr val="6B6459"/>
                          </a:solidFill>
                          <a:latin typeface="Calibri" pitchFamily="34" charset="0"/>
                          <a:ea typeface="Calibri" pitchFamily="34" charset="-122"/>
                          <a:cs typeface="Calibri" pitchFamily="34" charset="-120"/>
                        </a:rPr>
                        <a:t>Prophet</a:t>
                      </a:r>
                      <a:endParaRPr lang="en-US" sz="1150" dirty="0">
                        <a:latin typeface="Calibri" charset="0"/>
                        <a:ea typeface="Calibri" charset="0"/>
                        <a:cs typeface="Calibri" charset="0"/>
                      </a:endParaRPr>
                    </a:p>
                  </a:txBody>
                  <a:tcPr marL="91440" marR="91440" marT="45720" marB="45720" anchor="ctr">
                    <a:lnL w="12700" cap="flat" cmpd="sng" algn="ctr">
                      <a:solidFill>
                        <a:srgbClr val="E4DFD5"/>
                      </a:solidFill>
                      <a:prstDash val="solid"/>
                      <a:round/>
                      <a:headEnd type="none" w="med" len="med"/>
                      <a:tailEnd type="none" w="med" len="med"/>
                    </a:lnL>
                    <a:lnR w="12700" cap="flat" cmpd="sng" algn="ctr">
                      <a:solidFill>
                        <a:srgbClr val="E4DFD5"/>
                      </a:solidFill>
                      <a:prstDash val="solid"/>
                      <a:round/>
                      <a:headEnd type="none" w="med" len="med"/>
                      <a:tailEnd type="none" w="med" len="med"/>
                    </a:lnR>
                    <a:lnT w="12700" cap="flat" cmpd="sng" algn="ctr">
                      <a:solidFill>
                        <a:srgbClr val="E4DFD5"/>
                      </a:solidFill>
                      <a:prstDash val="solid"/>
                      <a:round/>
                      <a:headEnd type="none" w="med" len="med"/>
                      <a:tailEnd type="none" w="med" len="med"/>
                    </a:lnT>
                    <a:lnB w="12700" cap="flat" cmpd="sng" algn="ctr">
                      <a:solidFill>
                        <a:srgbClr val="E4DFD5"/>
                      </a:solidFill>
                      <a:prstDash val="solid"/>
                      <a:round/>
                      <a:headEnd type="none" w="med" len="med"/>
                      <a:tailEnd type="none" w="med" len="med"/>
                    </a:lnB>
                    <a:solidFill>
                      <a:srgbClr val="FCFAF6"/>
                    </a:solidFill>
                  </a:tcPr>
                </a:tc>
              </a:tr>
            </a:tbl>
          </a:graphicData>
        </a:graphic>
      </p:graphicFrame>
      <p:sp>
        <p:nvSpPr>
          <p:cNvPr id="5" name="Text 2"/>
          <p:cNvSpPr txBox="1"/>
          <p:nvPr/>
        </p:nvSpPr>
        <p:spPr>
          <a:xfrm>
            <a:off x="777240" y="5349240"/>
            <a:ext cx="6309360" cy="685800"/>
          </a:xfrm>
          <a:prstGeom prst="rect">
            <a:avLst/>
          </a:prstGeom>
          <a:noFill/>
          <a:ln/>
        </p:spPr>
        <p:txBody>
          <a:bodyPr wrap="square" lIns="0" tIns="0" rIns="0" bIns="0" rtlCol="0" anchor="ctr"/>
          <a:lstStyle/>
          <a:p>
            <a:pPr indent="0" marL="0">
              <a:lnSpc>
                <a:spcPts val="1700"/>
              </a:lnSpc>
              <a:buNone/>
            </a:pPr>
            <a:r>
              <a:rPr lang="en-US" sz="1200" dirty="0">
                <a:solidFill>
                  <a:srgbClr val="3B362F"/>
                </a:solidFill>
                <a:latin typeface="Calibri" pitchFamily="34" charset="0"/>
                <a:ea typeface="Calibri" pitchFamily="34" charset="-122"/>
                <a:cs typeface="Calibri" pitchFamily="34" charset="-120"/>
              </a:rPr>
              <a:t>The ensemble beats seasonal-naive on all eight, so the relative column is not the interesting one. MASE above 1.000 means worse than simply repeating last week — and two series are.</a:t>
            </a:r>
            <a:endParaRPr lang="en-US" sz="1200" dirty="0"/>
          </a:p>
        </p:txBody>
      </p:sp>
      <p:sp>
        <p:nvSpPr>
          <p:cNvPr id="6" name="Shape 3"/>
          <p:cNvSpPr/>
          <p:nvPr/>
        </p:nvSpPr>
        <p:spPr>
          <a:xfrm>
            <a:off x="7498080" y="2468880"/>
            <a:ext cx="3931920" cy="1554480"/>
          </a:xfrm>
          <a:prstGeom prst="rect">
            <a:avLst/>
          </a:prstGeom>
          <a:solidFill>
            <a:srgbClr val="F6EDEB"/>
          </a:solidFill>
          <a:ln w="12700">
            <a:solidFill>
              <a:srgbClr val="A32E22"/>
            </a:solidFill>
            <a:prstDash val="solid"/>
          </a:ln>
        </p:spPr>
      </p:sp>
      <p:sp>
        <p:nvSpPr>
          <p:cNvPr id="7" name="Text 4"/>
          <p:cNvSpPr txBox="1"/>
          <p:nvPr/>
        </p:nvSpPr>
        <p:spPr>
          <a:xfrm>
            <a:off x="7772400" y="2651760"/>
            <a:ext cx="3474720" cy="365760"/>
          </a:xfrm>
          <a:prstGeom prst="rect">
            <a:avLst/>
          </a:prstGeom>
          <a:noFill/>
          <a:ln/>
        </p:spPr>
        <p:txBody>
          <a:bodyPr wrap="square" lIns="0" tIns="0" rIns="0" bIns="0" rtlCol="0" anchor="ctr"/>
          <a:lstStyle/>
          <a:p>
            <a:pPr indent="0" marL="0">
              <a:buNone/>
            </a:pPr>
            <a:r>
              <a:rPr lang="en-US" sz="1900" b="1" dirty="0">
                <a:solidFill>
                  <a:srgbClr val="A32E22"/>
                </a:solidFill>
                <a:latin typeface="Courier New" pitchFamily="34" charset="0"/>
                <a:ea typeface="Courier New" pitchFamily="34" charset="-122"/>
                <a:cs typeface="Courier New" pitchFamily="34" charset="-120"/>
              </a:rPr>
              <a:t>R06 · 1.646</a:t>
            </a:r>
            <a:endParaRPr lang="en-US" sz="1900" dirty="0"/>
          </a:p>
        </p:txBody>
      </p:sp>
      <p:sp>
        <p:nvSpPr>
          <p:cNvPr id="8" name="Text 5"/>
          <p:cNvSpPr txBox="1"/>
          <p:nvPr/>
        </p:nvSpPr>
        <p:spPr>
          <a:xfrm>
            <a:off x="7772400" y="3063240"/>
            <a:ext cx="3474720" cy="868680"/>
          </a:xfrm>
          <a:prstGeom prst="rect">
            <a:avLst/>
          </a:prstGeom>
          <a:noFill/>
          <a:ln/>
        </p:spPr>
        <p:txBody>
          <a:bodyPr wrap="square" lIns="0" tIns="0" rIns="0" bIns="0" rtlCol="0" anchor="ctr"/>
          <a:lstStyle/>
          <a:p>
            <a:pPr indent="0" marL="0">
              <a:lnSpc>
                <a:spcPts val="1500"/>
              </a:lnSpc>
              <a:buNone/>
            </a:pPr>
            <a:r>
              <a:rPr lang="en-US" sz="1150" dirty="0">
                <a:solidFill>
                  <a:srgbClr val="3B362F"/>
                </a:solidFill>
                <a:latin typeface="Calibri" pitchFamily="34" charset="0"/>
                <a:ea typeface="Calibri" pitchFamily="34" charset="-122"/>
                <a:cs typeface="Calibri" pitchFamily="34" charset="-120"/>
              </a:rPr>
              <a:t>Our worst series, and well above 1.0. The May pollen peak is sharp and its timing moves year to year — we have six observations of it.</a:t>
            </a:r>
            <a:endParaRPr lang="en-US" sz="1150" dirty="0"/>
          </a:p>
        </p:txBody>
      </p:sp>
      <p:sp>
        <p:nvSpPr>
          <p:cNvPr id="9" name="Shape 6"/>
          <p:cNvSpPr/>
          <p:nvPr/>
        </p:nvSpPr>
        <p:spPr>
          <a:xfrm>
            <a:off x="7498080" y="4206240"/>
            <a:ext cx="3931920" cy="1554480"/>
          </a:xfrm>
          <a:prstGeom prst="rect">
            <a:avLst/>
          </a:prstGeom>
          <a:solidFill>
            <a:srgbClr val="F6EDEB"/>
          </a:solidFill>
          <a:ln w="12700">
            <a:solidFill>
              <a:srgbClr val="A32E22"/>
            </a:solidFill>
            <a:prstDash val="solid"/>
          </a:ln>
        </p:spPr>
      </p:sp>
      <p:sp>
        <p:nvSpPr>
          <p:cNvPr id="10" name="Text 7"/>
          <p:cNvSpPr txBox="1"/>
          <p:nvPr/>
        </p:nvSpPr>
        <p:spPr>
          <a:xfrm>
            <a:off x="7772400" y="4389120"/>
            <a:ext cx="3474720" cy="365760"/>
          </a:xfrm>
          <a:prstGeom prst="rect">
            <a:avLst/>
          </a:prstGeom>
          <a:noFill/>
          <a:ln/>
        </p:spPr>
        <p:txBody>
          <a:bodyPr wrap="square" lIns="0" tIns="0" rIns="0" bIns="0" rtlCol="0" anchor="ctr"/>
          <a:lstStyle/>
          <a:p>
            <a:pPr indent="0" marL="0">
              <a:buNone/>
            </a:pPr>
            <a:r>
              <a:rPr lang="en-US" sz="1900" b="1" dirty="0">
                <a:solidFill>
                  <a:srgbClr val="A32E22"/>
                </a:solidFill>
                <a:latin typeface="Courier New" pitchFamily="34" charset="0"/>
                <a:ea typeface="Courier New" pitchFamily="34" charset="-122"/>
                <a:cs typeface="Courier New" pitchFamily="34" charset="-120"/>
              </a:rPr>
              <a:t>R03 · 1.137</a:t>
            </a:r>
            <a:endParaRPr lang="en-US" sz="1900" dirty="0"/>
          </a:p>
        </p:txBody>
      </p:sp>
      <p:sp>
        <p:nvSpPr>
          <p:cNvPr id="11" name="Text 8"/>
          <p:cNvSpPr txBox="1"/>
          <p:nvPr/>
        </p:nvSpPr>
        <p:spPr>
          <a:xfrm>
            <a:off x="7772400" y="4800600"/>
            <a:ext cx="3474720" cy="868680"/>
          </a:xfrm>
          <a:prstGeom prst="rect">
            <a:avLst/>
          </a:prstGeom>
          <a:noFill/>
          <a:ln/>
        </p:spPr>
        <p:txBody>
          <a:bodyPr wrap="square" lIns="0" tIns="0" rIns="0" bIns="0" rtlCol="0" anchor="ctr"/>
          <a:lstStyle/>
          <a:p>
            <a:pPr indent="0" marL="0">
              <a:lnSpc>
                <a:spcPts val="1500"/>
              </a:lnSpc>
              <a:buNone/>
            </a:pPr>
            <a:r>
              <a:rPr lang="en-US" sz="1150" dirty="0">
                <a:solidFill>
                  <a:srgbClr val="3B362F"/>
                </a:solidFill>
                <a:latin typeface="Calibri" pitchFamily="34" charset="0"/>
                <a:ea typeface="Calibri" pitchFamily="34" charset="-122"/>
                <a:cs typeface="Calibri" pitchFamily="34" charset="-120"/>
              </a:rPr>
              <a:t>Asthma / COPD. Better than the 1.294 seasonal-naive manages, but still above 1.0. We do not claim a win here.</a:t>
            </a:r>
            <a:endParaRPr lang="en-US" sz="1150" dirty="0"/>
          </a:p>
        </p:txBody>
      </p:sp>
      <p:sp>
        <p:nvSpPr>
          <p:cNvPr id="12" name="Text 9"/>
          <p:cNvSpPr txBox="1"/>
          <p:nvPr/>
        </p:nvSpPr>
        <p:spPr>
          <a:xfrm>
            <a:off x="777240" y="6080760"/>
            <a:ext cx="10637215" cy="274320"/>
          </a:xfrm>
          <a:prstGeom prst="rect">
            <a:avLst/>
          </a:prstGeom>
          <a:noFill/>
          <a:ln/>
        </p:spPr>
        <p:txBody>
          <a:bodyPr wrap="square" lIns="0" tIns="0" rIns="0" bIns="0" rtlCol="0" anchor="ctr"/>
          <a:lstStyle/>
          <a:p>
            <a:pPr indent="0" marL="0">
              <a:lnSpc>
                <a:spcPts val="1620"/>
              </a:lnSpc>
              <a:buNone/>
            </a:pPr>
            <a:r>
              <a:rPr lang="en-US" sz="1200" i="1" dirty="0">
                <a:solidFill>
                  <a:srgbClr val="6B6459"/>
                </a:solidFill>
                <a:latin typeface="Calibri" pitchFamily="34" charset="0"/>
                <a:ea typeface="Calibri" pitchFamily="34" charset="-122"/>
                <a:cs typeface="Calibri" pitchFamily="34" charset="-120"/>
              </a:rPr>
              <a:t>Both are on the product's own Evidence screen, flagged, alongside the wins.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10D"/>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9A9287"/>
                </a:solidFill>
                <a:latin typeface="Courier New" pitchFamily="34" charset="0"/>
                <a:ea typeface="Courier New" pitchFamily="34" charset="-122"/>
                <a:cs typeface="Courier New" pitchFamily="34" charset="-120"/>
              </a:rPr>
              <a:t>THE DEEPEST LIMITATION, STATED BEFORE ANYONE ASKS</a:t>
            </a:r>
            <a:endParaRPr lang="en-US" sz="1100" dirty="0"/>
          </a:p>
        </p:txBody>
      </p:sp>
      <p:sp>
        <p:nvSpPr>
          <p:cNvPr id="3" name="Text 1"/>
          <p:cNvSpPr txBox="1"/>
          <p:nvPr/>
        </p:nvSpPr>
        <p:spPr>
          <a:xfrm>
            <a:off x="777240" y="868680"/>
            <a:ext cx="10637215" cy="1600200"/>
          </a:xfrm>
          <a:prstGeom prst="rect">
            <a:avLst/>
          </a:prstGeom>
          <a:noFill/>
          <a:ln/>
        </p:spPr>
        <p:txBody>
          <a:bodyPr wrap="square" lIns="0" tIns="0" rIns="0" bIns="0" rtlCol="0" anchor="ctr"/>
          <a:lstStyle/>
          <a:p>
            <a:pPr indent="0" marL="0">
              <a:lnSpc>
                <a:spcPts val="5152"/>
              </a:lnSpc>
              <a:buNone/>
            </a:pPr>
            <a:r>
              <a:rPr lang="en-US" sz="4600" dirty="0">
                <a:solidFill>
                  <a:srgbClr val="F7F4EE"/>
                </a:solidFill>
                <a:latin typeface="Cambria" pitchFamily="34" charset="0"/>
                <a:ea typeface="Cambria" pitchFamily="34" charset="-122"/>
                <a:cs typeface="Cambria" pitchFamily="34" charset="-120"/>
              </a:rPr>
              <a:t>We forecast sales, not demand.</a:t>
            </a:r>
            <a:endParaRPr lang="en-US" sz="4600" dirty="0"/>
          </a:p>
        </p:txBody>
      </p:sp>
      <p:sp>
        <p:nvSpPr>
          <p:cNvPr id="4" name="Text 2"/>
          <p:cNvSpPr txBox="1"/>
          <p:nvPr/>
        </p:nvSpPr>
        <p:spPr>
          <a:xfrm>
            <a:off x="777240" y="2514600"/>
            <a:ext cx="6675120" cy="1188720"/>
          </a:xfrm>
          <a:prstGeom prst="rect">
            <a:avLst/>
          </a:prstGeom>
          <a:noFill/>
          <a:ln/>
        </p:spPr>
        <p:txBody>
          <a:bodyPr wrap="square" lIns="0" tIns="0" rIns="0" bIns="0" rtlCol="0" anchor="ctr"/>
          <a:lstStyle/>
          <a:p>
            <a:pPr indent="0" marL="0">
              <a:lnSpc>
                <a:spcPts val="2400"/>
              </a:lnSpc>
              <a:buNone/>
            </a:pPr>
            <a:r>
              <a:rPr lang="en-US" sz="1600" dirty="0">
                <a:solidFill>
                  <a:srgbClr val="C9C2B6"/>
                </a:solidFill>
                <a:latin typeface="Calibri" pitchFamily="34" charset="0"/>
                <a:ea typeface="Calibri" pitchFamily="34" charset="-122"/>
                <a:cs typeface="Calibri" pitchFamily="34" charset="-120"/>
              </a:rPr>
              <a:t>A stockout records zero sales — indistinguishable from zero demand. So our observations are right-censored, and the censoring is worst on exactly the products the system most needs to get right.</a:t>
            </a:r>
            <a:endParaRPr lang="en-US" sz="1600" dirty="0"/>
          </a:p>
        </p:txBody>
      </p:sp>
      <p:sp>
        <p:nvSpPr>
          <p:cNvPr id="5" name="Text 3"/>
          <p:cNvSpPr txBox="1"/>
          <p:nvPr/>
        </p:nvSpPr>
        <p:spPr>
          <a:xfrm>
            <a:off x="777240" y="3977640"/>
            <a:ext cx="1920240" cy="548640"/>
          </a:xfrm>
          <a:prstGeom prst="rect">
            <a:avLst/>
          </a:prstGeom>
          <a:solidFill>
            <a:srgbClr val="2A2521"/>
          </a:solidFill>
          <a:ln/>
        </p:spPr>
        <p:txBody>
          <a:bodyPr wrap="square" lIns="0" tIns="0" rIns="0" bIns="0" rtlCol="0" anchor="ctr"/>
          <a:lstStyle/>
          <a:p>
            <a:pPr algn="ctr" indent="0" marL="0">
              <a:buNone/>
            </a:pPr>
            <a:r>
              <a:rPr lang="en-US" sz="1200" dirty="0">
                <a:solidFill>
                  <a:srgbClr val="F7F4EE"/>
                </a:solidFill>
                <a:latin typeface="Calibri" pitchFamily="34" charset="0"/>
                <a:ea typeface="Calibri" pitchFamily="34" charset="-122"/>
                <a:cs typeface="Calibri" pitchFamily="34" charset="-120"/>
              </a:rPr>
              <a:t>a stockout</a:t>
            </a:r>
            <a:endParaRPr lang="en-US" sz="1200" dirty="0"/>
          </a:p>
        </p:txBody>
      </p:sp>
      <p:sp>
        <p:nvSpPr>
          <p:cNvPr id="6" name="Text 4"/>
          <p:cNvSpPr txBox="1"/>
          <p:nvPr/>
        </p:nvSpPr>
        <p:spPr>
          <a:xfrm>
            <a:off x="2697480" y="3977640"/>
            <a:ext cx="256032" cy="548640"/>
          </a:xfrm>
          <a:prstGeom prst="rect">
            <a:avLst/>
          </a:prstGeom>
          <a:noFill/>
          <a:ln/>
        </p:spPr>
        <p:txBody>
          <a:bodyPr wrap="square" lIns="0" tIns="0" rIns="0" bIns="0" rtlCol="0" anchor="ctr"/>
          <a:lstStyle/>
          <a:p>
            <a:pPr algn="ctr" indent="0" marL="0">
              <a:buNone/>
            </a:pPr>
            <a:r>
              <a:rPr lang="en-US" sz="1400" dirty="0">
                <a:solidFill>
                  <a:srgbClr val="A32E22"/>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2953512" y="3977640"/>
            <a:ext cx="1920240" cy="548640"/>
          </a:xfrm>
          <a:prstGeom prst="rect">
            <a:avLst/>
          </a:prstGeom>
          <a:solidFill>
            <a:srgbClr val="2A2521"/>
          </a:solidFill>
          <a:ln/>
        </p:spPr>
        <p:txBody>
          <a:bodyPr wrap="square" lIns="0" tIns="0" rIns="0" bIns="0" rtlCol="0" anchor="ctr"/>
          <a:lstStyle/>
          <a:p>
            <a:pPr algn="ctr" indent="0" marL="0">
              <a:buNone/>
            </a:pPr>
            <a:r>
              <a:rPr lang="en-US" sz="1200" dirty="0">
                <a:solidFill>
                  <a:srgbClr val="F7F4EE"/>
                </a:solidFill>
                <a:latin typeface="Calibri" pitchFamily="34" charset="0"/>
                <a:ea typeface="Calibri" pitchFamily="34" charset="-122"/>
                <a:cs typeface="Calibri" pitchFamily="34" charset="-120"/>
              </a:rPr>
              <a:t>recorded sales fall</a:t>
            </a:r>
            <a:endParaRPr lang="en-US" sz="1200" dirty="0"/>
          </a:p>
        </p:txBody>
      </p:sp>
      <p:sp>
        <p:nvSpPr>
          <p:cNvPr id="8" name="Text 6"/>
          <p:cNvSpPr txBox="1"/>
          <p:nvPr/>
        </p:nvSpPr>
        <p:spPr>
          <a:xfrm>
            <a:off x="4873752" y="3977640"/>
            <a:ext cx="256032" cy="548640"/>
          </a:xfrm>
          <a:prstGeom prst="rect">
            <a:avLst/>
          </a:prstGeom>
          <a:noFill/>
          <a:ln/>
        </p:spPr>
        <p:txBody>
          <a:bodyPr wrap="square" lIns="0" tIns="0" rIns="0" bIns="0" rtlCol="0" anchor="ctr"/>
          <a:lstStyle/>
          <a:p>
            <a:pPr algn="ctr" indent="0" marL="0">
              <a:buNone/>
            </a:pPr>
            <a:r>
              <a:rPr lang="en-US" sz="1400" dirty="0">
                <a:solidFill>
                  <a:srgbClr val="A32E22"/>
                </a:solidFill>
                <a:latin typeface="Calibri" pitchFamily="34" charset="0"/>
                <a:ea typeface="Calibri" pitchFamily="34" charset="-122"/>
                <a:cs typeface="Calibri" pitchFamily="34" charset="-120"/>
              </a:rPr>
              <a:t>→</a:t>
            </a:r>
            <a:endParaRPr lang="en-US" sz="1400" dirty="0"/>
          </a:p>
        </p:txBody>
      </p:sp>
      <p:sp>
        <p:nvSpPr>
          <p:cNvPr id="9" name="Text 7"/>
          <p:cNvSpPr txBox="1"/>
          <p:nvPr/>
        </p:nvSpPr>
        <p:spPr>
          <a:xfrm>
            <a:off x="5129784" y="3977640"/>
            <a:ext cx="1920240" cy="548640"/>
          </a:xfrm>
          <a:prstGeom prst="rect">
            <a:avLst/>
          </a:prstGeom>
          <a:solidFill>
            <a:srgbClr val="2A2521"/>
          </a:solidFill>
          <a:ln/>
        </p:spPr>
        <p:txBody>
          <a:bodyPr wrap="square" lIns="0" tIns="0" rIns="0" bIns="0" rtlCol="0" anchor="ctr"/>
          <a:lstStyle/>
          <a:p>
            <a:pPr algn="ctr" indent="0" marL="0">
              <a:buNone/>
            </a:pPr>
            <a:r>
              <a:rPr lang="en-US" sz="1200" dirty="0">
                <a:solidFill>
                  <a:srgbClr val="F7F4EE"/>
                </a:solidFill>
                <a:latin typeface="Calibri" pitchFamily="34" charset="0"/>
                <a:ea typeface="Calibri" pitchFamily="34" charset="-122"/>
                <a:cs typeface="Calibri" pitchFamily="34" charset="-120"/>
              </a:rPr>
              <a:t>the forecast falls</a:t>
            </a:r>
            <a:endParaRPr lang="en-US" sz="1200" dirty="0"/>
          </a:p>
        </p:txBody>
      </p:sp>
      <p:sp>
        <p:nvSpPr>
          <p:cNvPr id="10" name="Text 8"/>
          <p:cNvSpPr txBox="1"/>
          <p:nvPr/>
        </p:nvSpPr>
        <p:spPr>
          <a:xfrm>
            <a:off x="7050024" y="3977640"/>
            <a:ext cx="256032" cy="548640"/>
          </a:xfrm>
          <a:prstGeom prst="rect">
            <a:avLst/>
          </a:prstGeom>
          <a:noFill/>
          <a:ln/>
        </p:spPr>
        <p:txBody>
          <a:bodyPr wrap="square" lIns="0" tIns="0" rIns="0" bIns="0" rtlCol="0" anchor="ctr"/>
          <a:lstStyle/>
          <a:p>
            <a:pPr algn="ctr" indent="0" marL="0">
              <a:buNone/>
            </a:pPr>
            <a:r>
              <a:rPr lang="en-US" sz="1400" dirty="0">
                <a:solidFill>
                  <a:srgbClr val="A32E22"/>
                </a:solidFill>
                <a:latin typeface="Calibri" pitchFamily="34" charset="0"/>
                <a:ea typeface="Calibri" pitchFamily="34" charset="-122"/>
                <a:cs typeface="Calibri" pitchFamily="34" charset="-120"/>
              </a:rPr>
              <a:t>→</a:t>
            </a:r>
            <a:endParaRPr lang="en-US" sz="1400" dirty="0"/>
          </a:p>
        </p:txBody>
      </p:sp>
      <p:sp>
        <p:nvSpPr>
          <p:cNvPr id="11" name="Text 9"/>
          <p:cNvSpPr txBox="1"/>
          <p:nvPr/>
        </p:nvSpPr>
        <p:spPr>
          <a:xfrm>
            <a:off x="7306056" y="3977640"/>
            <a:ext cx="1920240" cy="548640"/>
          </a:xfrm>
          <a:prstGeom prst="rect">
            <a:avLst/>
          </a:prstGeom>
          <a:solidFill>
            <a:srgbClr val="2A2521"/>
          </a:solidFill>
          <a:ln/>
        </p:spPr>
        <p:txBody>
          <a:bodyPr wrap="square" lIns="0" tIns="0" rIns="0" bIns="0" rtlCol="0" anchor="ctr"/>
          <a:lstStyle/>
          <a:p>
            <a:pPr algn="ctr" indent="0" marL="0">
              <a:buNone/>
            </a:pPr>
            <a:r>
              <a:rPr lang="en-US" sz="1200" dirty="0">
                <a:solidFill>
                  <a:srgbClr val="F7F4EE"/>
                </a:solidFill>
                <a:latin typeface="Calibri" pitchFamily="34" charset="0"/>
                <a:ea typeface="Calibri" pitchFamily="34" charset="-122"/>
                <a:cs typeface="Calibri" pitchFamily="34" charset="-120"/>
              </a:rPr>
              <a:t>the order falls</a:t>
            </a:r>
            <a:endParaRPr lang="en-US" sz="1200" dirty="0"/>
          </a:p>
        </p:txBody>
      </p:sp>
      <p:sp>
        <p:nvSpPr>
          <p:cNvPr id="12" name="Text 10"/>
          <p:cNvSpPr txBox="1"/>
          <p:nvPr/>
        </p:nvSpPr>
        <p:spPr>
          <a:xfrm>
            <a:off x="9226296" y="3977640"/>
            <a:ext cx="256032" cy="548640"/>
          </a:xfrm>
          <a:prstGeom prst="rect">
            <a:avLst/>
          </a:prstGeom>
          <a:noFill/>
          <a:ln/>
        </p:spPr>
        <p:txBody>
          <a:bodyPr wrap="square" lIns="0" tIns="0" rIns="0" bIns="0" rtlCol="0" anchor="ctr"/>
          <a:lstStyle/>
          <a:p>
            <a:pPr algn="ctr" indent="0" marL="0">
              <a:buNone/>
            </a:pPr>
            <a:r>
              <a:rPr lang="en-US" sz="1400" dirty="0">
                <a:solidFill>
                  <a:srgbClr val="A32E22"/>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9482328" y="3977640"/>
            <a:ext cx="1920240" cy="548640"/>
          </a:xfrm>
          <a:prstGeom prst="rect">
            <a:avLst/>
          </a:prstGeom>
          <a:solidFill>
            <a:srgbClr val="2A2521"/>
          </a:solidFill>
          <a:ln/>
        </p:spPr>
        <p:txBody>
          <a:bodyPr wrap="square" lIns="0" tIns="0" rIns="0" bIns="0" rtlCol="0" anchor="ctr"/>
          <a:lstStyle/>
          <a:p>
            <a:pPr algn="ctr" indent="0" marL="0">
              <a:buNone/>
            </a:pPr>
            <a:r>
              <a:rPr lang="en-US" sz="1200" dirty="0">
                <a:solidFill>
                  <a:srgbClr val="F7F4EE"/>
                </a:solidFill>
                <a:latin typeface="Calibri" pitchFamily="34" charset="0"/>
                <a:ea typeface="Calibri" pitchFamily="34" charset="-122"/>
                <a:cs typeface="Calibri" pitchFamily="34" charset="-120"/>
              </a:rPr>
              <a:t>another stockout</a:t>
            </a:r>
            <a:endParaRPr lang="en-US" sz="1200" dirty="0"/>
          </a:p>
        </p:txBody>
      </p:sp>
      <p:sp>
        <p:nvSpPr>
          <p:cNvPr id="14" name="Text 12"/>
          <p:cNvSpPr txBox="1"/>
          <p:nvPr/>
        </p:nvSpPr>
        <p:spPr>
          <a:xfrm>
            <a:off x="777240" y="4663440"/>
            <a:ext cx="5486400" cy="365760"/>
          </a:xfrm>
          <a:prstGeom prst="rect">
            <a:avLst/>
          </a:prstGeom>
          <a:noFill/>
          <a:ln/>
        </p:spPr>
        <p:txBody>
          <a:bodyPr wrap="square" lIns="0" tIns="0" rIns="0" bIns="0" rtlCol="0" anchor="ctr"/>
          <a:lstStyle/>
          <a:p>
            <a:pPr indent="0" marL="0">
              <a:buNone/>
            </a:pPr>
            <a:r>
              <a:rPr lang="en-US" sz="1200" i="1" dirty="0">
                <a:solidFill>
                  <a:srgbClr val="9A9287"/>
                </a:solidFill>
                <a:latin typeface="Calibri" pitchFamily="34" charset="0"/>
                <a:ea typeface="Calibri" pitchFamily="34" charset="-122"/>
                <a:cs typeface="Calibri" pitchFamily="34" charset="-120"/>
              </a:rPr>
              <a:t>Self-reinforcing, if left uncorrected.</a:t>
            </a:r>
            <a:endParaRPr lang="en-US" sz="1200" dirty="0"/>
          </a:p>
        </p:txBody>
      </p:sp>
      <p:sp>
        <p:nvSpPr>
          <p:cNvPr id="15" name="Text 13"/>
          <p:cNvSpPr txBox="1"/>
          <p:nvPr/>
        </p:nvSpPr>
        <p:spPr>
          <a:xfrm>
            <a:off x="777240" y="5257800"/>
            <a:ext cx="10058400" cy="1143000"/>
          </a:xfrm>
          <a:prstGeom prst="rect">
            <a:avLst/>
          </a:prstGeom>
          <a:noFill/>
          <a:ln/>
        </p:spPr>
        <p:txBody>
          <a:bodyPr wrap="square" lIns="0" tIns="0" rIns="0" bIns="0" rtlCol="0" anchor="ctr"/>
          <a:lstStyle/>
          <a:p>
            <a:pPr indent="0" marL="0">
              <a:lnSpc>
                <a:spcPts val="2200"/>
              </a:lnSpc>
              <a:buNone/>
            </a:pPr>
            <a:r>
              <a:rPr lang="en-US" sz="1400" dirty="0">
                <a:solidFill>
                  <a:srgbClr val="C9C2B6"/>
                </a:solidFill>
                <a:latin typeface="Calibri" pitchFamily="34" charset="0"/>
                <a:ea typeface="Calibri" pitchFamily="34" charset="-122"/>
                <a:cs typeface="Calibri" pitchFamily="34" charset="-120"/>
              </a:rPr>
              <a:t>What we do: flag days where sales hit a suspicious ceiling and treat them as censored.</a:t>
            </a:r>
            <a:endParaRPr lang="en-US" sz="1400" dirty="0"/>
          </a:p>
          <a:p>
            <a:pPr indent="0" marL="0">
              <a:lnSpc>
                <a:spcPts val="2200"/>
              </a:lnSpc>
              <a:buNone/>
            </a:pPr>
            <a:r>
              <a:rPr lang="en-US" sz="1400" dirty="0">
                <a:solidFill>
                  <a:srgbClr val="C9C2B6"/>
                </a:solidFill>
                <a:latin typeface="Calibri" pitchFamily="34" charset="0"/>
                <a:ea typeface="Calibri" pitchFamily="34" charset="-122"/>
                <a:cs typeface="Calibri" pitchFamily="34" charset="-120"/>
              </a:rPr>
              <a:t>What we cannot do: verify it — this dataset has no on-hand-stock column.</a:t>
            </a:r>
            <a:endParaRPr lang="en-US" sz="1400" dirty="0"/>
          </a:p>
          <a:p>
            <a:pPr indent="0" marL="0">
              <a:lnSpc>
                <a:spcPts val="2200"/>
              </a:lnSpc>
              <a:buNone/>
            </a:pPr>
            <a:r>
              <a:rPr lang="en-US" sz="1400" dirty="0">
                <a:solidFill>
                  <a:srgbClr val="C9C2B6"/>
                </a:solidFill>
                <a:latin typeface="Calibri" pitchFamily="34" charset="0"/>
                <a:ea typeface="Calibri" pitchFamily="34" charset="-122"/>
                <a:cs typeface="Calibri" pitchFamily="34" charset="-120"/>
              </a:rPr>
              <a:t>It is named in the model card, and it is the first thing a real deployment fixes.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10D"/>
        </a:solidFill>
      </p:bgPr>
    </p:bg>
    <p:spTree>
      <p:nvGrpSpPr>
        <p:cNvPr id="1" name=""/>
        <p:cNvGrpSpPr/>
        <p:nvPr/>
      </p:nvGrpSpPr>
      <p:grpSpPr>
        <a:xfrm>
          <a:off x="0" y="0"/>
          <a:ext cx="0" cy="0"/>
          <a:chOff x="0" y="0"/>
          <a:chExt cx="0" cy="0"/>
        </a:xfrm>
      </p:grpSpPr>
      <p:sp>
        <p:nvSpPr>
          <p:cNvPr id="2" name="Text 0"/>
          <p:cNvSpPr txBox="1"/>
          <p:nvPr/>
        </p:nvSpPr>
        <p:spPr>
          <a:xfrm>
            <a:off x="777240" y="457200"/>
            <a:ext cx="10637215" cy="274320"/>
          </a:xfrm>
          <a:prstGeom prst="rect">
            <a:avLst/>
          </a:prstGeom>
          <a:noFill/>
          <a:ln/>
        </p:spPr>
        <p:txBody>
          <a:bodyPr wrap="square" lIns="0" tIns="0" rIns="0" bIns="0" rtlCol="0" anchor="ctr"/>
          <a:lstStyle/>
          <a:p>
            <a:pPr indent="0" marL="0">
              <a:buNone/>
            </a:pPr>
            <a:r>
              <a:rPr lang="en-US" sz="1100" spc="220" kern="0" dirty="0">
                <a:solidFill>
                  <a:srgbClr val="6B6459"/>
                </a:solidFill>
                <a:latin typeface="Courier New" pitchFamily="34" charset="0"/>
                <a:ea typeface="Courier New" pitchFamily="34" charset="-122"/>
                <a:cs typeface="Courier New" pitchFamily="34" charset="-120"/>
              </a:rPr>
              <a:t>IN CONCLUSION</a:t>
            </a:r>
            <a:endParaRPr lang="en-US" sz="1100" dirty="0"/>
          </a:p>
        </p:txBody>
      </p:sp>
      <p:sp>
        <p:nvSpPr>
          <p:cNvPr id="3" name="Text 1"/>
          <p:cNvSpPr txBox="1"/>
          <p:nvPr/>
        </p:nvSpPr>
        <p:spPr>
          <a:xfrm>
            <a:off x="777240" y="960120"/>
            <a:ext cx="10424160" cy="777240"/>
          </a:xfrm>
          <a:prstGeom prst="rect">
            <a:avLst/>
          </a:prstGeom>
          <a:noFill/>
          <a:ln/>
        </p:spPr>
        <p:txBody>
          <a:bodyPr wrap="square" lIns="0" tIns="0" rIns="0" bIns="0" rtlCol="0" anchor="ctr"/>
          <a:lstStyle/>
          <a:p>
            <a:pPr indent="0" marL="0">
              <a:buNone/>
            </a:pPr>
            <a:r>
              <a:rPr lang="en-US" sz="3800" dirty="0">
                <a:solidFill>
                  <a:srgbClr val="6B6459"/>
                </a:solidFill>
                <a:latin typeface="Cambria" pitchFamily="34" charset="0"/>
                <a:ea typeface="Cambria" pitchFamily="34" charset="-122"/>
                <a:cs typeface="Cambria" pitchFamily="34" charset="-120"/>
              </a:rPr>
              <a:t>Every pharmacy guesses how much to order.</a:t>
            </a:r>
            <a:endParaRPr lang="en-US" sz="3800" dirty="0"/>
          </a:p>
        </p:txBody>
      </p:sp>
      <p:sp>
        <p:nvSpPr>
          <p:cNvPr id="4" name="Text 2"/>
          <p:cNvSpPr txBox="1"/>
          <p:nvPr/>
        </p:nvSpPr>
        <p:spPr>
          <a:xfrm>
            <a:off x="777240" y="1737360"/>
            <a:ext cx="10424160" cy="1691640"/>
          </a:xfrm>
          <a:prstGeom prst="rect">
            <a:avLst/>
          </a:prstGeom>
          <a:noFill/>
          <a:ln/>
        </p:spPr>
        <p:txBody>
          <a:bodyPr wrap="square" lIns="0" tIns="0" rIns="0" bIns="0" rtlCol="0" anchor="ctr"/>
          <a:lstStyle/>
          <a:p>
            <a:pPr indent="0" marL="0">
              <a:lnSpc>
                <a:spcPts val="4400"/>
              </a:lnSpc>
              <a:buNone/>
            </a:pPr>
            <a:r>
              <a:rPr lang="en-US" sz="3400" dirty="0">
                <a:solidFill>
                  <a:srgbClr val="F7F4EE"/>
                </a:solidFill>
                <a:latin typeface="Cambria" pitchFamily="34" charset="0"/>
                <a:ea typeface="Cambria" pitchFamily="34" charset="-122"/>
                <a:cs typeface="Cambria" pitchFamily="34" charset="-120"/>
              </a:rPr>
              <a:t>We calculate it — with the odds,</a:t>
            </a:r>
            <a:endParaRPr lang="en-US" sz="3400" dirty="0"/>
          </a:p>
          <a:p>
            <a:pPr indent="0" marL="0">
              <a:lnSpc>
                <a:spcPts val="4400"/>
              </a:lnSpc>
              <a:buNone/>
            </a:pPr>
            <a:r>
              <a:rPr lang="en-US" sz="3400" dirty="0">
                <a:solidFill>
                  <a:srgbClr val="F7F4EE"/>
                </a:solidFill>
                <a:latin typeface="Cambria" pitchFamily="34" charset="0"/>
                <a:ea typeface="Cambria" pitchFamily="34" charset="-122"/>
                <a:cs typeface="Cambria" pitchFamily="34" charset="-120"/>
              </a:rPr>
              <a:t>the cost of being wrong, and</a:t>
            </a:r>
            <a:endParaRPr lang="en-US" sz="3400" dirty="0"/>
          </a:p>
          <a:p>
            <a:pPr indent="0" marL="0">
              <a:lnSpc>
                <a:spcPts val="4400"/>
              </a:lnSpc>
              <a:buNone/>
            </a:pPr>
            <a:r>
              <a:rPr lang="en-US" sz="3400" dirty="0">
                <a:solidFill>
                  <a:srgbClr val="F7F4EE"/>
                </a:solidFill>
                <a:latin typeface="Cambria" pitchFamily="34" charset="0"/>
                <a:ea typeface="Cambria" pitchFamily="34" charset="-122"/>
                <a:cs typeface="Cambria" pitchFamily="34" charset="-120"/>
              </a:rPr>
              <a:t>the reason behind the number.</a:t>
            </a:r>
            <a:endParaRPr lang="en-US" sz="3400" dirty="0"/>
          </a:p>
        </p:txBody>
      </p:sp>
      <p:sp>
        <p:nvSpPr>
          <p:cNvPr id="5" name="Text 3"/>
          <p:cNvSpPr txBox="1"/>
          <p:nvPr/>
        </p:nvSpPr>
        <p:spPr>
          <a:xfrm>
            <a:off x="777240" y="3749040"/>
            <a:ext cx="1737360" cy="320040"/>
          </a:xfrm>
          <a:prstGeom prst="rect">
            <a:avLst/>
          </a:prstGeom>
          <a:noFill/>
          <a:ln/>
        </p:spPr>
        <p:txBody>
          <a:bodyPr wrap="square" lIns="0" tIns="0" rIns="0" bIns="0" rtlCol="0" anchor="ctr"/>
          <a:lstStyle/>
          <a:p>
            <a:pPr indent="0" marL="0">
              <a:buNone/>
            </a:pPr>
            <a:r>
              <a:rPr lang="en-US" sz="1400" b="1" dirty="0">
                <a:solidFill>
                  <a:srgbClr val="5FD39B"/>
                </a:solidFill>
                <a:latin typeface="Calibri" pitchFamily="34" charset="0"/>
                <a:ea typeface="Calibri" pitchFamily="34" charset="-122"/>
                <a:cs typeface="Calibri" pitchFamily="34" charset="-120"/>
              </a:rPr>
              <a:t>It forecasts</a:t>
            </a:r>
            <a:endParaRPr lang="en-US" sz="1400" dirty="0"/>
          </a:p>
        </p:txBody>
      </p:sp>
      <p:sp>
        <p:nvSpPr>
          <p:cNvPr id="6" name="Text 4"/>
          <p:cNvSpPr txBox="1"/>
          <p:nvPr/>
        </p:nvSpPr>
        <p:spPr>
          <a:xfrm>
            <a:off x="2606040" y="3749040"/>
            <a:ext cx="8595360" cy="502920"/>
          </a:xfrm>
          <a:prstGeom prst="rect">
            <a:avLst/>
          </a:prstGeom>
          <a:noFill/>
          <a:ln/>
        </p:spPr>
        <p:txBody>
          <a:bodyPr wrap="square" lIns="0" tIns="0" rIns="0" bIns="0" rtlCol="0" anchor="ctr"/>
          <a:lstStyle/>
          <a:p>
            <a:pPr indent="0" marL="0">
              <a:lnSpc>
                <a:spcPts val="1700"/>
              </a:lnSpc>
              <a:buNone/>
            </a:pPr>
            <a:r>
              <a:rPr lang="en-US" sz="1300" dirty="0">
                <a:solidFill>
                  <a:srgbClr val="C9C2B6"/>
                </a:solidFill>
                <a:latin typeface="Calibri" pitchFamily="34" charset="0"/>
                <a:ea typeface="Calibri" pitchFamily="34" charset="-122"/>
                <a:cs typeface="Calibri" pitchFamily="34" charset="-120"/>
              </a:rPr>
              <a:t>MASE 0.907 — 18.8% better than the seasonal-naive benchmark, over 4 rolling-origin folds.</a:t>
            </a:r>
            <a:endParaRPr lang="en-US" sz="1300" dirty="0"/>
          </a:p>
        </p:txBody>
      </p:sp>
      <p:sp>
        <p:nvSpPr>
          <p:cNvPr id="7" name="Text 5"/>
          <p:cNvSpPr txBox="1"/>
          <p:nvPr/>
        </p:nvSpPr>
        <p:spPr>
          <a:xfrm>
            <a:off x="777240" y="4343400"/>
            <a:ext cx="1737360" cy="320040"/>
          </a:xfrm>
          <a:prstGeom prst="rect">
            <a:avLst/>
          </a:prstGeom>
          <a:noFill/>
          <a:ln/>
        </p:spPr>
        <p:txBody>
          <a:bodyPr wrap="square" lIns="0" tIns="0" rIns="0" bIns="0" rtlCol="0" anchor="ctr"/>
          <a:lstStyle/>
          <a:p>
            <a:pPr indent="0" marL="0">
              <a:buNone/>
            </a:pPr>
            <a:r>
              <a:rPr lang="en-US" sz="1400" b="1" dirty="0">
                <a:solidFill>
                  <a:srgbClr val="5FD39B"/>
                </a:solidFill>
                <a:latin typeface="Calibri" pitchFamily="34" charset="0"/>
                <a:ea typeface="Calibri" pitchFamily="34" charset="-122"/>
                <a:cs typeface="Calibri" pitchFamily="34" charset="-120"/>
              </a:rPr>
              <a:t>It decides</a:t>
            </a:r>
            <a:endParaRPr lang="en-US" sz="1400" dirty="0"/>
          </a:p>
        </p:txBody>
      </p:sp>
      <p:sp>
        <p:nvSpPr>
          <p:cNvPr id="8" name="Text 6"/>
          <p:cNvSpPr txBox="1"/>
          <p:nvPr/>
        </p:nvSpPr>
        <p:spPr>
          <a:xfrm>
            <a:off x="2606040" y="4343400"/>
            <a:ext cx="8595360" cy="502920"/>
          </a:xfrm>
          <a:prstGeom prst="rect">
            <a:avLst/>
          </a:prstGeom>
          <a:noFill/>
          <a:ln/>
        </p:spPr>
        <p:txBody>
          <a:bodyPr wrap="square" lIns="0" tIns="0" rIns="0" bIns="0" rtlCol="0" anchor="ctr"/>
          <a:lstStyle/>
          <a:p>
            <a:pPr indent="0" marL="0">
              <a:lnSpc>
                <a:spcPts val="1700"/>
              </a:lnSpc>
              <a:buNone/>
            </a:pPr>
            <a:r>
              <a:rPr lang="en-US" sz="1300" dirty="0">
                <a:solidFill>
                  <a:srgbClr val="C9C2B6"/>
                </a:solidFill>
                <a:latin typeface="Calibri" pitchFamily="34" charset="0"/>
                <a:ea typeface="Calibri" pitchFamily="34" charset="-122"/>
                <a:cs typeface="Calibri" pitchFamily="34" charset="-120"/>
              </a:rPr>
              <a:t>The forecast becomes a purchase order through the newsvendor fractile, sized against the full protection interval.</a:t>
            </a:r>
            <a:endParaRPr lang="en-US" sz="1300" dirty="0"/>
          </a:p>
        </p:txBody>
      </p:sp>
      <p:sp>
        <p:nvSpPr>
          <p:cNvPr id="9" name="Text 7"/>
          <p:cNvSpPr txBox="1"/>
          <p:nvPr/>
        </p:nvSpPr>
        <p:spPr>
          <a:xfrm>
            <a:off x="777240" y="4937760"/>
            <a:ext cx="1737360" cy="320040"/>
          </a:xfrm>
          <a:prstGeom prst="rect">
            <a:avLst/>
          </a:prstGeom>
          <a:noFill/>
          <a:ln/>
        </p:spPr>
        <p:txBody>
          <a:bodyPr wrap="square" lIns="0" tIns="0" rIns="0" bIns="0" rtlCol="0" anchor="ctr"/>
          <a:lstStyle/>
          <a:p>
            <a:pPr indent="0" marL="0">
              <a:buNone/>
            </a:pPr>
            <a:r>
              <a:rPr lang="en-US" sz="1400" b="1" dirty="0">
                <a:solidFill>
                  <a:srgbClr val="5FD39B"/>
                </a:solidFill>
                <a:latin typeface="Calibri" pitchFamily="34" charset="0"/>
                <a:ea typeface="Calibri" pitchFamily="34" charset="-122"/>
                <a:cs typeface="Calibri" pitchFamily="34" charset="-120"/>
              </a:rPr>
              <a:t>It is honest</a:t>
            </a:r>
            <a:endParaRPr lang="en-US" sz="1400" dirty="0"/>
          </a:p>
        </p:txBody>
      </p:sp>
      <p:sp>
        <p:nvSpPr>
          <p:cNvPr id="10" name="Text 8"/>
          <p:cNvSpPr txBox="1"/>
          <p:nvPr/>
        </p:nvSpPr>
        <p:spPr>
          <a:xfrm>
            <a:off x="2606040" y="4937760"/>
            <a:ext cx="8595360" cy="502920"/>
          </a:xfrm>
          <a:prstGeom prst="rect">
            <a:avLst/>
          </a:prstGeom>
          <a:noFill/>
          <a:ln/>
        </p:spPr>
        <p:txBody>
          <a:bodyPr wrap="square" lIns="0" tIns="0" rIns="0" bIns="0" rtlCol="0" anchor="ctr"/>
          <a:lstStyle/>
          <a:p>
            <a:pPr indent="0" marL="0">
              <a:lnSpc>
                <a:spcPts val="1700"/>
              </a:lnSpc>
              <a:buNone/>
            </a:pPr>
            <a:r>
              <a:rPr lang="en-US" sz="1300" dirty="0">
                <a:solidFill>
                  <a:srgbClr val="C9C2B6"/>
                </a:solidFill>
                <a:latin typeface="Calibri" pitchFamily="34" charset="0"/>
                <a:ea typeface="Calibri" pitchFamily="34" charset="-122"/>
                <a:cs typeface="Calibri" pitchFamily="34" charset="-120"/>
              </a:rPr>
              <a:t>Calibration measured and corrected, the two series where it loses shown inside the product, and the censoring limitation named.</a:t>
            </a:r>
            <a:endParaRPr lang="en-US" sz="1300" dirty="0"/>
          </a:p>
        </p:txBody>
      </p:sp>
      <p:sp>
        <p:nvSpPr>
          <p:cNvPr id="11" name="Text 9"/>
          <p:cNvSpPr txBox="1"/>
          <p:nvPr/>
        </p:nvSpPr>
        <p:spPr>
          <a:xfrm>
            <a:off x="777240" y="5532120"/>
            <a:ext cx="1737360" cy="320040"/>
          </a:xfrm>
          <a:prstGeom prst="rect">
            <a:avLst/>
          </a:prstGeom>
          <a:noFill/>
          <a:ln/>
        </p:spPr>
        <p:txBody>
          <a:bodyPr wrap="square" lIns="0" tIns="0" rIns="0" bIns="0" rtlCol="0" anchor="ctr"/>
          <a:lstStyle/>
          <a:p>
            <a:pPr indent="0" marL="0">
              <a:buNone/>
            </a:pPr>
            <a:r>
              <a:rPr lang="en-US" sz="1400" b="1" dirty="0">
                <a:solidFill>
                  <a:srgbClr val="5FD39B"/>
                </a:solidFill>
                <a:latin typeface="Calibri" pitchFamily="34" charset="0"/>
                <a:ea typeface="Calibri" pitchFamily="34" charset="-122"/>
                <a:cs typeface="Calibri" pitchFamily="34" charset="-120"/>
              </a:rPr>
              <a:t>It is real</a:t>
            </a:r>
            <a:endParaRPr lang="en-US" sz="1400" dirty="0"/>
          </a:p>
        </p:txBody>
      </p:sp>
      <p:sp>
        <p:nvSpPr>
          <p:cNvPr id="12" name="Text 10"/>
          <p:cNvSpPr txBox="1"/>
          <p:nvPr/>
        </p:nvSpPr>
        <p:spPr>
          <a:xfrm>
            <a:off x="2606040" y="5532120"/>
            <a:ext cx="8595360" cy="502920"/>
          </a:xfrm>
          <a:prstGeom prst="rect">
            <a:avLst/>
          </a:prstGeom>
          <a:noFill/>
          <a:ln/>
        </p:spPr>
        <p:txBody>
          <a:bodyPr wrap="square" lIns="0" tIns="0" rIns="0" bIns="0" rtlCol="0" anchor="ctr"/>
          <a:lstStyle/>
          <a:p>
            <a:pPr indent="0" marL="0">
              <a:lnSpc>
                <a:spcPts val="1700"/>
              </a:lnSpc>
              <a:buNone/>
            </a:pPr>
            <a:r>
              <a:rPr lang="en-US" sz="1300" dirty="0">
                <a:solidFill>
                  <a:srgbClr val="C9C2B6"/>
                </a:solidFill>
                <a:latin typeface="Calibri" pitchFamily="34" charset="0"/>
                <a:ea typeface="Calibri" pitchFamily="34" charset="-122"/>
                <a:cs typeface="Calibri" pitchFamily="34" charset="-120"/>
              </a:rPr>
              <a:t>138 tests, a benchmark that reruns from a clean clone in CI, and docker compose up.</a:t>
            </a:r>
            <a:endParaRPr lang="en-US" sz="1300" dirty="0"/>
          </a:p>
        </p:txBody>
      </p:sp>
      <p:sp>
        <p:nvSpPr>
          <p:cNvPr id="13" name="Text 11"/>
          <p:cNvSpPr txBox="1"/>
          <p:nvPr/>
        </p:nvSpPr>
        <p:spPr>
          <a:xfrm>
            <a:off x="777240" y="6144768"/>
            <a:ext cx="10424160" cy="256032"/>
          </a:xfrm>
          <a:prstGeom prst="rect">
            <a:avLst/>
          </a:prstGeom>
          <a:noFill/>
          <a:ln/>
        </p:spPr>
        <p:txBody>
          <a:bodyPr wrap="square" lIns="0" tIns="0" rIns="0" bIns="0" rtlCol="0" anchor="ctr"/>
          <a:lstStyle/>
          <a:p>
            <a:pPr indent="0" marL="0">
              <a:buNone/>
            </a:pPr>
            <a:r>
              <a:rPr lang="en-US" sz="1050" spc="120" kern="0" dirty="0">
                <a:solidFill>
                  <a:srgbClr val="6B6459"/>
                </a:solidFill>
                <a:latin typeface="Courier New" pitchFamily="34" charset="0"/>
                <a:ea typeface="Courier New" pitchFamily="34" charset="-122"/>
                <a:cs typeface="Courier New" pitchFamily="34" charset="-120"/>
              </a:rPr>
              <a:t>github.com/yashdoke7/pharmapulse    ·    docs/PHARMAPULSE_SYSTEM.md    ·    docs/ARCHITECTURE_DELTA.md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PharmaPulse — forecast to purchase order</dc:title>
  <dc:subject>PptxGenJS Presentation</dc:subject>
  <dc:creator>PharmaPulse</dc:creator>
  <cp:lastModifiedBy>PharmaPulse</cp:lastModifiedBy>
  <cp:revision>1</cp:revision>
  <dcterms:created xsi:type="dcterms:W3CDTF">2026-09-02T16:20:36Z</dcterms:created>
  <dcterms:modified xsi:type="dcterms:W3CDTF">2026-09-02T16:20:36Z</dcterms:modified>
</cp:coreProperties>
</file>