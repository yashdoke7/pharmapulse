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here. Do not read the slide. Say: every pharmacy makes this decision every week, from memory or a spreadsheet - this is what it looks like when you calculate it instead. The USP is the last box in the chain.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at the zero. Everything a judge will ask - where did the cost data come from, how do you know the stock level - traces back to that row, and the lanes slide is the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maths is not the novelty. Shipping it - wiring a real cost ratio into a real order quantity, and showing the buyer the cost of one pack either side - 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Name the buyer first. The whole product is built for ten minutes on a Monday morning; the other two roles exist so that somebody will let the buyer use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narrate the screen. One sentence - it opens on what needs a decision, ranked by rupees - then move. The live demo is where this lands.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demo moment. Drag from 80 to 95 and let them watch the quantity and the cost move together. Then say: that is the newsvendor formula from three slides ago, and nothing was fetched.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honest slide. Every architecture presentation shows the design; this one shows the build and names the difference out loud. Component-by-component delta is in docs/ARCHITECTURE_DELTA.md - 4 removed, 1 merged, 2 moved, 5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 judge asks about latency or scale, this is the slide. The store is immutable per version and the pointer swap is atomic, so publishing during a live demo cannot corrupt a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architectural choice traces to a measured property of the file. This is what stops it being a generic pipeline with a pharma label on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converts the project's biggest vulnerability into its most credible feature. Say it before a judge asks where the cost data came from.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the benchmark, not with our number. SeasonalNaive is hard to beat on retail pharmacy data, and any team that does not name its baseline is hiding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strongest slide in the deck. 'We tested the obvious approach and it lost' is a result. 'We averaged some models' is not - same code, different claim.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teams never check calibration at all. Point out that the diagram lives in the product, not just the deck - the buyer can see it too.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windows are in the product: Jan-Mar 2019 at 69.5%, Apr-Jun 2019 at 64.3%, Oct-Dec 2018 at 75.5%. Show a second one live so it is obviously not one cherry-picked quarter.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this before anyone finds it. A team that reports only wins gets discounted, and experienced judges do that quickly.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Saying this out loud is the strongest thing in the presentation. It bounds every claim the system makes, and volunteering it separates a team that measured from a team that demoed.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on the claim and take questions. Do not add a thank-you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1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20" kern="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COGNIZANT CAMPUS DRIVE · HEALTHCARE · PHARMA SALES ANALYSIS &amp; FORECASTING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9728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dirty="0">
                <a:solidFill>
                  <a:srgbClr val="F7F4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PharmaPulse</a:t>
            </a:r>
            <a:endParaRPr lang="en-US" sz="6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33172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300" i="1" dirty="0">
                <a:solidFill>
                  <a:srgbClr val="C9C2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pharmacy guesses how much to order.</a:t>
            </a:r>
            <a:endParaRPr lang="en-US" sz="23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300" i="1" dirty="0">
                <a:solidFill>
                  <a:srgbClr val="C9C2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calculate it — with the odds, the cost of being wrong,</a:t>
            </a:r>
            <a:endParaRPr lang="en-US" sz="23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300" i="1" dirty="0">
                <a:solidFill>
                  <a:srgbClr val="C9C2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the reason behind the number.</a:t>
            </a:r>
            <a:endParaRPr lang="en-US" sz="23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886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220" kern="0" dirty="0">
                <a:solidFill>
                  <a:srgbClr val="6B64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PROPOSED SOLUTION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224528"/>
            <a:ext cx="1691640" cy="658368"/>
          </a:xfrm>
          <a:prstGeom prst="rect">
            <a:avLst/>
          </a:prstGeom>
          <a:solidFill>
            <a:srgbClr val="2A252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7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years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7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real sales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2468880" y="4224528"/>
            <a:ext cx="274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FD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743200" y="4224528"/>
            <a:ext cx="1691640" cy="658368"/>
          </a:xfrm>
          <a:prstGeom prst="rect">
            <a:avLst/>
          </a:prstGeom>
          <a:solidFill>
            <a:srgbClr val="2A252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7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demand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7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434840" y="4224528"/>
            <a:ext cx="274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FD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709160" y="4224528"/>
            <a:ext cx="1691640" cy="658368"/>
          </a:xfrm>
          <a:prstGeom prst="rect">
            <a:avLst/>
          </a:prstGeom>
          <a:solidFill>
            <a:srgbClr val="2A252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7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intervals we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7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checked and fixed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4224528"/>
            <a:ext cx="274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FD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675120" y="4224528"/>
            <a:ext cx="1691640" cy="658368"/>
          </a:xfrm>
          <a:prstGeom prst="rect">
            <a:avLst/>
          </a:prstGeom>
          <a:solidFill>
            <a:srgbClr val="5FD39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411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purchase order,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411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packs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549640" y="4224528"/>
            <a:ext cx="2880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9A92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every tool in this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9A92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stops after box two.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5257800"/>
            <a:ext cx="3291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7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0.907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5870448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9A92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 MASE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9A92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18.8% better than the benchmark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343400" y="5257800"/>
            <a:ext cx="3291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7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69.5%</a:t>
            </a:r>
            <a:endParaRPr lang="en-US" sz="3200" dirty="0"/>
          </a:p>
        </p:txBody>
      </p:sp>
      <p:sp>
        <p:nvSpPr>
          <p:cNvPr id="17" name="Text 15"/>
          <p:cNvSpPr txBox="1"/>
          <p:nvPr/>
        </p:nvSpPr>
        <p:spPr>
          <a:xfrm>
            <a:off x="4343400" y="5870448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9A92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inventory cost than a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9A92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min/max policy, replayed on real days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909560" y="5257800"/>
            <a:ext cx="3291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7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138</a:t>
            </a:r>
            <a:endParaRPr lang="en-US" sz="3200" dirty="0"/>
          </a:p>
        </p:txBody>
      </p:sp>
      <p:sp>
        <p:nvSpPr>
          <p:cNvPr id="19" name="Text 17"/>
          <p:cNvSpPr txBox="1"/>
          <p:nvPr/>
        </p:nvSpPr>
        <p:spPr>
          <a:xfrm>
            <a:off x="7909560" y="5870448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9A92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tests, and a benchmark that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9A92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reruns from a clean clone in CI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20" kern="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 CASE #14 · WHAT WAS ASKED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63721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56"/>
              </a:lnSpc>
              <a:buNone/>
            </a:pPr>
            <a:r>
              <a:rPr lang="en-US" sz="3800" dirty="0">
                <a:solidFill>
                  <a:srgbClr val="1411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Analyse pharmaceutical sales.</a:t>
            </a:r>
            <a:endParaRPr lang="en-US" sz="3800" dirty="0"/>
          </a:p>
          <a:p>
            <a:pPr indent="0" marL="0">
              <a:lnSpc>
                <a:spcPts val="4256"/>
              </a:lnSpc>
              <a:buNone/>
            </a:pPr>
            <a:r>
              <a:rPr lang="en-US" sz="3800" dirty="0">
                <a:solidFill>
                  <a:srgbClr val="1411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Forecast future demand.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77240" y="2514600"/>
            <a:ext cx="5120640" cy="3108960"/>
          </a:xfrm>
          <a:prstGeom prst="rect">
            <a:avLst/>
          </a:prstGeom>
          <a:solidFill>
            <a:srgbClr val="FCFAF6"/>
          </a:solidFill>
          <a:ln w="12700">
            <a:solidFill>
              <a:srgbClr val="E4DF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9848" y="27157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200" kern="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BRIEF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1069848" y="3035808"/>
            <a:ext cx="4526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3B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historical pharmaceutical sales, identify demand patterns and seasonality, and forecast future sales so that inventory can be planned.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69848" y="4069080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200" kern="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WE READ IT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1069848" y="4389120"/>
            <a:ext cx="4526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1411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“So that inventory can be planned” is the actual deliverable. A forecast nobody can act on is a chart. We took the brief to its end — the purchase order.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46520" y="2514600"/>
            <a:ext cx="4983480" cy="3108960"/>
          </a:xfrm>
          <a:prstGeom prst="rect">
            <a:avLst/>
          </a:prstGeom>
          <a:solidFill>
            <a:srgbClr val="FCFAF6"/>
          </a:solidFill>
          <a:ln w="12700">
            <a:solidFill>
              <a:srgbClr val="E4DFD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39128" y="271576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200" kern="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DATA WE WERE GIVEN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739128" y="3127248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14110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2,106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8001000" y="3191256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· 1 Jan 2014 to 8 Oct 2019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6739128" y="3730752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14110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001000" y="3794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ATC drug categories, sold in fractional units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739128" y="4334256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14110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8001000" y="4398264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grains — daily, weekly, monthly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739128" y="493776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A32E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001000" y="500176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columns for stock, price, promotion or cost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80644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20"/>
              </a:lnSpc>
              <a:buNone/>
            </a:pPr>
            <a:r>
              <a:rPr lang="en-US" sz="1200" i="1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 · Pharma Sales Data (milanzdravkovic) — a real pharmacy's point-of-sale export. That last row is the constraint the whole architecture is built around.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20" kern="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DECISION UNDERNEATH THE FORECAST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63721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56"/>
              </a:lnSpc>
              <a:buNone/>
            </a:pPr>
            <a:r>
              <a:rPr lang="en-US" sz="3800" dirty="0">
                <a:solidFill>
                  <a:srgbClr val="1411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Getting it wrong costs money</a:t>
            </a:r>
            <a:endParaRPr lang="en-US" sz="3800" dirty="0"/>
          </a:p>
          <a:p>
            <a:pPr indent="0" marL="0">
              <a:lnSpc>
                <a:spcPts val="4256"/>
              </a:lnSpc>
              <a:buNone/>
            </a:pPr>
            <a:r>
              <a:rPr lang="en-US" sz="3800" dirty="0">
                <a:solidFill>
                  <a:srgbClr val="1411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two directions at once.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77240" y="2560320"/>
            <a:ext cx="4983480" cy="2011680"/>
          </a:xfrm>
          <a:prstGeom prst="rect">
            <a:avLst/>
          </a:prstGeom>
          <a:solidFill>
            <a:srgbClr val="FCFAF6"/>
          </a:solidFill>
          <a:ln w="12700">
            <a:solidFill>
              <a:srgbClr val="E4DF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9848" y="27432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A32E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965960" y="2807208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411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Order too little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1069848" y="3310128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3B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patient asks for a medicine you do not have. They go to the pharmacy across the road.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69848" y="4005072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A32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lost gross margin — and often the customer, permanently.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46520" y="2560320"/>
            <a:ext cx="4983480" cy="2011680"/>
          </a:xfrm>
          <a:prstGeom prst="rect">
            <a:avLst/>
          </a:prstGeom>
          <a:solidFill>
            <a:srgbClr val="FCFAF6"/>
          </a:solidFill>
          <a:ln w="12700">
            <a:solidFill>
              <a:srgbClr val="E4DFD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39128" y="27432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4E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7635240" y="2807208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411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Order too much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6739128" y="3310128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3B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sits on a shelf. Medicines reach their expiry date.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739128" y="4005072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C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Holding cost on the capital, plus a total write-off at expiry.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77240" y="4846320"/>
            <a:ext cx="10637215" cy="1280160"/>
          </a:xfrm>
          <a:prstGeom prst="rect">
            <a:avLst/>
          </a:prstGeom>
          <a:solidFill>
            <a:srgbClr val="EFEBE2"/>
          </a:solidFill>
          <a:ln w="12700">
            <a:solidFill>
              <a:srgbClr val="14110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43000" y="513892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10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q*  =  Cu / (Cu + Co)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5623560" y="4983480"/>
            <a:ext cx="5760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3B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newsvendor fractile — a hundred years old, and exact. If a shortage costs 3× an excess, order the quantity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3B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exceed only one week in four. Closed form, which is why the slider in the product recomputes with no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3B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call at all.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20" kern="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WHO THIS IS FOR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63721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8"/>
              </a:lnSpc>
              <a:buNone/>
            </a:pPr>
            <a:r>
              <a:rPr lang="en-US" sz="3400" dirty="0">
                <a:solidFill>
                  <a:srgbClr val="1411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people open it, and each one</a:t>
            </a:r>
            <a:endParaRPr lang="en-US" sz="3400" dirty="0"/>
          </a:p>
          <a:p>
            <a:pPr indent="0" marL="0">
              <a:lnSpc>
                <a:spcPts val="3808"/>
              </a:lnSpc>
              <a:buNone/>
            </a:pPr>
            <a:r>
              <a:rPr lang="en-US" sz="3400" dirty="0">
                <a:solidFill>
                  <a:srgbClr val="1411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opens a different screen.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2514600"/>
            <a:ext cx="3291840" cy="3246120"/>
          </a:xfrm>
          <a:prstGeom prst="rect">
            <a:avLst/>
          </a:prstGeom>
          <a:solidFill>
            <a:srgbClr val="FCFAF6"/>
          </a:solidFill>
          <a:ln w="12700">
            <a:solidFill>
              <a:srgbClr val="E4DFD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514600"/>
            <a:ext cx="3291840" cy="50292"/>
          </a:xfrm>
          <a:prstGeom prst="rect">
            <a:avLst/>
          </a:prstGeom>
          <a:solidFill>
            <a:srgbClr val="A32E22"/>
          </a:solidFill>
          <a:ln w="12700">
            <a:solidFill>
              <a:srgbClr val="A32E2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33272" y="2743200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411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purchasing buyer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1033272" y="3182112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MONDAY MORNING · TEN MINUTES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33272" y="3529584"/>
            <a:ext cx="2788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i="1" dirty="0">
                <a:solidFill>
                  <a:srgbClr val="A32E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“What do I order this week?”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033272" y="4315968"/>
            <a:ext cx="2788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B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quantity, in packs, with the money at risk if they ignore it. Not a chart.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33272" y="534924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4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Decisions → Order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89120" y="2514600"/>
            <a:ext cx="3291840" cy="3246120"/>
          </a:xfrm>
          <a:prstGeom prst="rect">
            <a:avLst/>
          </a:prstGeom>
          <a:solidFill>
            <a:srgbClr val="FCFAF6"/>
          </a:solidFill>
          <a:ln w="12700">
            <a:solidFill>
              <a:srgbClr val="E4DFD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89120" y="2514600"/>
            <a:ext cx="3291840" cy="50292"/>
          </a:xfrm>
          <a:prstGeom prst="rect">
            <a:avLst/>
          </a:prstGeom>
          <a:solidFill>
            <a:srgbClr val="1C4E7A"/>
          </a:solidFill>
          <a:ln w="12700">
            <a:solidFill>
              <a:srgbClr val="1C4E7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45152" y="2743200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411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pharmacy owner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4645152" y="3182112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 OF MONTH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4645152" y="3529584"/>
            <a:ext cx="2788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i="1" dirty="0">
                <a:solidFill>
                  <a:srgbClr val="1C4E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“Is my capital in the right stock?”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645152" y="4315968"/>
            <a:ext cx="2788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B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 of the current policy against the alternative, over real days, in rupees.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645152" y="534924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4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Replay → the business case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001000" y="2514600"/>
            <a:ext cx="3291840" cy="3246120"/>
          </a:xfrm>
          <a:prstGeom prst="rect">
            <a:avLst/>
          </a:prstGeom>
          <a:solidFill>
            <a:srgbClr val="FCFAF6"/>
          </a:solidFill>
          <a:ln w="12700">
            <a:solidFill>
              <a:srgbClr val="E4DFD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001000" y="2514600"/>
            <a:ext cx="3291840" cy="50292"/>
          </a:xfrm>
          <a:prstGeom prst="rect">
            <a:avLst/>
          </a:prstGeom>
          <a:solidFill>
            <a:srgbClr val="1F5D42"/>
          </a:solidFill>
          <a:ln w="12700">
            <a:solidFill>
              <a:srgbClr val="1F5D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57032" y="2743200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411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Whoever signs it off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8257032" y="3182112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 IT GOES LIVE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8257032" y="3529584"/>
            <a:ext cx="2788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i="1" dirty="0">
                <a:solidFill>
                  <a:srgbClr val="1F5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“Why should I trust this number?”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8257032" y="4315968"/>
            <a:ext cx="2788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B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Attribution in units, calibration measured against outcomes, and the series where it loses.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8257032" y="534924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4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→ Evidence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777240" y="594360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20"/>
              </a:lnSpc>
              <a:buNone/>
            </a:pPr>
            <a:r>
              <a:rPr lang="en-US" sz="1200" i="1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screens, but nobody has to visit all seven. The navigation is ordered the way the questions actually arrive: decide, order, forecast, why, replay, evidence, settings.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20" kern="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PRODUCT · WHAT THE BUYER SEES FIRST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786384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411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opens on the decision, not on a chart.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417320"/>
            <a:ext cx="7726680" cy="4928616"/>
          </a:xfrm>
          <a:prstGeom prst="rect">
            <a:avLst/>
          </a:prstGeom>
          <a:solidFill>
            <a:srgbClr val="EFEBE2"/>
          </a:solidFill>
          <a:ln w="15875">
            <a:solidFill>
              <a:srgbClr val="14110D"/>
            </a:solidFill>
            <a:prstDash val="solid"/>
          </a:ln>
        </p:spPr>
      </p:sp>
      <p:pic>
        <p:nvPicPr>
          <p:cNvPr id="5" name="Image 0" descr="C:\Users\ASUS\Desktop\CS\Projects\pharmapulse\deck\img\dashboard_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463040"/>
            <a:ext cx="7635240" cy="483717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732520" y="1572768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32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by money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732520" y="19202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₹276 at 34% likely is ranked above ₹163 at 99%. Probability is not the ranking a buyer needs — exposure is.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8732520" y="310896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5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click to the fix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32520" y="3456432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row links straight to the order that resolves it — there is no hunting.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732520" y="4645152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Live, not nightly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8732520" y="4992624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= seeded opening stock + every ledger movement since. Accept an order and the shelf actually moves.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732520" y="6053328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screenshot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20" kern="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PRODUCT · THE SCREEN THE WHOLE SYSTEM EXISTS FOR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786384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411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slider is the cost ratio. Drag it, the order moves.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6922008" cy="5010912"/>
          </a:xfrm>
          <a:prstGeom prst="rect">
            <a:avLst/>
          </a:prstGeom>
          <a:solidFill>
            <a:srgbClr val="EFEBE2"/>
          </a:solidFill>
          <a:ln w="15875">
            <a:solidFill>
              <a:srgbClr val="14110D"/>
            </a:solidFill>
            <a:prstDash val="solid"/>
          </a:ln>
        </p:spPr>
      </p:sp>
      <p:pic>
        <p:nvPicPr>
          <p:cNvPr id="5" name="Image 0" descr="C:\Users\ASUS\Desktop\CS\Projects\pharmapulse\deck\img\ord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417320"/>
            <a:ext cx="6830568" cy="49194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0" y="157276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5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quantile, made physical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8046720" y="192024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level, stockout risk, cost this cycle and the distance from optimal — all recomputed as you drag.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314553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B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±1 pack, priced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8046720" y="3493008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pack fewer and one pack more, each with what it costs. That is a sensitivity a buyer can argue with.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046720" y="4718304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position is auditable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8046720" y="5065776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stock, then every receipt and sale, summing to the number on the shelf.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046720" y="6108192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zero network calls while dragging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20" kern="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· AS BUILT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768096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411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layers, one direction.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426464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LAYER 1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64592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2024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pipelines/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788920" y="1371600"/>
            <a:ext cx="8622792" cy="731520"/>
          </a:xfrm>
          <a:prstGeom prst="rect">
            <a:avLst/>
          </a:prstGeom>
          <a:solidFill>
            <a:srgbClr val="FCFAF6"/>
          </a:solidFill>
          <a:ln w="12700">
            <a:solidFill>
              <a:srgbClr val="E4DFD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90088" y="1472184"/>
            <a:ext cx="1556309" cy="292608"/>
          </a:xfrm>
          <a:prstGeom prst="rect">
            <a:avLst/>
          </a:prstGeom>
          <a:solidFill>
            <a:srgbClr val="EFEB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4110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ingest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656125" y="1472184"/>
            <a:ext cx="1556309" cy="292608"/>
          </a:xfrm>
          <a:prstGeom prst="rect">
            <a:avLst/>
          </a:prstGeom>
          <a:solidFill>
            <a:srgbClr val="EFEB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4110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validate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322162" y="1472184"/>
            <a:ext cx="1556309" cy="292608"/>
          </a:xfrm>
          <a:prstGeom prst="rect">
            <a:avLst/>
          </a:prstGeom>
          <a:solidFill>
            <a:srgbClr val="EFEB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4110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clean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7988198" y="1472184"/>
            <a:ext cx="1556309" cy="292608"/>
          </a:xfrm>
          <a:prstGeom prst="rect">
            <a:avLst/>
          </a:prstGeom>
          <a:solidFill>
            <a:srgbClr val="EFEB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4110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9654235" y="1472184"/>
            <a:ext cx="1556309" cy="292608"/>
          </a:xfrm>
          <a:prstGeom prst="rect">
            <a:avLst/>
          </a:prstGeom>
          <a:solidFill>
            <a:srgbClr val="EFEB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4110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features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2990088" y="1810512"/>
            <a:ext cx="8220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hash-pinned snapshot · 9 validation gates · truncate-then-compute, so leakage is structurally impossible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6963156" y="2084832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2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2295144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LAYER 2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251460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5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278892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core/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788920" y="2240280"/>
            <a:ext cx="8622792" cy="731520"/>
          </a:xfrm>
          <a:prstGeom prst="rect">
            <a:avLst/>
          </a:prstGeom>
          <a:solidFill>
            <a:srgbClr val="FCFAF6"/>
          </a:solidFill>
          <a:ln w="12700">
            <a:solidFill>
              <a:srgbClr val="E4DFD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990088" y="2340864"/>
            <a:ext cx="1278636" cy="292608"/>
          </a:xfrm>
          <a:prstGeom prst="rect">
            <a:avLst/>
          </a:prstGeom>
          <a:solidFill>
            <a:srgbClr val="EFEB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4110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classify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4378452" y="2340864"/>
            <a:ext cx="1278636" cy="292608"/>
          </a:xfrm>
          <a:prstGeom prst="rect">
            <a:avLst/>
          </a:prstGeom>
          <a:solidFill>
            <a:srgbClr val="EFEB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4110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portfolio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766816" y="2340864"/>
            <a:ext cx="1278636" cy="292608"/>
          </a:xfrm>
          <a:prstGeom prst="rect">
            <a:avLst/>
          </a:prstGeom>
          <a:solidFill>
            <a:srgbClr val="EFEB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4110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combine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7155180" y="2340864"/>
            <a:ext cx="1278636" cy="292608"/>
          </a:xfrm>
          <a:prstGeom prst="rect">
            <a:avLst/>
          </a:prstGeom>
          <a:solidFill>
            <a:srgbClr val="EFEB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4110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calibrate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8543544" y="2340864"/>
            <a:ext cx="1278636" cy="292608"/>
          </a:xfrm>
          <a:prstGeom prst="rect">
            <a:avLst/>
          </a:prstGeom>
          <a:solidFill>
            <a:srgbClr val="EFEB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4110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store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9931908" y="2340864"/>
            <a:ext cx="1278636" cy="292608"/>
          </a:xfrm>
          <a:prstGeom prst="rect">
            <a:avLst/>
          </a:prstGeom>
          <a:solidFill>
            <a:srgbClr val="EFEB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4110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explain ◂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2990088" y="2679192"/>
            <a:ext cx="8220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ADI/CV² routing · 11 models · median ensemble · conformal interval correction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6963156" y="2953512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2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777240" y="3163824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LAYER 3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777240" y="338328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777240" y="365760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decision/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2788920" y="3108960"/>
            <a:ext cx="8622792" cy="731520"/>
          </a:xfrm>
          <a:prstGeom prst="rect">
            <a:avLst/>
          </a:prstGeom>
          <a:solidFill>
            <a:srgbClr val="FCFAF6"/>
          </a:solidFill>
          <a:ln w="12700">
            <a:solidFill>
              <a:srgbClr val="E4DFD5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990088" y="3209544"/>
            <a:ext cx="1972818" cy="292608"/>
          </a:xfrm>
          <a:prstGeom prst="rect">
            <a:avLst/>
          </a:prstGeom>
          <a:solidFill>
            <a:srgbClr val="EFEB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4110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newsvendor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5072634" y="3209544"/>
            <a:ext cx="1972818" cy="292608"/>
          </a:xfrm>
          <a:prstGeom prst="rect">
            <a:avLst/>
          </a:prstGeom>
          <a:solidFill>
            <a:srgbClr val="EFEB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4110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7155180" y="3209544"/>
            <a:ext cx="1972818" cy="292608"/>
          </a:xfrm>
          <a:prstGeom prst="rect">
            <a:avLst/>
          </a:prstGeom>
          <a:solidFill>
            <a:srgbClr val="EFEB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4110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9237726" y="3209544"/>
            <a:ext cx="1972818" cy="292608"/>
          </a:xfrm>
          <a:prstGeom prst="rect">
            <a:avLst/>
          </a:prstGeom>
          <a:solidFill>
            <a:srgbClr val="EFEB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4110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replay ◂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2990088" y="3547872"/>
            <a:ext cx="8220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functions, no I/O · hash-chained order log · a second policy, so there is something to beat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6963156" y="3822192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2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777240" y="4032504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LAYER 5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777240" y="425196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6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777240" y="452628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api/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2788920" y="3977640"/>
            <a:ext cx="8622792" cy="731520"/>
          </a:xfrm>
          <a:prstGeom prst="rect">
            <a:avLst/>
          </a:prstGeom>
          <a:solidFill>
            <a:srgbClr val="FCFAF6"/>
          </a:solidFill>
          <a:ln w="12700">
            <a:solidFill>
              <a:srgbClr val="E4DFD5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2990088" y="4078224"/>
            <a:ext cx="8220456" cy="292608"/>
          </a:xfrm>
          <a:prstGeom prst="rect">
            <a:avLst/>
          </a:prstGeom>
          <a:solidFill>
            <a:srgbClr val="EFEB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4110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FastAPI · 16 endpoints · one provenance envelope on every single response</a:t>
            </a:r>
            <a:endParaRPr lang="en-US" sz="115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4416552"/>
            <a:ext cx="8220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the published store — no model is ever fitted inside a request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6963156" y="4690872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2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777240" y="4901184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LAYER 6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777240" y="512064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32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1500" dirty="0"/>
          </a:p>
        </p:txBody>
      </p:sp>
      <p:sp>
        <p:nvSpPr>
          <p:cNvPr id="46" name="Text 44"/>
          <p:cNvSpPr txBox="1"/>
          <p:nvPr/>
        </p:nvSpPr>
        <p:spPr>
          <a:xfrm>
            <a:off x="777240" y="539496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web/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2788920" y="4846320"/>
            <a:ext cx="8622792" cy="731520"/>
          </a:xfrm>
          <a:prstGeom prst="rect">
            <a:avLst/>
          </a:prstGeom>
          <a:solidFill>
            <a:srgbClr val="FCFAF6"/>
          </a:solidFill>
          <a:ln w="12700">
            <a:solidFill>
              <a:srgbClr val="E4DFD5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2990088" y="4946904"/>
            <a:ext cx="1080298" cy="292608"/>
          </a:xfrm>
          <a:prstGeom prst="rect">
            <a:avLst/>
          </a:prstGeom>
          <a:solidFill>
            <a:srgbClr val="EFEB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4110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Decisions</a:t>
            </a:r>
            <a:endParaRPr lang="en-US" sz="1050" dirty="0"/>
          </a:p>
        </p:txBody>
      </p:sp>
      <p:sp>
        <p:nvSpPr>
          <p:cNvPr id="49" name="Text 47"/>
          <p:cNvSpPr txBox="1"/>
          <p:nvPr/>
        </p:nvSpPr>
        <p:spPr>
          <a:xfrm>
            <a:off x="4180114" y="4946904"/>
            <a:ext cx="1080298" cy="292608"/>
          </a:xfrm>
          <a:prstGeom prst="rect">
            <a:avLst/>
          </a:prstGeom>
          <a:solidFill>
            <a:srgbClr val="EFEB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4110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</a:t>
            </a:r>
            <a:endParaRPr lang="en-US" sz="1050" dirty="0"/>
          </a:p>
        </p:txBody>
      </p:sp>
      <p:sp>
        <p:nvSpPr>
          <p:cNvPr id="50" name="Text 48"/>
          <p:cNvSpPr txBox="1"/>
          <p:nvPr/>
        </p:nvSpPr>
        <p:spPr>
          <a:xfrm>
            <a:off x="5370141" y="4946904"/>
            <a:ext cx="1080298" cy="292608"/>
          </a:xfrm>
          <a:prstGeom prst="rect">
            <a:avLst/>
          </a:prstGeom>
          <a:solidFill>
            <a:srgbClr val="EFEB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4110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Forecast</a:t>
            </a:r>
            <a:endParaRPr lang="en-US" sz="1050" dirty="0"/>
          </a:p>
        </p:txBody>
      </p:sp>
      <p:sp>
        <p:nvSpPr>
          <p:cNvPr id="51" name="Text 49"/>
          <p:cNvSpPr txBox="1"/>
          <p:nvPr/>
        </p:nvSpPr>
        <p:spPr>
          <a:xfrm>
            <a:off x="6560167" y="4946904"/>
            <a:ext cx="1080298" cy="292608"/>
          </a:xfrm>
          <a:prstGeom prst="rect">
            <a:avLst/>
          </a:prstGeom>
          <a:solidFill>
            <a:srgbClr val="EFEB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4110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</a:t>
            </a:r>
            <a:endParaRPr lang="en-US" sz="1050" dirty="0"/>
          </a:p>
        </p:txBody>
      </p:sp>
      <p:sp>
        <p:nvSpPr>
          <p:cNvPr id="52" name="Text 50"/>
          <p:cNvSpPr txBox="1"/>
          <p:nvPr/>
        </p:nvSpPr>
        <p:spPr>
          <a:xfrm>
            <a:off x="7750193" y="4946904"/>
            <a:ext cx="1080298" cy="292608"/>
          </a:xfrm>
          <a:prstGeom prst="rect">
            <a:avLst/>
          </a:prstGeom>
          <a:solidFill>
            <a:srgbClr val="EFEB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4110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Replay</a:t>
            </a:r>
            <a:endParaRPr lang="en-US" sz="1050" dirty="0"/>
          </a:p>
        </p:txBody>
      </p:sp>
      <p:sp>
        <p:nvSpPr>
          <p:cNvPr id="53" name="Text 51"/>
          <p:cNvSpPr txBox="1"/>
          <p:nvPr/>
        </p:nvSpPr>
        <p:spPr>
          <a:xfrm>
            <a:off x="8940219" y="4946904"/>
            <a:ext cx="1080298" cy="292608"/>
          </a:xfrm>
          <a:prstGeom prst="rect">
            <a:avLst/>
          </a:prstGeom>
          <a:solidFill>
            <a:srgbClr val="EFEB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4110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Evidence</a:t>
            </a:r>
            <a:endParaRPr lang="en-US" sz="1050" dirty="0"/>
          </a:p>
        </p:txBody>
      </p:sp>
      <p:sp>
        <p:nvSpPr>
          <p:cNvPr id="54" name="Text 52"/>
          <p:cNvSpPr txBox="1"/>
          <p:nvPr/>
        </p:nvSpPr>
        <p:spPr>
          <a:xfrm>
            <a:off x="10130246" y="4946904"/>
            <a:ext cx="1080298" cy="292608"/>
          </a:xfrm>
          <a:prstGeom prst="rect">
            <a:avLst/>
          </a:prstGeom>
          <a:solidFill>
            <a:srgbClr val="EFEB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4110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Settings</a:t>
            </a:r>
            <a:endParaRPr lang="en-US" sz="1050" dirty="0"/>
          </a:p>
        </p:txBody>
      </p:sp>
      <p:sp>
        <p:nvSpPr>
          <p:cNvPr id="55" name="Text 53"/>
          <p:cNvSpPr txBox="1"/>
          <p:nvPr/>
        </p:nvSpPr>
        <p:spPr>
          <a:xfrm>
            <a:off x="2990088" y="5285232"/>
            <a:ext cx="8220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· TypeScript · raw SVG charts, no charting library</a:t>
            </a:r>
            <a:endParaRPr lang="en-US" sz="1050" dirty="0"/>
          </a:p>
        </p:txBody>
      </p:sp>
      <p:sp>
        <p:nvSpPr>
          <p:cNvPr id="56" name="Text 54"/>
          <p:cNvSpPr txBox="1"/>
          <p:nvPr/>
        </p:nvSpPr>
        <p:spPr>
          <a:xfrm>
            <a:off x="777240" y="5742432"/>
            <a:ext cx="106372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◂ moved down a layer from the submitted design.   LAYER 4 · INTELLIGENCE no longer exists: attribution moved into the forecast engine because it reads Prophet's fitted components directly, and replay moved into the decision layer because it runs a policy rather than displaying one — which is what let it become the business case. The scenario engine and the assistant were not built.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20" kern="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· THE SPLIT THAT MAKES IT FAST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32"/>
              </a:lnSpc>
              <a:buNone/>
            </a:pPr>
            <a:r>
              <a:rPr lang="en-US" sz="3600" dirty="0">
                <a:solidFill>
                  <a:srgbClr val="1411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model runs inside a request.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14884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3B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expensive happens in a batch that writes a versioned forecast store. Everything a screen does is a read. The two halves are joined by a single pointer file, written last — so a reader is never caught mid-publish.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2834640"/>
            <a:ext cx="4983480" cy="2468880"/>
          </a:xfrm>
          <a:prstGeom prst="rect">
            <a:avLst/>
          </a:prstGeom>
          <a:solidFill>
            <a:srgbClr val="FCFAF6"/>
          </a:solidFill>
          <a:ln w="12700">
            <a:solidFill>
              <a:srgbClr val="E4DFD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30175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F5D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BATCH · minutes, offline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3429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380744" y="342900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B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2,106 days, validate, derive grains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813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380744" y="3813048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B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11 models across 3 grains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41970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380744" y="4197096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B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by median, calibrate conformally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1051560" y="45811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380744" y="4581144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B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new version, then swap CURRENT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497433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pipelines.run_nightly --stage all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46520" y="2834640"/>
            <a:ext cx="4983480" cy="2468880"/>
          </a:xfrm>
          <a:prstGeom prst="rect">
            <a:avLst/>
          </a:prstGeom>
          <a:solidFill>
            <a:srgbClr val="FCFAF6"/>
          </a:solidFill>
          <a:ln w="12700">
            <a:solidFill>
              <a:srgbClr val="E4DFD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720840" y="30175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C4E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 · milliseconds, per request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720840" y="3429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050024" y="342900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B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version CURRENT points at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720840" y="3813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050024" y="3813048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B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to the protection interval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720840" y="41970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7050024" y="4197096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B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newsvendor fractile → order quantity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6720840" y="45811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7050024" y="4581144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B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 in the provenance envelope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6720840" y="497433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uvicorn api.main:app --port 8000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5779008" y="3886200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B64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CURRENT</a:t>
            </a:r>
            <a:endParaRPr lang="en-US" sz="750" dirty="0"/>
          </a:p>
        </p:txBody>
      </p:sp>
      <p:sp>
        <p:nvSpPr>
          <p:cNvPr id="28" name="Text 26"/>
          <p:cNvSpPr txBox="1"/>
          <p:nvPr/>
        </p:nvSpPr>
        <p:spPr>
          <a:xfrm>
            <a:off x="777240" y="557784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777240" y="5833872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B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 · DuckDB · Parquet · SQLite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2916936" y="557784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MODELS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2916936" y="5833872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B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statsforecast · mlforecast · LightGBM · Prophet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5056632" y="557784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5056632" y="5833872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B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· Pydantic v2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7196328" y="557784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7196328" y="5833872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B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 · TypeScript · Vite · Tailwind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9336024" y="557784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60" kern="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SHIP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9336024" y="5833872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B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· GitHub Actions · ruff · pytest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20" kern="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WE MEASURED BEFORE DESIGNING ANYTHING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63721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32"/>
              </a:lnSpc>
              <a:buNone/>
            </a:pPr>
            <a:r>
              <a:rPr lang="en-US" sz="3600" dirty="0">
                <a:solidFill>
                  <a:srgbClr val="1411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properties of the file</a:t>
            </a:r>
            <a:endParaRPr lang="en-US" sz="3600" dirty="0"/>
          </a:p>
          <a:p>
            <a:pPr indent="0" marL="0">
              <a:lnSpc>
                <a:spcPts val="4032"/>
              </a:lnSpc>
              <a:buNone/>
            </a:pPr>
            <a:r>
              <a:rPr lang="en-US" sz="3600" dirty="0">
                <a:solidFill>
                  <a:srgbClr val="1411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that drove every design decision.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57860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32E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2578608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1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supplied monthly file is corrupt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2907792"/>
            <a:ext cx="4434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 series-months disagree with a daily rollup by more than 5%. We ingest the daily file only and derive the rest.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309360" y="257860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64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858000" y="2578608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1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days are closures, not zero demand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858000" y="2907792"/>
            <a:ext cx="4434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map to the Serbian Orthodox calendar. Masked from the loss — never imputed, never deleted.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785616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64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3785616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1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last bucket is truncated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4114800"/>
            <a:ext cx="4434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October 2019 looks like a 70% collapse and is not. Partial periods stay visible, and hatched.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309360" y="3785616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4E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0" y="3785616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1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series is genuinely intermittent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0" y="4114800"/>
            <a:ext cx="4434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N05C sells nothing on 67.9% of days, ADI 3.12. It routes to Croston/TSB automatically.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4992624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4E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4992624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1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Seasonality has a different phase per drug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5321808"/>
            <a:ext cx="4434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Antihistamines peak in May, paracetamol in January. One global profile would smear both.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309360" y="4992624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4E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0" y="4992624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1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Weekday effects run in opposite directions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858000" y="5321808"/>
            <a:ext cx="4434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OTC sells more at weekends, prescription less. A shared coefficient would cancel them out.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6053328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20"/>
              </a:lnSpc>
              <a:buNone/>
            </a:pPr>
            <a:r>
              <a:rPr lang="en-US" sz="1200" i="1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of these contradict our own submitted design document. Both corrections are written down rather than quietly fixed.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20" kern="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RULE THAT PROTECTS THE PROJECT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63721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8"/>
              </a:lnSpc>
              <a:buNone/>
            </a:pPr>
            <a:r>
              <a:rPr lang="en-US" sz="3400" dirty="0">
                <a:solidFill>
                  <a:srgbClr val="1411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file has dates and units sold.</a:t>
            </a:r>
            <a:endParaRPr lang="en-US" sz="3400" dirty="0"/>
          </a:p>
          <a:p>
            <a:pPr indent="0" marL="0">
              <a:lnSpc>
                <a:spcPts val="3808"/>
              </a:lnSpc>
              <a:buNone/>
            </a:pPr>
            <a:r>
              <a:rPr lang="en-US" sz="3400" dirty="0">
                <a:solidFill>
                  <a:srgbClr val="1411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has no stock, costs or lead times.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560320"/>
            <a:ext cx="106372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3B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 that invents those and trains on them is learning from a random number generator — and any explanation it then produces is an explanation of noise. So every value belongs to exactly one lane, and the lanes have different rights.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3310128"/>
            <a:ext cx="10637215" cy="896112"/>
          </a:xfrm>
          <a:prstGeom prst="rect">
            <a:avLst/>
          </a:prstGeom>
          <a:solidFill>
            <a:srgbClr val="FCFAF6"/>
          </a:solidFill>
          <a:ln w="12700">
            <a:solidFill>
              <a:srgbClr val="E4DFD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3465576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5D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· observed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291840" y="3465576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B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salesdaily.csv and the calendar features derived from it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7635240" y="3465576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F5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trains models · explains · backs a claim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4297680"/>
            <a:ext cx="10637215" cy="896112"/>
          </a:xfrm>
          <a:prstGeom prst="rect">
            <a:avLst/>
          </a:prstGeom>
          <a:solidFill>
            <a:srgbClr val="FCFAF6"/>
          </a:solidFill>
          <a:ln w="12700">
            <a:solidFill>
              <a:srgbClr val="E4DFD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1560" y="445312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4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· your setting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291840" y="445312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B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 · holding cost · margin · stock on hand · pack size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635240" y="445312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explains only — never trains, never backs a claim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5285232"/>
            <a:ext cx="10637215" cy="896112"/>
          </a:xfrm>
          <a:prstGeom prst="rect">
            <a:avLst/>
          </a:prstGeom>
          <a:solidFill>
            <a:srgbClr val="FCFAF6"/>
          </a:solidFill>
          <a:ln w="12700">
            <a:solidFill>
              <a:srgbClr val="E4DFD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51560" y="54406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32E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· synthetic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291840" y="544068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B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demo-only generated data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635240" y="54406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A32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the three — blocked in code, asserted by a test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598932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20"/>
              </a:lnSpc>
              <a:buNone/>
            </a:pPr>
            <a:r>
              <a:rPr lang="en-US" sz="1200" i="1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Enforced, not intended: the ingest entrypoint raises on a synthetic path, every row carries its origin, the API returns it, and the interface renders a badge from it.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20" kern="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 1 · FORECAST ACCURACY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32"/>
              </a:lnSpc>
              <a:buNone/>
            </a:pPr>
            <a:r>
              <a:rPr lang="en-US" sz="3600" dirty="0">
                <a:solidFill>
                  <a:srgbClr val="1411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18.8% better than the benchmark</a:t>
            </a:r>
            <a:endParaRPr lang="en-US" sz="3600" dirty="0"/>
          </a:p>
          <a:p>
            <a:pPr indent="0" marL="0">
              <a:lnSpc>
                <a:spcPts val="4032"/>
              </a:lnSpc>
              <a:buNone/>
            </a:pPr>
            <a:r>
              <a:rPr lang="en-US" sz="3600" dirty="0">
                <a:solidFill>
                  <a:srgbClr val="1411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has to beat.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51460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2697480" y="2587752"/>
            <a:ext cx="5120640" cy="155448"/>
          </a:xfrm>
          <a:prstGeom prst="rect">
            <a:avLst/>
          </a:prstGeom>
          <a:solidFill>
            <a:srgbClr val="EFEBE2"/>
          </a:solidFill>
          <a:ln w="12700">
            <a:solidFill>
              <a:srgbClr val="EFEBE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697480" y="2587752"/>
            <a:ext cx="3840935" cy="155448"/>
          </a:xfrm>
          <a:prstGeom prst="rect">
            <a:avLst/>
          </a:prstGeom>
          <a:solidFill>
            <a:srgbClr val="B8B0A3"/>
          </a:solidFill>
          <a:ln w="12700">
            <a:solidFill>
              <a:srgbClr val="B8B0A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955280" y="251460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4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0.843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89864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697480" y="2971800"/>
            <a:ext cx="5120640" cy="155448"/>
          </a:xfrm>
          <a:prstGeom prst="rect">
            <a:avLst/>
          </a:prstGeom>
          <a:solidFill>
            <a:srgbClr val="EFEBE2"/>
          </a:solidFill>
          <a:ln w="12700">
            <a:solidFill>
              <a:srgbClr val="EFEBE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697480" y="2971800"/>
            <a:ext cx="4130577" cy="155448"/>
          </a:xfrm>
          <a:prstGeom prst="rect">
            <a:avLst/>
          </a:prstGeom>
          <a:solidFill>
            <a:srgbClr val="1F5D42"/>
          </a:solidFill>
          <a:ln w="12700">
            <a:solidFill>
              <a:srgbClr val="1F5D4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955280" y="28986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D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0.907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328269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2697480" y="3355848"/>
            <a:ext cx="5120640" cy="155448"/>
          </a:xfrm>
          <a:prstGeom prst="rect">
            <a:avLst/>
          </a:prstGeom>
          <a:solidFill>
            <a:srgbClr val="EFEBE2"/>
          </a:solidFill>
          <a:ln w="12700">
            <a:solidFill>
              <a:srgbClr val="EFEBE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697480" y="3355848"/>
            <a:ext cx="4258092" cy="155448"/>
          </a:xfrm>
          <a:prstGeom prst="rect">
            <a:avLst/>
          </a:prstGeom>
          <a:solidFill>
            <a:srgbClr val="B8B0A3"/>
          </a:solidFill>
          <a:ln w="12700">
            <a:solidFill>
              <a:srgbClr val="B8B0A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955280" y="3282696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4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0.935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366674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2697480" y="3739896"/>
            <a:ext cx="5120640" cy="155448"/>
          </a:xfrm>
          <a:prstGeom prst="rect">
            <a:avLst/>
          </a:prstGeom>
          <a:solidFill>
            <a:srgbClr val="EFEBE2"/>
          </a:solidFill>
          <a:ln w="12700">
            <a:solidFill>
              <a:srgbClr val="EFEBE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97480" y="3739896"/>
            <a:ext cx="4376499" cy="155448"/>
          </a:xfrm>
          <a:prstGeom prst="rect">
            <a:avLst/>
          </a:prstGeom>
          <a:solidFill>
            <a:srgbClr val="B8B0A3"/>
          </a:solidFill>
          <a:ln w="12700">
            <a:solidFill>
              <a:srgbClr val="B8B0A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955280" y="3666744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4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0.961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405079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2697480" y="4123944"/>
            <a:ext cx="5120640" cy="155448"/>
          </a:xfrm>
          <a:prstGeom prst="rect">
            <a:avLst/>
          </a:prstGeom>
          <a:solidFill>
            <a:srgbClr val="EFEBE2"/>
          </a:solidFill>
          <a:ln w="12700">
            <a:solidFill>
              <a:srgbClr val="EFEBE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97480" y="4123944"/>
            <a:ext cx="4619688" cy="155448"/>
          </a:xfrm>
          <a:prstGeom prst="rect">
            <a:avLst/>
          </a:prstGeom>
          <a:solidFill>
            <a:srgbClr val="B8B0A3"/>
          </a:solidFill>
          <a:ln w="12700">
            <a:solidFill>
              <a:srgbClr val="B8B0A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955280" y="4050792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4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1.014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443484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2697480" y="4507992"/>
            <a:ext cx="5120640" cy="155448"/>
          </a:xfrm>
          <a:prstGeom prst="rect">
            <a:avLst/>
          </a:prstGeom>
          <a:solidFill>
            <a:srgbClr val="EFEBE2"/>
          </a:solidFill>
          <a:ln w="12700">
            <a:solidFill>
              <a:srgbClr val="EFEBE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97480" y="4507992"/>
            <a:ext cx="4941664" cy="155448"/>
          </a:xfrm>
          <a:prstGeom prst="rect">
            <a:avLst/>
          </a:prstGeom>
          <a:solidFill>
            <a:srgbClr val="B8B0A3"/>
          </a:solidFill>
          <a:ln w="12700">
            <a:solidFill>
              <a:srgbClr val="B8B0A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955280" y="443484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4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1.085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777240" y="481888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2697480" y="4892040"/>
            <a:ext cx="5120640" cy="155448"/>
          </a:xfrm>
          <a:prstGeom prst="rect">
            <a:avLst/>
          </a:prstGeom>
          <a:solidFill>
            <a:srgbClr val="EFEBE2"/>
          </a:solidFill>
          <a:ln w="12700">
            <a:solidFill>
              <a:srgbClr val="EFEBE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97480" y="4892040"/>
            <a:ext cx="5076921" cy="155448"/>
          </a:xfrm>
          <a:prstGeom prst="rect">
            <a:avLst/>
          </a:prstGeom>
          <a:solidFill>
            <a:srgbClr val="B8B0A3"/>
          </a:solidFill>
          <a:ln w="12700">
            <a:solidFill>
              <a:srgbClr val="B8B0A3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955280" y="481888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4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1.115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777240" y="520293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2697480" y="5276088"/>
            <a:ext cx="5120640" cy="155448"/>
          </a:xfrm>
          <a:prstGeom prst="rect">
            <a:avLst/>
          </a:prstGeom>
          <a:solidFill>
            <a:srgbClr val="EFEBE2"/>
          </a:solidFill>
          <a:ln w="12700">
            <a:solidFill>
              <a:srgbClr val="EFEBE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97480" y="5276088"/>
            <a:ext cx="5089217" cy="155448"/>
          </a:xfrm>
          <a:prstGeom prst="rect">
            <a:avLst/>
          </a:prstGeom>
          <a:solidFill>
            <a:srgbClr val="8A6410"/>
          </a:solidFill>
          <a:ln w="12700">
            <a:solidFill>
              <a:srgbClr val="8A641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955280" y="5202936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4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1.117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777240" y="558698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2697480" y="5660136"/>
            <a:ext cx="5120640" cy="155448"/>
          </a:xfrm>
          <a:prstGeom prst="rect">
            <a:avLst/>
          </a:prstGeom>
          <a:solidFill>
            <a:srgbClr val="EFEBE2"/>
          </a:solidFill>
          <a:ln w="12700">
            <a:solidFill>
              <a:srgbClr val="EFEBE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697480" y="5660136"/>
            <a:ext cx="5120640" cy="155448"/>
          </a:xfrm>
          <a:prstGeom prst="rect">
            <a:avLst/>
          </a:prstGeom>
          <a:solidFill>
            <a:srgbClr val="B8B0A3"/>
          </a:solidFill>
          <a:ln w="12700">
            <a:solidFill>
              <a:srgbClr val="B8B0A3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955280" y="5586984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4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1.124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9006840" y="2468880"/>
            <a:ext cx="2423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5D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0.907</a:t>
            </a:r>
            <a:endParaRPr lang="en-US" sz="4400" dirty="0"/>
          </a:p>
        </p:txBody>
      </p:sp>
      <p:sp>
        <p:nvSpPr>
          <p:cNvPr id="41" name="Text 39"/>
          <p:cNvSpPr txBox="1"/>
          <p:nvPr/>
        </p:nvSpPr>
        <p:spPr>
          <a:xfrm>
            <a:off x="9006840" y="333756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ship — the median of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independent models</a:t>
            </a:r>
            <a:endParaRPr lang="en-US" sz="1250" dirty="0"/>
          </a:p>
        </p:txBody>
      </p:sp>
      <p:sp>
        <p:nvSpPr>
          <p:cNvPr id="42" name="Text 40"/>
          <p:cNvSpPr txBox="1"/>
          <p:nvPr/>
        </p:nvSpPr>
        <p:spPr>
          <a:xfrm>
            <a:off x="9006840" y="4114800"/>
            <a:ext cx="2423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8A64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1.117</a:t>
            </a:r>
            <a:endParaRPr lang="en-US" sz="4400" dirty="0"/>
          </a:p>
        </p:txBody>
      </p:sp>
      <p:sp>
        <p:nvSpPr>
          <p:cNvPr id="43" name="Text 41"/>
          <p:cNvSpPr txBox="1"/>
          <p:nvPr/>
        </p:nvSpPr>
        <p:spPr>
          <a:xfrm>
            <a:off x="9006840" y="498348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SeasonalNaive — repeat what happened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 last year. The honest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benchmark, and a hard one.</a:t>
            </a:r>
            <a:endParaRPr lang="en-US" sz="1250" dirty="0"/>
          </a:p>
        </p:txBody>
      </p:sp>
      <p:sp>
        <p:nvSpPr>
          <p:cNvPr id="44" name="Text 42"/>
          <p:cNvSpPr txBox="1"/>
          <p:nvPr/>
        </p:nvSpPr>
        <p:spPr>
          <a:xfrm>
            <a:off x="777240" y="5943600"/>
            <a:ext cx="106372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85"/>
              </a:lnSpc>
              <a:buNone/>
            </a:pPr>
            <a:r>
              <a:rPr lang="en-US" sz="1100" i="1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grain · horizon 8 · rolling-origin CV over 4 non-overlapping folds · MASE against an in-sample naive denominator · 8 series · seed 42. MAPE is undefined on a series with zero-sale days, and one of ours has them on 67.9% of days.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1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20" kern="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 2 · THE FINDING WORTH LEADING WITH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63721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80"/>
              </a:lnSpc>
              <a:buNone/>
            </a:pPr>
            <a:r>
              <a:rPr lang="en-US" sz="4000" dirty="0">
                <a:solidFill>
                  <a:srgbClr val="F7F4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implemented the obvious approach</a:t>
            </a:r>
            <a:endParaRPr lang="en-US" sz="4000" dirty="0"/>
          </a:p>
          <a:p>
            <a:pPr indent="0" marL="0">
              <a:lnSpc>
                <a:spcPts val="4480"/>
              </a:lnSpc>
              <a:buNone/>
            </a:pPr>
            <a:r>
              <a:rPr lang="en-US" sz="4000" dirty="0">
                <a:solidFill>
                  <a:srgbClr val="F7F4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measured it losing.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74320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A32E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0.968</a:t>
            </a:r>
            <a:endParaRPr lang="en-US" sz="5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70332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each product's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model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370832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intuitive answer — and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most teams ship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434840" y="274320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5FD3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0.907</a:t>
            </a:r>
            <a:endParaRPr lang="en-US" sz="5600" dirty="0"/>
          </a:p>
        </p:txBody>
      </p:sp>
      <p:sp>
        <p:nvSpPr>
          <p:cNvPr id="8" name="Text 6"/>
          <p:cNvSpPr txBox="1"/>
          <p:nvPr/>
        </p:nvSpPr>
        <p:spPr>
          <a:xfrm>
            <a:off x="4434840" y="370332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them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(median of five)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434840" y="4370832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ship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092440" y="274320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0.843</a:t>
            </a:r>
            <a:endParaRPr lang="en-US" sz="5600" dirty="0"/>
          </a:p>
        </p:txBody>
      </p:sp>
      <p:sp>
        <p:nvSpPr>
          <p:cNvPr id="11" name="Text 9"/>
          <p:cNvSpPr txBox="1"/>
          <p:nvPr/>
        </p:nvSpPr>
        <p:spPr>
          <a:xfrm>
            <a:off x="8092440" y="370332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Perfect hindsight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092440" y="4370832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bound, not a model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5029200"/>
            <a:ext cx="106372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different models win across the eight series, so per-series selection looks obviously right. But with ~300 weekly observations, “best on the last fold” is mostly noise — selection chases the noise and locks in whichever model got lucky. Combination does the opposite: independent models make independent mistakes, and the median cancels them.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6053328"/>
            <a:ext cx="106372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Scored honestly: the choice for fold k uses only folds 1…k−1, so it never sees the answer it is graded on.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20" kern="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 3 · ARE OUR OWN CONFIDENCE INTERVALS TRUE?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360"/>
              </a:lnSpc>
              <a:buNone/>
            </a:pPr>
            <a:r>
              <a:rPr lang="en-US" sz="3000" dirty="0">
                <a:solidFill>
                  <a:srgbClr val="1411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measured whether to believe</a:t>
            </a:r>
            <a:endParaRPr lang="en-US" sz="3000" dirty="0"/>
          </a:p>
          <a:p>
            <a:pPr indent="0" marL="0">
              <a:lnSpc>
                <a:spcPts val="3360"/>
              </a:lnSpc>
              <a:buNone/>
            </a:pPr>
            <a:r>
              <a:rPr lang="en-US" sz="3000" dirty="0">
                <a:solidFill>
                  <a:srgbClr val="1411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ourselves, then corrected it.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5852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3B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stated 80% interval actually covered 92.2% of outcomes. Too wide — which sounds like the safe direction and is not: an over-wide interval pushes the order quantity up, and the buyer pays holding cost for confidence the model has not earned.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47472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A32E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92.2%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3434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raw model interval,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 stated 80%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347472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5D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82.0%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3657600" y="434340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conformal correction —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distribution-free, assuming nothing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the shape of the residuals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530352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i="1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own design document predicted the opposite direction — 75%, over-confident. The measurement contradicts it. The lesson is unchanged; the business story flips, and we say so out loud.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858000" y="1645920"/>
            <a:ext cx="4617720" cy="3886200"/>
          </a:xfrm>
          <a:prstGeom prst="rect">
            <a:avLst/>
          </a:prstGeom>
          <a:solidFill>
            <a:srgbClr val="EFEBE2"/>
          </a:solidFill>
          <a:ln w="15875">
            <a:solidFill>
              <a:srgbClr val="14110D"/>
            </a:solidFill>
            <a:prstDash val="solid"/>
          </a:ln>
        </p:spPr>
      </p:sp>
      <p:pic>
        <p:nvPicPr>
          <p:cNvPr id="11" name="Image 0" descr="C:\Users\ASUS\Desktop\CS\Projects\pharmapulse\deck\img\why_calib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1691640"/>
            <a:ext cx="4526280" cy="379476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903720" y="5715000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20" kern="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same diagram, inside the product's Why screen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20" kern="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 4 · WHAT IT IS ACTUALLY WORTH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63721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84"/>
              </a:lnSpc>
              <a:buNone/>
            </a:pPr>
            <a:r>
              <a:rPr lang="en-US" sz="3200" dirty="0">
                <a:solidFill>
                  <a:srgbClr val="1411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Replayed over the identical real days,</a:t>
            </a:r>
            <a:endParaRPr lang="en-US" sz="3200" dirty="0"/>
          </a:p>
          <a:p>
            <a:pPr indent="0" marL="0">
              <a:lnSpc>
                <a:spcPts val="3584"/>
              </a:lnSpc>
              <a:buNone/>
            </a:pPr>
            <a:r>
              <a:rPr lang="en-US" sz="3200" dirty="0">
                <a:solidFill>
                  <a:srgbClr val="1411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 identical costs.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286000"/>
            <a:ext cx="10725912" cy="3081528"/>
          </a:xfrm>
          <a:prstGeom prst="rect">
            <a:avLst/>
          </a:prstGeom>
          <a:solidFill>
            <a:srgbClr val="EFEBE2"/>
          </a:solidFill>
          <a:ln w="15875">
            <a:solidFill>
              <a:srgbClr val="14110D"/>
            </a:solidFill>
            <a:prstDash val="solid"/>
          </a:ln>
        </p:spPr>
      </p:sp>
      <p:pic>
        <p:nvPicPr>
          <p:cNvPr id="5" name="Image 0" descr="C:\Users\ASUS\Desktop\CS\Projects\pharmapulse\deck\img\liveops_c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331720"/>
            <a:ext cx="10634472" cy="299008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5486400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3B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difference between the two policies is that min/max sizes against the mean, and we size against the quantile the cost ratio implies. Same lead time, same review cadence, same protection interval, same 90 real days of history.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863840" y="5468112"/>
            <a:ext cx="3566160" cy="822960"/>
          </a:xfrm>
          <a:prstGeom prst="rect">
            <a:avLst/>
          </a:prstGeom>
          <a:solidFill>
            <a:srgbClr val="EFEBE2"/>
          </a:solidFill>
          <a:ln w="12700">
            <a:solidFill>
              <a:srgbClr val="14110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92440" y="5559552"/>
            <a:ext cx="3154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411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hold more stock and pay more holding cost. The saving is entirely fewer lost sales — and a test asserts exactly that.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20" kern="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IT DOES NOT WORK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63721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84"/>
              </a:lnSpc>
              <a:buNone/>
            </a:pPr>
            <a:r>
              <a:rPr lang="en-US" sz="3200" dirty="0">
                <a:solidFill>
                  <a:srgbClr val="1411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system that only shows you where it wins</a:t>
            </a:r>
            <a:endParaRPr lang="en-US" sz="3200" dirty="0"/>
          </a:p>
          <a:p>
            <a:pPr indent="0" marL="0">
              <a:lnSpc>
                <a:spcPts val="3584"/>
              </a:lnSpc>
              <a:buNone/>
            </a:pPr>
            <a:r>
              <a:rPr lang="en-US" sz="3200" dirty="0">
                <a:solidFill>
                  <a:srgbClr val="1411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not telling you anything.</a:t>
            </a:r>
            <a:endParaRPr lang="en-US" sz="3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468880"/>
          <a:ext cx="630936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1691640"/>
                <a:gridCol w="1371600"/>
                <a:gridCol w="210312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4110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4110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SeasonalNaive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4110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Ensemble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4110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single 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B362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M01AB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645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0.971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5D4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0.651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64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AutoARIMA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B362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M01AE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645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1.019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A32E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1.000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64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Naive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B362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N02BA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645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0.671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5D4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0.618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64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SeasonalNaive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B362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N02BE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645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0.993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5D4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0.799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64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Prophet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B362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N05B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645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0.939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5D4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0.621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64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WindowAverage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B362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N05C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645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1.174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5D4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0.785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64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CrostonOptimized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B362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R03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645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1.294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A32E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1.137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64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CrostonOptimized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B362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R06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645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1.880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A32E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1.646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64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Prophet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77240" y="5349240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3B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ensemble beats seasonal-naive on all eight, so the relative column is not the interesting one. MASE above 1.000 means worse than simply repeating last week — and two series are.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7498080" y="2468880"/>
            <a:ext cx="3931920" cy="1554480"/>
          </a:xfrm>
          <a:prstGeom prst="rect">
            <a:avLst/>
          </a:prstGeom>
          <a:solidFill>
            <a:srgbClr val="F6EDEB"/>
          </a:solidFill>
          <a:ln w="12700">
            <a:solidFill>
              <a:srgbClr val="A32E2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0" y="26517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A32E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R06 · 1.646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7772400" y="306324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B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worst series, and well above 1.0. The May pollen peak is sharp and its timing moves year to year — we have six observations of it.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498080" y="4206240"/>
            <a:ext cx="3931920" cy="1554480"/>
          </a:xfrm>
          <a:prstGeom prst="rect">
            <a:avLst/>
          </a:prstGeom>
          <a:solidFill>
            <a:srgbClr val="F6EDEB"/>
          </a:solidFill>
          <a:ln w="12700">
            <a:solidFill>
              <a:srgbClr val="A32E2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0" y="43891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A32E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R03 · 1.137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7772400" y="480060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B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Asthma / COPD. Better than the 1.294 seasonal-naive manages, but still above 1.0. We do not claim a win here.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608076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20"/>
              </a:lnSpc>
              <a:buNone/>
            </a:pPr>
            <a:r>
              <a:rPr lang="en-US" sz="1200" i="1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are on the product's own Evidence screen, flagged, alongside the wins.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11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20" kern="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DEEPEST LIMITATION, STATED BEFORE ANYONE ASKS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63721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152"/>
              </a:lnSpc>
              <a:buNone/>
            </a:pPr>
            <a:r>
              <a:rPr lang="en-US" sz="4600" dirty="0">
                <a:solidFill>
                  <a:srgbClr val="F7F4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forecast sales, not demand.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51460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stockout records zero sales — indistinguishable from zero demand. So our observations are right-censored, and the censoring is worst on exactly the products the system most needs to get right.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977640"/>
            <a:ext cx="1920240" cy="548640"/>
          </a:xfrm>
          <a:prstGeom prst="rect">
            <a:avLst/>
          </a:prstGeom>
          <a:solidFill>
            <a:srgbClr val="2A252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7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stockout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697480" y="397764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32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2953512" y="3977640"/>
            <a:ext cx="1920240" cy="548640"/>
          </a:xfrm>
          <a:prstGeom prst="rect">
            <a:avLst/>
          </a:prstGeom>
          <a:solidFill>
            <a:srgbClr val="2A252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7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recorded sales fall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873752" y="397764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32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129784" y="3977640"/>
            <a:ext cx="1920240" cy="548640"/>
          </a:xfrm>
          <a:prstGeom prst="rect">
            <a:avLst/>
          </a:prstGeom>
          <a:solidFill>
            <a:srgbClr val="2A252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7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forecast falls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050024" y="397764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32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306056" y="3977640"/>
            <a:ext cx="1920240" cy="548640"/>
          </a:xfrm>
          <a:prstGeom prst="rect">
            <a:avLst/>
          </a:prstGeom>
          <a:solidFill>
            <a:srgbClr val="2A252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7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order falls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226296" y="397764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32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482328" y="3977640"/>
            <a:ext cx="1920240" cy="548640"/>
          </a:xfrm>
          <a:prstGeom prst="rect">
            <a:avLst/>
          </a:prstGeom>
          <a:solidFill>
            <a:srgbClr val="2A252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7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another stockout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46634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92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Self-reinforcing, if left uncorrected.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5257800"/>
            <a:ext cx="10058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do: flag days where sales hit a suspicious ceiling and treat them as censored.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cannot do: verify it — this dataset has no on-hand-stock column.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named in the model card, and it is the first thing a real deployment fixes.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11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20" kern="0" dirty="0">
                <a:solidFill>
                  <a:srgbClr val="6B64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CONCLUSION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6012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6B64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pharmacy guesses how much to order.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737360"/>
            <a:ext cx="104241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400" dirty="0">
                <a:solidFill>
                  <a:srgbClr val="F7F4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calculate it — with the odds,</a:t>
            </a:r>
            <a:endParaRPr lang="en-US" sz="34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400" dirty="0">
                <a:solidFill>
                  <a:srgbClr val="F7F4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cost of being wrong, and</a:t>
            </a:r>
            <a:endParaRPr lang="en-US" sz="34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400" dirty="0">
                <a:solidFill>
                  <a:srgbClr val="F7F4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reason behind the number.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7490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FD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forecasts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2606040" y="374904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MASE 0.907 — 18.8% better than the seasonal-naive benchmark, over 4 rolling-origin folds.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3434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FD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decides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606040" y="434340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forecast becomes a purchase order through the newsvendor fractile, sized against the full protection interval.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FD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honest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606040" y="493776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measured and corrected, the two series where it loses shown inside the product, and the censoring limitation named.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55321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FD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real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606040" y="553212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138 tests, a benchmark that reruns from a clean clone in CI, and docker compose up.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6144768"/>
            <a:ext cx="10424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6B64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github.com/yashdoke7/pharmapulse    ·    docs/PHARMAPULSE_SYSTEM.md    ·    docs/ARCHITECTURE_DELTA.md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PharmaPulse — forecast to purchase order</dc:title>
  <dc:subject>PptxGenJS Presentation</dc:subject>
  <dc:creator>PharmaPulse</dc:creator>
  <cp:lastModifiedBy>PharmaPulse</cp:lastModifiedBy>
  <cp:revision>1</cp:revision>
  <dcterms:created xsi:type="dcterms:W3CDTF">2026-09-02T08:35:00Z</dcterms:created>
  <dcterms:modified xsi:type="dcterms:W3CDTF">2026-09-02T08:35:00Z</dcterms:modified>
</cp:coreProperties>
</file>