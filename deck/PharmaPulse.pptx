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MASE</c:v>
                </c:pt>
              </c:strCache>
            </c:strRef>
          </c:tx>
          <c:spPr>
            <a:solidFill>
              <a:srgbClr val="C9C2B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B362F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641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C9C2B6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F5D42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Naive</c:v>
                  </c:pt>
                  <c:pt idx="1">
                    <c:v>WindowAverage</c:v>
                  </c:pt>
                  <c:pt idx="2">
                    <c:v>DynamicOptimizedTheta</c:v>
                  </c:pt>
                  <c:pt idx="3">
                    <c:v>AutoETS</c:v>
                  </c:pt>
                  <c:pt idx="4">
                    <c:v>SeasonalNaive</c:v>
                  </c:pt>
                  <c:pt idx="5">
                    <c:v>AutoARIMA</c:v>
                  </c:pt>
                  <c:pt idx="6">
                    <c:v>CrostonOptimized</c:v>
                  </c:pt>
                  <c:pt idx="7">
                    <c:v>MSTL</c:v>
                  </c:pt>
                  <c:pt idx="8">
                    <c:v>LightGBM</c:v>
                  </c:pt>
                  <c:pt idx="9">
                    <c:v>Prophet</c:v>
                  </c:pt>
                  <c:pt idx="10">
                    <c:v>Ensemble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1.3317</c:v>
                </c:pt>
                <c:pt idx="1">
                  <c:v>1.1655</c:v>
                </c:pt>
                <c:pt idx="2">
                  <c:v>1.1486</c:v>
                </c:pt>
                <c:pt idx="3">
                  <c:v>1.1244</c:v>
                </c:pt>
                <c:pt idx="4">
                  <c:v>1.1175</c:v>
                </c:pt>
                <c:pt idx="5">
                  <c:v>1.1148</c:v>
                </c:pt>
                <c:pt idx="6">
                  <c:v>1.0851</c:v>
                </c:pt>
                <c:pt idx="7">
                  <c:v>1.0144</c:v>
                </c:pt>
                <c:pt idx="8">
                  <c:v>0.961</c:v>
                </c:pt>
                <c:pt idx="9">
                  <c:v>0.935</c:v>
                </c:pt>
                <c:pt idx="10">
                  <c:v>0.907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000" u="none">
                  <a:solidFill>
                    <a:srgbClr val="3B362F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36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"/>
        </c:scaling>
        <c:delete val="0"/>
        <c:axPos val="b"/>
        <c:majorGridlines>
          <c:spPr>
            <a:ln w="12700" cap="flat">
              <a:solidFill>
                <a:srgbClr val="E4DF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92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4EE"/>
        </a:solidFill>
        <a:ln>
          <a:noFill/>
        </a:ln>
        <a:effectLst/>
      </c:spPr>
    </c:plotArea>
    <c:plotVisOnly val="1"/>
    <c:dispBlanksAs val="span"/>
  </c:chart>
  <c:spPr>
    <a:solidFill>
      <a:srgbClr val="F7F4EE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Min/max on average demand</c:v>
                </c:pt>
              </c:strCache>
            </c:strRef>
          </c:tx>
          <c:spPr>
            <a:solidFill>
              <a:srgbClr val="C9C2B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B362F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Jan–Mar 2019</c:v>
                  </c:pt>
                  <c:pt idx="1">
                    <c:v>Apr–Jun 2019</c:v>
                  </c:pt>
                  <c:pt idx="2">
                    <c:v>Oct–Dec 2018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4608</c:v>
                </c:pt>
                <c:pt idx="1">
                  <c:v>3362</c:v>
                </c:pt>
                <c:pt idx="2">
                  <c:v>4942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PharmaPulse</c:v>
                </c:pt>
              </c:strCache>
            </c:strRef>
          </c:tx>
          <c:spPr>
            <a:solidFill>
              <a:srgbClr val="1F5D4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3B362F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Jan–Mar 2019</c:v>
                  </c:pt>
                  <c:pt idx="1">
                    <c:v>Apr–Jun 2019</c:v>
                  </c:pt>
                  <c:pt idx="2">
                    <c:v>Oct–Dec 2018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1479</c:v>
                </c:pt>
                <c:pt idx="1">
                  <c:v>1200</c:v>
                </c:pt>
                <c:pt idx="2">
                  <c:v>1211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3B362F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362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DFD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92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4EE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B362F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7F4EE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Do not read the slide. Say: every pharmacy makes this decision every week, from memory or a spreadsheet. This is what it looks like when you calculate it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directions cost money. That is why the answer needs a distribution, not a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maths is a hundred years old and exact. The novelty is shipping it, not inventing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architectural choice traces to a measured property of the file. This is what stops it being a generic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converts the project's biggest vulnerability into its most credible feature. Say it before a judge asks where the cost data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MASE, not MAPE — MAPE is undefined on N05C which is zero on 68% of days. We report weekly per category, the grain a buyer actually orders 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to lead the technical case with. 'We tested the obvious approach and it lost' is a result. 'We averaged some models' is not — same code, different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architecture document predicted over-confidence at 75%. Measured, it runs the other way. Say that — being wrong about your own prediction and reporting it is the 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measurement, not a projection. Mention that our first version of this comparison was rigged - we fixed our own horizon and left the baseline on the old one, which handed us 88%. Fixing it gives a defensible 70%.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linger here - go to the live demo instead. This slide exists for the printed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before anyone finds it. A team that reports only wins gets discounted, and experienced judges do that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out loud is the strongest thing in the presentation. It bounds every claim the system makes, and volunteering it is what separates a team that measured from a team that demoed.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Do not add a thank-you slide - end on the claim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COGNIZANT CAMPUS DRIVE · HEALTHCARE · PHARMA SALES ANALYSIS &amp; FORECASTING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PharmaPulse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3464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6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pharmacy guesses how much to order.</a:t>
            </a:r>
            <a:endParaRPr lang="en-US" sz="2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6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calculate it — with the odds, the cost of being wrong,</a:t>
            </a:r>
            <a:endParaRPr lang="en-US" sz="26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600" i="1" dirty="0">
                <a:solidFill>
                  <a:srgbClr val="C9C2B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 reason behind the number.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983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623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MASE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18.8% better than benchmark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4983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68%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5623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inventory cost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 min/max policy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909560" y="4983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7F4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138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909560" y="5623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and a benchmark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runs in CI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Somebody decides how much to buy.</a:t>
            </a:r>
            <a:endParaRPr lang="en-US" sz="4000" dirty="0"/>
          </a:p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Getting it wrong costs money in two directions.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2788920"/>
            <a:ext cx="4892040" cy="251460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971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2011680" y="30358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too little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58444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asks for a medicine you do not have. They go to the pharmacy across the road.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480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gross margin — and often the customer, permanently.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92240" y="2788920"/>
            <a:ext cx="4892040" cy="251460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2971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726680" y="30358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too much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6812280" y="3584448"/>
            <a:ext cx="4297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sits on a shelf. Medicines reach their expiry date.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812280" y="44805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1C4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Holding cost on the capital, plus a total write-off at expiry.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62356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quantity that minimises expected total cost depends on the distribution of demand and on the ratio between these two costs. A single number cannot answer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is not the product.</a:t>
            </a:r>
            <a:endParaRPr lang="en-US" sz="4000" dirty="0"/>
          </a:p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purchase order is.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920240" cy="169164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41832" y="2926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41832" y="36118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years of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sales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679192" y="340156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953512" y="2743200"/>
            <a:ext cx="1920240" cy="1691640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18104" y="2926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118104" y="36118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distribution,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number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55464" y="340156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129784" y="2743200"/>
            <a:ext cx="1920240" cy="1691640"/>
          </a:xfrm>
          <a:prstGeom prst="rect">
            <a:avLst/>
          </a:prstGeom>
          <a:solidFill>
            <a:srgbClr val="F0EDE6"/>
          </a:solidFill>
          <a:ln w="12700">
            <a:solidFill>
              <a:srgbClr val="14110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294376" y="2926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uncertainty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294376" y="36118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and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31736" y="340156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306056" y="2743200"/>
            <a:ext cx="1920240" cy="1691640"/>
          </a:xfrm>
          <a:prstGeom prst="rect">
            <a:avLst/>
          </a:prstGeom>
          <a:solidFill>
            <a:srgbClr val="F0EDE6"/>
          </a:solidFill>
          <a:ln w="12700">
            <a:solidFill>
              <a:srgbClr val="14110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70648" y="2926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quantity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470648" y="36118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costs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208008" y="340156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9482328" y="2743200"/>
            <a:ext cx="1920240" cy="1691640"/>
          </a:xfrm>
          <a:prstGeom prst="rect">
            <a:avLst/>
          </a:prstGeom>
          <a:solidFill>
            <a:srgbClr val="F0EDE6"/>
          </a:solidFill>
          <a:ln w="12700">
            <a:solidFill>
              <a:srgbClr val="14110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46920" y="292608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 of</a:t>
            </a:r>
            <a:endParaRPr lang="en-US" sz="16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wrong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646920" y="361188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at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±1 pack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6634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every tool in this market stops after the second box.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77240" y="5230368"/>
            <a:ext cx="10637215" cy="1024128"/>
          </a:xfrm>
          <a:prstGeom prst="rect">
            <a:avLst/>
          </a:prstGeom>
          <a:solidFill>
            <a:srgbClr val="F0EDE6"/>
          </a:solidFill>
          <a:ln w="12700">
            <a:solidFill>
              <a:srgbClr val="14110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143000" y="54406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10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q*  =  Cu / (Cu + Co)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5623560" y="539496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newsvendor fractile. If shortage costs 3× excess, order the amount you exceed only 1 week in 4.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form — which is why the slider in the product recomputes live.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MEASURED BEFORE DESIGNING ANYTHING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properties of the data</a:t>
            </a:r>
            <a:endParaRPr lang="en-US" sz="3600" dirty="0"/>
          </a:p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drove every design decision.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6060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26060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supplied monthly file is corrupt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93522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series-months disagree with a daily rollup by &gt;5%. We ingest the daily file only and derive the rest.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26060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858000" y="26060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days are closures, not zero demand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935224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map to the Serbian Orthodox calendar. Masked from the loss — never imputed, never deleted.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8679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86791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bucket is truncated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419709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October 2019 looks like a 70% collapse and is not. Partial periods stay visible, hatched.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38679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0" y="386791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series is genuinely intermittent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197096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N05C sells nothing on 67.9% of days, ADI 3.12. It routes to Croston/TSB automatically.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12978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512978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has a different phase per drug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4589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Antihistamines peak in May, paracetamol in January. One global profile would smear all of them.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512978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4E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0" y="5129784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1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Weekday effects run in opposite directions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54589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OTC sells more at weekends, prescription less. A shared coefficient would cancel.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RULE THAT PROTECTS THE PROJECT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has dates and units sold.</a:t>
            </a:r>
            <a:endParaRPr lang="en-US" sz="3400" dirty="0"/>
          </a:p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have stock, costs or lead times.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6032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invents those and trains on them is learning from a random number generator — and any explanation it then produces is an explanation of noise. So every value belongs to exactly one lane, and the lanes have different rights.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3310128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465576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· observed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3465576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salesdaily.csv and the calendar features derived from it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635240" y="3465576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F5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trains models · explains · backs a claim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4297680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4453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4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· your setting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4453128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· holding cost · margin · stock on hand · pack size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635240" y="445312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only — never trains, never backs a claim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5285232"/>
            <a:ext cx="10637215" cy="896112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· synthetic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54406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demo-only generated data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three — blocked in code, asserted by a test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989320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Enforced, not intended: the ingest entrypoint raises on a synthetic path, every row carries its origin, and the interface renders a badge from it.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1 · FORECAST ACCURACY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18.8% better than the benchmark</a:t>
            </a:r>
            <a:endParaRPr lang="en-US" sz="3600" dirty="0"/>
          </a:p>
          <a:p>
            <a:pPr indent="0" marL="0">
              <a:lnSpc>
                <a:spcPts val="4032"/>
              </a:lnSpc>
              <a:buNone/>
            </a:pPr>
            <a:r>
              <a:rPr lang="en-US" sz="36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has to beat.</a:t>
            </a:r>
            <a:endParaRPr lang="en-US" sz="3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2331720"/>
          <a:ext cx="69494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138160" y="23774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8138160" y="3246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— median of five members.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ship.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138160" y="397764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A64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1.117</a:t>
            </a:r>
            <a:endParaRPr lang="en-US" sz="54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8463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SeasonalNaive — 'the calendar alone'.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everything must beat.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5623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Weekly grain · horizon 8 · 4 rolling origins · MASE · seed 42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Reproducible in 43 s with  make benchmark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2 · THE FINDING WORTH LEADING WITH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implemented the obvious approach</a:t>
            </a:r>
            <a:endParaRPr lang="en-US" sz="4000" dirty="0"/>
          </a:p>
          <a:p>
            <a:pPr indent="0" marL="0">
              <a:lnSpc>
                <a:spcPts val="4480"/>
              </a:lnSpc>
              <a:buNone/>
            </a:pPr>
            <a:r>
              <a:rPr lang="en-US" sz="40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measured it losing.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80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0.968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each product's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434840" y="2880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5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0.907</a:t>
            </a:r>
            <a:endParaRPr lang="en-US" sz="62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38862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them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(median of five)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8092440" y="288036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0.843</a:t>
            </a:r>
            <a:endParaRPr lang="en-US" sz="6200" dirty="0"/>
          </a:p>
        </p:txBody>
      </p:sp>
      <p:sp>
        <p:nvSpPr>
          <p:cNvPr id="9" name="Text 7"/>
          <p:cNvSpPr txBox="1"/>
          <p:nvPr/>
        </p:nvSpPr>
        <p:spPr>
          <a:xfrm>
            <a:off x="8092440" y="38862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hindsight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bound, not a model)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937760"/>
            <a:ext cx="106372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different models win across the eight series, so per-series selection looks obviously right. With ~300 weekly observations, “best on the last fold” is mostly noise — so selection chases noise and locks in whichever model got lucky. Combination does the opposite: independent models make independent mistakes, and the median cancels them.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016752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Scored honestly: the choice for fold k uses only folds 1…k−1, so it never sees the answer it is graded 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3 · ARE OUR OWN CONFIDENCE INTERVALS TRUE?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measured whether to believe ourselves.</a:t>
            </a:r>
            <a:endParaRPr lang="en-US" sz="3400" dirty="0"/>
          </a:p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did not like the answer, so we fixed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4846320" cy="2011680"/>
          </a:xfrm>
          <a:prstGeom prst="rect">
            <a:avLst/>
          </a:prstGeom>
          <a:solidFill>
            <a:srgbClr val="F6EDEB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880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92.2%</a:t>
            </a:r>
            <a:endParaRPr lang="en-US" sz="50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37033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covered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 nominal 80% band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989320" y="2651760"/>
            <a:ext cx="4846320" cy="2011680"/>
          </a:xfrm>
          <a:prstGeom prst="rect">
            <a:avLst/>
          </a:prstGeom>
          <a:solidFill>
            <a:srgbClr val="EDF2EF"/>
          </a:solidFill>
          <a:ln w="12700">
            <a:solidFill>
              <a:srgbClr val="1F5D4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55080" y="288036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82.0%</a:t>
            </a:r>
            <a:endParaRPr lang="en-US" sz="50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370332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conformal correction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256 · distribution-free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8920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WIDE, not too narrow — which causes over-ordering and capital tied up on the shelf. The decision layer reads a specific quantile to pick a quantity, so a mis-sized interval moves that quantity, and the error is invisible in any point-forecast metric.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580644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dashboard in this market draws a confidence band. Nobody publishes whether theirs is right. Ours is on screen, both curves, with its sample size printed on the chart.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4 · WHAT IT WAS ACTUALLY WORTH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policy against a min/max policy,</a:t>
            </a:r>
            <a:endParaRPr lang="en-US" sz="3400" dirty="0"/>
          </a:p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replayed over the identical real days.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77240" y="2514600"/>
          <a:ext cx="68580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8046720" y="260604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F5D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68%</a:t>
            </a:r>
            <a:endParaRPr lang="en-US" sz="6200" dirty="0"/>
          </a:p>
        </p:txBody>
      </p:sp>
      <p:sp>
        <p:nvSpPr>
          <p:cNvPr id="6" name="Text 3"/>
          <p:cNvSpPr txBox="1"/>
          <p:nvPr/>
        </p:nvSpPr>
        <p:spPr>
          <a:xfrm>
            <a:off x="8046720" y="347472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total cost, Jan–Mar 2019.</a:t>
            </a:r>
            <a:endParaRPr lang="en-US" sz="12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64% and 76% in two other quarters.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0" y="411480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data. Same costs, lead time, review cadence and protection interval. The only difference is that min/max orders to the average, and we order to the quantile your cost ratio implies.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77900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i="1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we hold MORE stock, not less — the entire saving comes from lost sales we did not have. A test asserts both.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56"/>
              </a:lnSpc>
              <a:buNone/>
            </a:pPr>
            <a:r>
              <a:rPr lang="en-US" sz="38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opens on the decision,</a:t>
            </a:r>
            <a:endParaRPr lang="en-US" sz="3800" dirty="0"/>
          </a:p>
          <a:p>
            <a:pPr indent="0" marL="0">
              <a:lnSpc>
                <a:spcPts val="4256"/>
              </a:lnSpc>
              <a:buNone/>
            </a:pPr>
            <a:r>
              <a:rPr lang="en-US" sz="38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 a chart.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77240" y="2514600"/>
            <a:ext cx="3291840" cy="157276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33272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32E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33272" y="3118104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“Four products need a decision today, ₹1,099 at risk.” Ranked by money, not probability.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89120" y="2514600"/>
            <a:ext cx="3291840" cy="157276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5152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F5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4645152" y="3118104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service-level slider. Drag it and the quantity and cost move — with zero network calls.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01000" y="2514600"/>
            <a:ext cx="3291840" cy="157276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57032" y="2697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C4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257032" y="3118104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in units that sums to the total, plus the reliability diagram.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77240" y="4343400"/>
            <a:ext cx="3291840" cy="157276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33272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8A64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Replay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033272" y="4946904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2019 history, one day per tick, with the business case underneath.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4343400"/>
            <a:ext cx="3291840" cy="157276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45152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B64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Evidence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645152" y="4946904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Leaderboard, the ablation, and the two series where we lose — in red.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001000" y="4343400"/>
            <a:ext cx="3291840" cy="1572768"/>
          </a:xfrm>
          <a:prstGeom prst="rect">
            <a:avLst/>
          </a:prstGeom>
          <a:solidFill>
            <a:srgbClr val="FCFAF6"/>
          </a:solidFill>
          <a:ln w="12700">
            <a:solidFill>
              <a:srgbClr val="E4DFD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57032" y="4526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B64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Settings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8257032" y="4946904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lead time from 4 to 9 days: the order goes 100 → 660 units, live.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5989320"/>
            <a:ext cx="106372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is one click from why, and every why is one click from how confident.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DOES NOT WORK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system that only shows you where it wins</a:t>
            </a:r>
            <a:endParaRPr lang="en-US" sz="3400" dirty="0"/>
          </a:p>
          <a:p>
            <a:pPr indent="0" marL="0">
              <a:lnSpc>
                <a:spcPts val="3808"/>
              </a:lnSpc>
              <a:buNone/>
            </a:pPr>
            <a:r>
              <a:rPr lang="en-US" sz="3400" dirty="0">
                <a:solidFill>
                  <a:srgbClr val="14110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not telling you anything.</a:t>
            </a:r>
            <a:endParaRPr lang="en-US" sz="3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468880"/>
          <a:ext cx="630936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91640"/>
                <a:gridCol w="1371600"/>
                <a:gridCol w="21031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SeasonalNaive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Ensemble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4110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single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M01AB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0.971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0.651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AutoARIMA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M01AE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1.019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32E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1.000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N02BA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0.671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0.618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SeasonalNaive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N02BE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0.993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0.799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N05B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0.939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0.621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WindowAverage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N05C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1.174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0.785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CrostonOptimized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1.294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F5D4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1.137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CrostonOptimized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B362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R06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1.880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A32E2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1.646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6B64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Prophet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AF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2468880"/>
            <a:ext cx="3931920" cy="1508760"/>
          </a:xfrm>
          <a:prstGeom prst="rect">
            <a:avLst/>
          </a:prstGeom>
          <a:solidFill>
            <a:srgbClr val="F6EDEB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26700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R06 · 1.646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30632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worst series, and above 1.0. The May pollen peak is sharp and its timing moves year to year — we have six observations of it.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498080" y="4160520"/>
            <a:ext cx="3931920" cy="1371600"/>
          </a:xfrm>
          <a:prstGeom prst="rect">
            <a:avLst/>
          </a:prstGeom>
          <a:solidFill>
            <a:srgbClr val="F6EDEB"/>
          </a:solidFill>
          <a:ln w="12700">
            <a:solidFill>
              <a:srgbClr val="A32E2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A32E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M01AE · 1.000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4736592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3B3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seasonal naive's 1.019 — effectively a tie. We do not claim a win here.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59436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4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on the product's own Evidence screen, in red, alongside the wins.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572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20" kern="0" dirty="0">
                <a:solidFill>
                  <a:srgbClr val="9A92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DEEPEST LIMITATION, STATED BEFORE ANYONE ASKS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152"/>
              </a:lnSpc>
              <a:buNone/>
            </a:pPr>
            <a:r>
              <a:rPr lang="en-US" sz="46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forecast sales, not demand.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51460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stockout records zero sales — indistinguishable from zero demand. So our observations are right-censored, and the censoring is worst on exactly the products the system most needs to get right.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stockout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97480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953512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sales fall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873752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29784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forecast falls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050024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06056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 falls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226296" y="39776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2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482328" y="3977640"/>
            <a:ext cx="1920240" cy="548640"/>
          </a:xfrm>
          <a:prstGeom prst="rect">
            <a:avLst/>
          </a:prstGeom>
          <a:solidFill>
            <a:srgbClr val="2A252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stockout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663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Self-reinforcing, if left uncorrected.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57800"/>
            <a:ext cx="10058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do: flag days where sales hit a suspicious ceiling and treat them as censored.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cannot do: verify it — this dataset has no on-hand-stock column.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in the model card, and it is the first thing a real deployment fixes.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9A92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pharmacy guesses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9A928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much to order.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06324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calculate it — with the odds,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being wrong,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dirty="0">
                <a:solidFill>
                  <a:srgbClr val="F7F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 reason behind the number.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5532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benchmark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8704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reproduces every figure in 43 s from a clean clone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5532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138 tests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58704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property · contract · concurrency, green in CI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001000" y="55321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FD39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up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01000" y="58704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9A92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system, verified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PharmaPulse — forecast to purchase order</dc:title>
  <dc:subject>PptxGenJS Presentation</dc:subject>
  <dc:creator>PharmaPulse</dc:creator>
  <cp:lastModifiedBy>PharmaPulse</cp:lastModifiedBy>
  <cp:revision>1</cp:revision>
  <dcterms:created xsi:type="dcterms:W3CDTF">2026-09-01T15:01:56Z</dcterms:created>
  <dcterms:modified xsi:type="dcterms:W3CDTF">2026-09-01T15:01:56Z</dcterms:modified>
</cp:coreProperties>
</file>